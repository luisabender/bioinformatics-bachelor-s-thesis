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slideLayouts/slideLayout13.xml" ContentType="application/vnd.openxmlformats-officedocument.presentationml.slideLayout+xml"/>
  <Override PartName="/ppt/theme/theme5.xml" ContentType="application/vnd.openxmlformats-officedocument.theme+xml"/>
  <Override PartName="/ppt/slideLayouts/slideLayout14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3" r:id="rId1"/>
    <p:sldMasterId id="2147483668" r:id="rId2"/>
    <p:sldMasterId id="2147483674" r:id="rId3"/>
    <p:sldMasterId id="2147483648" r:id="rId4"/>
    <p:sldMasterId id="2147483684" r:id="rId5"/>
    <p:sldMasterId id="2147483697" r:id="rId6"/>
  </p:sldMasterIdLst>
  <p:notesMasterIdLst>
    <p:notesMasterId r:id="rId45"/>
  </p:notesMasterIdLst>
  <p:handoutMasterIdLst>
    <p:handoutMasterId r:id="rId46"/>
  </p:handoutMasterIdLst>
  <p:sldIdLst>
    <p:sldId id="369" r:id="rId7"/>
    <p:sldId id="333" r:id="rId8"/>
    <p:sldId id="392" r:id="rId9"/>
    <p:sldId id="393" r:id="rId10"/>
    <p:sldId id="394" r:id="rId11"/>
    <p:sldId id="395" r:id="rId12"/>
    <p:sldId id="397" r:id="rId13"/>
    <p:sldId id="396" r:id="rId14"/>
    <p:sldId id="398" r:id="rId15"/>
    <p:sldId id="427" r:id="rId16"/>
    <p:sldId id="399" r:id="rId17"/>
    <p:sldId id="400" r:id="rId18"/>
    <p:sldId id="401" r:id="rId19"/>
    <p:sldId id="402" r:id="rId20"/>
    <p:sldId id="403" r:id="rId21"/>
    <p:sldId id="404" r:id="rId22"/>
    <p:sldId id="405" r:id="rId23"/>
    <p:sldId id="406" r:id="rId24"/>
    <p:sldId id="419" r:id="rId25"/>
    <p:sldId id="412" r:id="rId26"/>
    <p:sldId id="421" r:id="rId27"/>
    <p:sldId id="422" r:id="rId28"/>
    <p:sldId id="424" r:id="rId29"/>
    <p:sldId id="413" r:id="rId30"/>
    <p:sldId id="417" r:id="rId31"/>
    <p:sldId id="414" r:id="rId32"/>
    <p:sldId id="415" r:id="rId33"/>
    <p:sldId id="420" r:id="rId34"/>
    <p:sldId id="418" r:id="rId35"/>
    <p:sldId id="407" r:id="rId36"/>
    <p:sldId id="428" r:id="rId37"/>
    <p:sldId id="411" r:id="rId38"/>
    <p:sldId id="423" r:id="rId39"/>
    <p:sldId id="409" r:id="rId40"/>
    <p:sldId id="408" r:id="rId41"/>
    <p:sldId id="416" r:id="rId42"/>
    <p:sldId id="426" r:id="rId43"/>
    <p:sldId id="425" r:id="rId44"/>
  </p:sldIdLst>
  <p:sldSz cx="9144000" cy="5143500" type="screen16x9"/>
  <p:notesSz cx="9925050" cy="6665913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00">
          <p15:clr>
            <a:srgbClr val="A4A3A4"/>
          </p15:clr>
        </p15:guide>
        <p15:guide id="2" pos="312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9999"/>
    <a:srgbClr val="98C6EA"/>
    <a:srgbClr val="0052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61" autoAdjust="0"/>
    <p:restoredTop sz="78696" autoAdjust="0"/>
  </p:normalViewPr>
  <p:slideViewPr>
    <p:cSldViewPr snapToGrid="0">
      <p:cViewPr>
        <p:scale>
          <a:sx n="141" d="100"/>
          <a:sy n="141" d="100"/>
        </p:scale>
        <p:origin x="896" y="14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31" d="100"/>
          <a:sy n="131" d="100"/>
        </p:scale>
        <p:origin x="-810" y="-96"/>
      </p:cViewPr>
      <p:guideLst>
        <p:guide orient="horz" pos="2100"/>
        <p:guide pos="312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viewProps" Target="viewProps.xml"/><Relationship Id="rId8" Type="http://schemas.openxmlformats.org/officeDocument/2006/relationships/slide" Target="slides/slide2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1901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20751376-2EB8-4403-B858-305A8AAA6B01}" type="datetimeFigureOut">
              <a:rPr lang="en-GB"/>
              <a:pPr>
                <a:defRPr/>
              </a:pPr>
              <a:t>09/03/2025</a:t>
            </a:fld>
            <a:endParaRPr lang="en-GB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2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62C15F7A-46C6-4AD2-BFEC-842DCCCC19C4}" type="slidenum">
              <a:rPr lang="en-GB"/>
              <a:pPr>
                <a:defRPr/>
              </a:pPr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90957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21901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89C46BC9-2C9E-4670-A85A-6A588BA2D405}" type="datetimeFigureOut">
              <a:rPr lang="en-GB"/>
              <a:pPr>
                <a:defRPr/>
              </a:pPr>
              <a:t>09/03/2025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740025" y="500063"/>
            <a:ext cx="4445000" cy="25003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pPr lvl="0"/>
            <a:endParaRPr lang="en-GB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92506" y="3166309"/>
            <a:ext cx="7940040" cy="2999661"/>
          </a:xfrm>
          <a:prstGeom prst="rect">
            <a:avLst/>
          </a:prstGeom>
        </p:spPr>
        <p:txBody>
          <a:bodyPr vert="horz" wrap="square" lIns="90708" tIns="45354" rIns="90708" bIns="45354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2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0AFC6D0-44D5-4EB7-828F-6F464F83D79A}" type="slidenum">
              <a:rPr lang="en-GB"/>
              <a:pPr>
                <a:defRPr/>
              </a:pPr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799730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182563" indent="-182563" algn="l" rtl="0" fontAlgn="base">
      <a:spcBef>
        <a:spcPct val="30000"/>
      </a:spcBef>
      <a:spcAft>
        <a:spcPct val="0"/>
      </a:spcAft>
      <a:buFont typeface="Arial" charset="0"/>
      <a:buChar char="•"/>
      <a:defRPr sz="1200" kern="1200">
        <a:solidFill>
          <a:schemeClr val="tx1"/>
        </a:solidFill>
        <a:latin typeface="+mn-lt"/>
        <a:ea typeface="+mn-ea"/>
        <a:cs typeface="Arial" charset="0"/>
      </a:defRPr>
    </a:lvl2pPr>
    <a:lvl3pPr marL="355600" indent="-173038" algn="l" rtl="0" fontAlgn="base">
      <a:spcBef>
        <a:spcPct val="30000"/>
      </a:spcBef>
      <a:spcAft>
        <a:spcPct val="0"/>
      </a:spcAft>
      <a:buFont typeface="Symbol" pitchFamily="18" charset="2"/>
      <a:buChar char="-"/>
      <a:defRPr sz="1200" kern="1200">
        <a:solidFill>
          <a:schemeClr val="tx1"/>
        </a:solidFill>
        <a:latin typeface="+mn-lt"/>
        <a:ea typeface="+mn-ea"/>
        <a:cs typeface="Arial" charset="0"/>
      </a:defRPr>
    </a:lvl3pPr>
    <a:lvl4pPr marL="538163" indent="-182563" algn="l" rtl="0" fontAlgn="base">
      <a:spcBef>
        <a:spcPct val="30000"/>
      </a:spcBef>
      <a:spcAft>
        <a:spcPct val="0"/>
      </a:spcAft>
      <a:buFont typeface="Courier New" pitchFamily="49" charset="0"/>
      <a:buChar char="o"/>
      <a:defRPr sz="1200" kern="1200">
        <a:solidFill>
          <a:schemeClr val="tx1"/>
        </a:solidFill>
        <a:latin typeface="+mn-lt"/>
        <a:ea typeface="+mn-ea"/>
        <a:cs typeface="Arial" charset="0"/>
      </a:defRPr>
    </a:lvl4pPr>
    <a:lvl5pPr marL="720725" indent="-182563" algn="l" rtl="0" fontAlgn="base">
      <a:spcBef>
        <a:spcPct val="30000"/>
      </a:spcBef>
      <a:spcAft>
        <a:spcPct val="0"/>
      </a:spcAft>
      <a:buFont typeface="Wingdings" pitchFamily="2" charset="2"/>
      <a:buChar char="§"/>
      <a:defRPr sz="1200" kern="1200">
        <a:solidFill>
          <a:schemeClr val="tx1"/>
        </a:solidFill>
        <a:latin typeface="+mn-lt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topics/agricultural-and-biological-sciences/syncytium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sciencedirect.com/topics/agricultural-and-biological-sciences/multinucleate" TargetMode="Externa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reach</a:t>
            </a:r>
            <a:r>
              <a:rPr lang="de-DE" dirty="0"/>
              <a:t> plant epidermal (</a:t>
            </a:r>
            <a:r>
              <a:rPr lang="de-DE" dirty="0" err="1"/>
              <a:t>outermost</a:t>
            </a:r>
            <a:r>
              <a:rPr lang="de-DE" dirty="0"/>
              <a:t> </a:t>
            </a:r>
            <a:r>
              <a:rPr lang="de-DE" dirty="0" err="1"/>
              <a:t>layer</a:t>
            </a:r>
            <a:r>
              <a:rPr lang="de-DE" dirty="0"/>
              <a:t>) </a:t>
            </a:r>
            <a:r>
              <a:rPr lang="de-DE" dirty="0" err="1"/>
              <a:t>cells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haustoria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789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8185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host </a:t>
            </a:r>
            <a:r>
              <a:rPr lang="de-DE" dirty="0" err="1"/>
              <a:t>invation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cyst</a:t>
            </a:r>
            <a:r>
              <a:rPr lang="de-DE" dirty="0"/>
              <a:t> </a:t>
            </a:r>
            <a:r>
              <a:rPr lang="de-DE" dirty="0" err="1"/>
              <a:t>nematodes</a:t>
            </a:r>
            <a:r>
              <a:rPr lang="de-DE" dirty="0"/>
              <a:t> </a:t>
            </a:r>
            <a:r>
              <a:rPr lang="de-DE" dirty="0" err="1"/>
              <a:t>involves</a:t>
            </a:r>
            <a:r>
              <a:rPr lang="de-DE" dirty="0"/>
              <a:t> </a:t>
            </a:r>
            <a:r>
              <a:rPr lang="de-DE" dirty="0" err="1"/>
              <a:t>piercing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plant </a:t>
            </a:r>
            <a:r>
              <a:rPr lang="de-DE" dirty="0" err="1"/>
              <a:t>cell</a:t>
            </a:r>
            <a:r>
              <a:rPr lang="de-DE" dirty="0"/>
              <a:t> </a:t>
            </a:r>
            <a:r>
              <a:rPr lang="de-DE" dirty="0" err="1"/>
              <a:t>walls</a:t>
            </a:r>
            <a:r>
              <a:rPr lang="de-DE" dirty="0"/>
              <a:t>, </a:t>
            </a:r>
            <a:r>
              <a:rPr lang="de-DE" dirty="0" err="1"/>
              <a:t>once</a:t>
            </a:r>
            <a:r>
              <a:rPr lang="de-DE" dirty="0"/>
              <a:t> </a:t>
            </a:r>
            <a:r>
              <a:rPr lang="de-DE" dirty="0" err="1"/>
              <a:t>inside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root </a:t>
            </a:r>
            <a:r>
              <a:rPr lang="de-DE" dirty="0" err="1"/>
              <a:t>cortex</a:t>
            </a:r>
            <a:r>
              <a:rPr lang="de-DE" dirty="0"/>
              <a:t>, </a:t>
            </a:r>
            <a:r>
              <a:rPr lang="de-DE" dirty="0" err="1"/>
              <a:t>migration</a:t>
            </a:r>
            <a:r>
              <a:rPr lang="de-DE" dirty="0"/>
              <a:t> </a:t>
            </a:r>
            <a:r>
              <a:rPr lang="de-DE" dirty="0" err="1"/>
              <a:t>towards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vascular</a:t>
            </a:r>
            <a:r>
              <a:rPr lang="de-DE" dirty="0"/>
              <a:t> </a:t>
            </a:r>
            <a:r>
              <a:rPr lang="de-DE" dirty="0" err="1"/>
              <a:t>cylinder</a:t>
            </a:r>
            <a:r>
              <a:rPr lang="de-DE" dirty="0"/>
              <a:t>, </a:t>
            </a:r>
            <a:r>
              <a:rPr lang="de-DE" dirty="0" err="1"/>
              <a:t>while</a:t>
            </a:r>
            <a:r>
              <a:rPr lang="de-DE" dirty="0"/>
              <a:t> </a:t>
            </a:r>
            <a:r>
              <a:rPr lang="de-DE" dirty="0" err="1"/>
              <a:t>causing</a:t>
            </a:r>
            <a:r>
              <a:rPr lang="de-DE" dirty="0"/>
              <a:t> extensive </a:t>
            </a:r>
            <a:r>
              <a:rPr lang="de-DE" dirty="0" err="1"/>
              <a:t>tissue</a:t>
            </a:r>
            <a:r>
              <a:rPr lang="de-DE" dirty="0"/>
              <a:t> </a:t>
            </a:r>
            <a:r>
              <a:rPr lang="de-DE" dirty="0" err="1"/>
              <a:t>damage</a:t>
            </a:r>
            <a:r>
              <a:rPr lang="de-DE" dirty="0"/>
              <a:t>. After </a:t>
            </a:r>
            <a:r>
              <a:rPr lang="de-DE" dirty="0" err="1"/>
              <a:t>arriving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vascular</a:t>
            </a:r>
            <a:r>
              <a:rPr lang="de-DE" dirty="0"/>
              <a:t> </a:t>
            </a:r>
            <a:r>
              <a:rPr lang="de-DE" dirty="0" err="1"/>
              <a:t>cylinder</a:t>
            </a:r>
            <a:r>
              <a:rPr lang="de-DE" dirty="0"/>
              <a:t>,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deliver</a:t>
            </a:r>
            <a:r>
              <a:rPr lang="de-DE" dirty="0"/>
              <a:t> stylet </a:t>
            </a:r>
            <a:r>
              <a:rPr lang="de-DE" dirty="0" err="1"/>
              <a:t>secreted</a:t>
            </a:r>
            <a:r>
              <a:rPr lang="de-DE" dirty="0"/>
              <a:t> </a:t>
            </a:r>
            <a:r>
              <a:rPr lang="de-DE" dirty="0" err="1"/>
              <a:t>effectors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host </a:t>
            </a:r>
            <a:r>
              <a:rPr lang="de-DE" dirty="0" err="1"/>
              <a:t>cell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initiate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formation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permanent </a:t>
            </a:r>
            <a:r>
              <a:rPr lang="de-DE" dirty="0" err="1"/>
              <a:t>feeding</a:t>
            </a:r>
            <a:r>
              <a:rPr lang="de-DE" dirty="0"/>
              <a:t> </a:t>
            </a:r>
            <a:r>
              <a:rPr lang="de-DE" dirty="0" err="1"/>
              <a:t>site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manipulating</a:t>
            </a:r>
            <a:r>
              <a:rPr lang="de-DE" dirty="0"/>
              <a:t> plant </a:t>
            </a:r>
            <a:r>
              <a:rPr lang="de-DE" dirty="0" err="1"/>
              <a:t>cell</a:t>
            </a:r>
            <a:r>
              <a:rPr lang="de-DE" dirty="0"/>
              <a:t> </a:t>
            </a:r>
            <a:r>
              <a:rPr lang="de-DE" dirty="0" err="1"/>
              <a:t>differentiation</a:t>
            </a:r>
            <a:r>
              <a:rPr lang="de-DE" dirty="0"/>
              <a:t> and </a:t>
            </a:r>
            <a:r>
              <a:rPr lang="de-DE" dirty="0" err="1"/>
              <a:t>growth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01455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b="1" dirty="0" err="1"/>
              <a:t>darkolivegreen</a:t>
            </a:r>
            <a:r>
              <a:rPr lang="de-DE" b="1" dirty="0"/>
              <a:t>:</a:t>
            </a:r>
            <a:r>
              <a:rPr lang="de-DE" dirty="0"/>
              <a:t> </a:t>
            </a:r>
            <a:r>
              <a:rPr lang="de-DE" dirty="0" err="1"/>
              <a:t>enriched</a:t>
            </a:r>
            <a:r>
              <a:rPr lang="de-DE" dirty="0"/>
              <a:t> in </a:t>
            </a:r>
            <a:r>
              <a:rPr lang="de-DE" dirty="0" err="1"/>
              <a:t>cellular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hypoxia</a:t>
            </a:r>
            <a:r>
              <a:rPr lang="de-DE" dirty="0"/>
              <a:t>,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absence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light,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carbohydrate</a:t>
            </a:r>
            <a:endParaRPr lang="de-DE" dirty="0"/>
          </a:p>
          <a:p>
            <a:r>
              <a:rPr lang="de-DE" dirty="0" err="1"/>
              <a:t>àFew</a:t>
            </a:r>
            <a:r>
              <a:rPr lang="de-DE" dirty="0"/>
              <a:t> </a:t>
            </a:r>
            <a:r>
              <a:rPr lang="de-DE" dirty="0" err="1"/>
              <a:t>papers</a:t>
            </a:r>
            <a:r>
              <a:rPr lang="de-DE" dirty="0"/>
              <a:t> on </a:t>
            </a:r>
            <a:r>
              <a:rPr lang="de-DE" dirty="0" err="1"/>
              <a:t>Hpa</a:t>
            </a:r>
            <a:r>
              <a:rPr lang="de-DE" dirty="0"/>
              <a:t> and </a:t>
            </a:r>
            <a:r>
              <a:rPr lang="de-DE" dirty="0" err="1"/>
              <a:t>hypoxia</a:t>
            </a:r>
            <a:r>
              <a:rPr lang="de-DE" dirty="0"/>
              <a:t> (</a:t>
            </a:r>
            <a:r>
              <a:rPr lang="de-DE" dirty="0" err="1"/>
              <a:t>maybe</a:t>
            </a:r>
            <a:r>
              <a:rPr lang="de-DE" dirty="0"/>
              <a:t> </a:t>
            </a:r>
            <a:r>
              <a:rPr lang="de-DE" dirty="0" err="1"/>
              <a:t>Hypoxia</a:t>
            </a:r>
            <a:r>
              <a:rPr lang="de-DE" dirty="0"/>
              <a:t> </a:t>
            </a:r>
            <a:r>
              <a:rPr lang="de-DE" dirty="0" err="1"/>
              <a:t>represses</a:t>
            </a:r>
            <a:r>
              <a:rPr lang="de-DE" dirty="0"/>
              <a:t> </a:t>
            </a:r>
            <a:r>
              <a:rPr lang="de-DE" dirty="0" err="1"/>
              <a:t>pattern-triggered</a:t>
            </a:r>
            <a:r>
              <a:rPr lang="de-DE" dirty="0"/>
              <a:t> immune </a:t>
            </a:r>
            <a:r>
              <a:rPr lang="de-DE" dirty="0" err="1"/>
              <a:t>responses</a:t>
            </a:r>
            <a:r>
              <a:rPr lang="de-DE" dirty="0"/>
              <a:t> in </a:t>
            </a:r>
            <a:r>
              <a:rPr lang="de-DE" dirty="0" err="1"/>
              <a:t>Arabidopsis</a:t>
            </a:r>
            <a:r>
              <a:rPr lang="de-DE" dirty="0"/>
              <a:t>)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87784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Pathogens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trigger</a:t>
            </a:r>
            <a:r>
              <a:rPr lang="de-DE" dirty="0"/>
              <a:t>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hypoxic</a:t>
            </a:r>
            <a:r>
              <a:rPr lang="de-DE" dirty="0"/>
              <a:t> </a:t>
            </a:r>
            <a:r>
              <a:rPr lang="de-DE" dirty="0" err="1"/>
              <a:t>environments</a:t>
            </a:r>
            <a:r>
              <a:rPr lang="de-DE" dirty="0"/>
              <a:t> </a:t>
            </a: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low</a:t>
            </a:r>
            <a:r>
              <a:rPr lang="de-DE" dirty="0">
                <a:sym typeface="Wingdings" pitchFamily="2" charset="2"/>
              </a:rPr>
              <a:t>-oxygen </a:t>
            </a:r>
            <a:r>
              <a:rPr lang="de-DE" dirty="0" err="1">
                <a:sym typeface="Wingdings" pitchFamily="2" charset="2"/>
              </a:rPr>
              <a:t>conditions</a:t>
            </a:r>
            <a:r>
              <a:rPr lang="de-DE" dirty="0">
                <a:sym typeface="Wingdings" pitchFamily="2" charset="2"/>
              </a:rPr>
              <a:t> (</a:t>
            </a:r>
            <a:r>
              <a:rPr lang="de-DE" dirty="0" err="1">
                <a:sym typeface="Wingdings" pitchFamily="2" charset="2"/>
              </a:rPr>
              <a:t>usually</a:t>
            </a:r>
            <a:r>
              <a:rPr lang="de-DE" dirty="0">
                <a:sym typeface="Wingdings" pitchFamily="2" charset="2"/>
              </a:rPr>
              <a:t> plant adaptive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flooding</a:t>
            </a:r>
            <a:r>
              <a:rPr lang="de-DE" dirty="0">
                <a:sym typeface="Wingdings" pitchFamily="2" charset="2"/>
              </a:rPr>
              <a:t> stress and </a:t>
            </a:r>
            <a:r>
              <a:rPr lang="de-DE" dirty="0" err="1">
                <a:sym typeface="Wingdings" pitchFamily="2" charset="2"/>
              </a:rPr>
              <a:t>oxygen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deprivation</a:t>
            </a:r>
            <a:r>
              <a:rPr lang="de-DE" dirty="0">
                <a:sym typeface="Wingdings" pitchFamily="2" charset="2"/>
              </a:rPr>
              <a:t>)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Hypoxia</a:t>
            </a:r>
            <a:r>
              <a:rPr lang="de-DE" dirty="0"/>
              <a:t> </a:t>
            </a:r>
            <a:r>
              <a:rPr lang="de-DE" dirty="0" err="1"/>
              <a:t>represses</a:t>
            </a:r>
            <a:r>
              <a:rPr lang="de-DE" dirty="0"/>
              <a:t> PTI and MAPK </a:t>
            </a:r>
            <a:r>
              <a:rPr lang="de-DE" dirty="0" err="1"/>
              <a:t>signaling</a:t>
            </a:r>
            <a:r>
              <a:rPr lang="de-DE" dirty="0"/>
              <a:t> in </a:t>
            </a:r>
            <a:r>
              <a:rPr lang="de-DE" dirty="0" err="1"/>
              <a:t>Arabiopsis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prioritize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transcriptional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hypoxia</a:t>
            </a:r>
            <a:endParaRPr lang="de-DE" dirty="0">
              <a:sym typeface="Wingdings" pitchFamily="2" charset="2"/>
            </a:endParaRPr>
          </a:p>
          <a:p>
            <a:endParaRPr lang="de-DE" dirty="0">
              <a:sym typeface="Wingdings" pitchFamily="2" charset="2"/>
            </a:endParaRPr>
          </a:p>
          <a:p>
            <a:r>
              <a:rPr lang="de-DE" dirty="0">
                <a:sym typeface="Wingdings" pitchFamily="2" charset="2"/>
              </a:rPr>
              <a:t>Response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fungus</a:t>
            </a:r>
            <a:r>
              <a:rPr lang="de-DE" dirty="0">
                <a:sym typeface="Wingdings" pitchFamily="2" charset="2"/>
              </a:rPr>
              <a:t> and </a:t>
            </a:r>
            <a:r>
              <a:rPr lang="de-DE" dirty="0" err="1">
                <a:sym typeface="Wingdings" pitchFamily="2" charset="2"/>
              </a:rPr>
              <a:t>response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hypoxia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seem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correlate</a:t>
            </a:r>
            <a:endParaRPr lang="de-DE" dirty="0">
              <a:sym typeface="Wingdings" pitchFamily="2" charset="2"/>
            </a:endParaRPr>
          </a:p>
          <a:p>
            <a:r>
              <a:rPr lang="de-DE" dirty="0">
                <a:sym typeface="Wingdings" pitchFamily="2" charset="2"/>
              </a:rPr>
              <a:t>WRKY46 </a:t>
            </a:r>
            <a:r>
              <a:rPr lang="de-DE" dirty="0" err="1">
                <a:sym typeface="Wingdings" pitchFamily="2" charset="2"/>
              </a:rPr>
              <a:t>transcription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factor</a:t>
            </a:r>
            <a:r>
              <a:rPr lang="de-DE" dirty="0">
                <a:sym typeface="Wingdings" pitchFamily="2" charset="2"/>
              </a:rPr>
              <a:t>: At2g46400</a:t>
            </a:r>
          </a:p>
          <a:p>
            <a:endParaRPr lang="de-DE" dirty="0">
              <a:sym typeface="Wingdings" pitchFamily="2" charset="2"/>
            </a:endParaRPr>
          </a:p>
          <a:p>
            <a:r>
              <a:rPr lang="de-DE" dirty="0" err="1">
                <a:sym typeface="Wingdings" pitchFamily="2" charset="2"/>
              </a:rPr>
              <a:t>Some</a:t>
            </a:r>
            <a:r>
              <a:rPr lang="de-DE" dirty="0">
                <a:sym typeface="Wingdings" pitchFamily="2" charset="2"/>
              </a:rPr>
              <a:t> genes </a:t>
            </a:r>
            <a:r>
              <a:rPr lang="de-DE" dirty="0" err="1">
                <a:sym typeface="Wingdings" pitchFamily="2" charset="2"/>
              </a:rPr>
              <a:t>are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222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b="1" dirty="0" err="1"/>
              <a:t>darkolivegreen</a:t>
            </a:r>
            <a:r>
              <a:rPr lang="de-DE" b="1" dirty="0"/>
              <a:t>:</a:t>
            </a:r>
            <a:r>
              <a:rPr lang="de-DE" dirty="0"/>
              <a:t> </a:t>
            </a:r>
            <a:r>
              <a:rPr lang="de-DE" dirty="0" err="1"/>
              <a:t>enriched</a:t>
            </a:r>
            <a:r>
              <a:rPr lang="de-DE" dirty="0"/>
              <a:t> in </a:t>
            </a:r>
            <a:r>
              <a:rPr lang="de-DE" dirty="0" err="1"/>
              <a:t>cellular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hypoxia</a:t>
            </a:r>
            <a:r>
              <a:rPr lang="de-DE" dirty="0"/>
              <a:t>,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absence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light,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carbohydrate</a:t>
            </a:r>
            <a:endParaRPr lang="de-DE" dirty="0"/>
          </a:p>
          <a:p>
            <a:r>
              <a:rPr lang="de-DE" dirty="0" err="1"/>
              <a:t>àFew</a:t>
            </a:r>
            <a:r>
              <a:rPr lang="de-DE" dirty="0"/>
              <a:t> </a:t>
            </a:r>
            <a:r>
              <a:rPr lang="de-DE" dirty="0" err="1"/>
              <a:t>papers</a:t>
            </a:r>
            <a:r>
              <a:rPr lang="de-DE" dirty="0"/>
              <a:t> on </a:t>
            </a:r>
            <a:r>
              <a:rPr lang="de-DE" dirty="0" err="1"/>
              <a:t>Hpa</a:t>
            </a:r>
            <a:r>
              <a:rPr lang="de-DE" dirty="0"/>
              <a:t> and </a:t>
            </a:r>
            <a:r>
              <a:rPr lang="de-DE" dirty="0" err="1"/>
              <a:t>hypoxia</a:t>
            </a:r>
            <a:r>
              <a:rPr lang="de-DE" dirty="0"/>
              <a:t> (</a:t>
            </a:r>
            <a:r>
              <a:rPr lang="de-DE" dirty="0" err="1"/>
              <a:t>maybe</a:t>
            </a:r>
            <a:r>
              <a:rPr lang="de-DE" dirty="0"/>
              <a:t> </a:t>
            </a:r>
            <a:r>
              <a:rPr lang="de-DE" dirty="0" err="1"/>
              <a:t>Hypoxia</a:t>
            </a:r>
            <a:r>
              <a:rPr lang="de-DE" dirty="0"/>
              <a:t> </a:t>
            </a:r>
            <a:r>
              <a:rPr lang="de-DE" dirty="0" err="1"/>
              <a:t>represses</a:t>
            </a:r>
            <a:r>
              <a:rPr lang="de-DE" dirty="0"/>
              <a:t> </a:t>
            </a:r>
            <a:r>
              <a:rPr lang="de-DE" dirty="0" err="1"/>
              <a:t>pattern-triggered</a:t>
            </a:r>
            <a:r>
              <a:rPr lang="de-DE" dirty="0"/>
              <a:t> immune </a:t>
            </a:r>
            <a:r>
              <a:rPr lang="de-DE" dirty="0" err="1"/>
              <a:t>responses</a:t>
            </a:r>
            <a:r>
              <a:rPr lang="de-DE" dirty="0"/>
              <a:t> in </a:t>
            </a:r>
            <a:r>
              <a:rPr lang="de-DE" dirty="0" err="1"/>
              <a:t>Arabidopsis</a:t>
            </a:r>
            <a:r>
              <a:rPr lang="de-DE" dirty="0"/>
              <a:t>)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9177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de-DE" sz="1200" b="1" dirty="0" err="1"/>
              <a:t>brown</a:t>
            </a:r>
            <a:r>
              <a:rPr lang="de-DE" sz="1200" b="1" dirty="0"/>
              <a:t>:</a:t>
            </a:r>
            <a:r>
              <a:rPr lang="de-DE" sz="1200" dirty="0"/>
              <a:t> </a:t>
            </a:r>
            <a:r>
              <a:rPr lang="de-DE" sz="1200" dirty="0" err="1"/>
              <a:t>enriched</a:t>
            </a:r>
            <a:r>
              <a:rPr lang="de-DE" sz="1200" dirty="0"/>
              <a:t> in </a:t>
            </a:r>
            <a:r>
              <a:rPr lang="de-DE" sz="1200" dirty="0" err="1"/>
              <a:t>energy</a:t>
            </a:r>
            <a:r>
              <a:rPr lang="de-DE" sz="1200" dirty="0"/>
              <a:t> and </a:t>
            </a:r>
            <a:r>
              <a:rPr lang="de-DE" sz="1200" dirty="0" err="1"/>
              <a:t>carbohydrate</a:t>
            </a:r>
            <a:r>
              <a:rPr lang="de-DE" sz="1200" dirty="0"/>
              <a:t> </a:t>
            </a:r>
            <a:r>
              <a:rPr lang="de-DE" sz="1200" dirty="0" err="1"/>
              <a:t>metabolism</a:t>
            </a:r>
            <a:r>
              <a:rPr lang="de-DE" sz="1200" dirty="0"/>
              <a:t>,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200" dirty="0" err="1"/>
              <a:t>phenylpropanoid</a:t>
            </a:r>
            <a:r>
              <a:rPr lang="de-DE" sz="1200" dirty="0"/>
              <a:t> </a:t>
            </a:r>
            <a:r>
              <a:rPr lang="de-DE" sz="1200" dirty="0" err="1"/>
              <a:t>biosynthesis</a:t>
            </a:r>
            <a:r>
              <a:rPr lang="de-DE" sz="1200" dirty="0"/>
              <a:t>,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200" dirty="0" err="1"/>
              <a:t>glycolysis</a:t>
            </a:r>
            <a:r>
              <a:rPr lang="de-DE" sz="1200" dirty="0"/>
              <a:t> etc.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200" dirty="0"/>
              <a:t>Hub genes </a:t>
            </a:r>
            <a:r>
              <a:rPr lang="de-DE" sz="1200" dirty="0" err="1"/>
              <a:t>enriched</a:t>
            </a:r>
            <a:r>
              <a:rPr lang="de-DE" sz="1200" dirty="0"/>
              <a:t> in root </a:t>
            </a:r>
            <a:r>
              <a:rPr lang="de-DE" sz="1200" dirty="0" err="1"/>
              <a:t>morphogenesis</a:t>
            </a:r>
            <a:r>
              <a:rPr lang="de-DE" sz="1200" dirty="0"/>
              <a:t>,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200" dirty="0"/>
              <a:t>post-</a:t>
            </a:r>
            <a:r>
              <a:rPr lang="de-DE" sz="1200" dirty="0" err="1"/>
              <a:t>embryonic</a:t>
            </a:r>
            <a:r>
              <a:rPr lang="de-DE" sz="1200" dirty="0"/>
              <a:t> plant </a:t>
            </a:r>
            <a:r>
              <a:rPr lang="de-DE" sz="1200" dirty="0" err="1"/>
              <a:t>morphogenesis</a:t>
            </a:r>
            <a:r>
              <a:rPr lang="de-DE" sz="1200" dirty="0"/>
              <a:t>,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200" dirty="0"/>
              <a:t>root </a:t>
            </a:r>
            <a:r>
              <a:rPr lang="de-DE" sz="1200" dirty="0" err="1"/>
              <a:t>morphogenesis</a:t>
            </a:r>
            <a:r>
              <a:rPr lang="de-DE" sz="1200" dirty="0"/>
              <a:t>,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200" dirty="0"/>
              <a:t>plant-type </a:t>
            </a:r>
            <a:r>
              <a:rPr lang="de-DE" sz="1200" dirty="0" err="1"/>
              <a:t>cell</a:t>
            </a:r>
            <a:r>
              <a:rPr lang="de-DE" sz="1200" dirty="0"/>
              <a:t> wall </a:t>
            </a:r>
            <a:r>
              <a:rPr lang="de-DE" sz="1200" dirty="0" err="1"/>
              <a:t>organization</a:t>
            </a:r>
            <a:r>
              <a:rPr lang="de-DE" sz="1200" dirty="0"/>
              <a:t>,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200" dirty="0"/>
              <a:t>plant </a:t>
            </a:r>
            <a:r>
              <a:rPr lang="de-DE" sz="1200" dirty="0" err="1"/>
              <a:t>epidermis</a:t>
            </a:r>
            <a:r>
              <a:rPr lang="de-DE" sz="1200" dirty="0"/>
              <a:t> </a:t>
            </a:r>
            <a:r>
              <a:rPr lang="de-DE" sz="1200" dirty="0" err="1"/>
              <a:t>development</a:t>
            </a:r>
            <a:r>
              <a:rPr lang="de-DE" sz="1200" dirty="0"/>
              <a:t>, </a:t>
            </a:r>
            <a:r>
              <a:rPr lang="de-DE" sz="1200" dirty="0" err="1"/>
              <a:t>spec</a:t>
            </a:r>
            <a:r>
              <a:rPr lang="de-DE" sz="1200" dirty="0"/>
              <a:t>. </a:t>
            </a:r>
            <a:r>
              <a:rPr lang="de-DE" sz="1200" dirty="0" err="1"/>
              <a:t>For</a:t>
            </a:r>
            <a:r>
              <a:rPr lang="de-DE" sz="1200" dirty="0"/>
              <a:t> </a:t>
            </a:r>
            <a:r>
              <a:rPr lang="de-DE" sz="1200" dirty="0" err="1"/>
              <a:t>nematodes</a:t>
            </a:r>
            <a:r>
              <a:rPr lang="de-DE" sz="1200" dirty="0"/>
              <a:t>: positive </a:t>
            </a:r>
            <a:r>
              <a:rPr lang="de-DE" sz="1200" dirty="0" err="1"/>
              <a:t>regulation</a:t>
            </a:r>
            <a:r>
              <a:rPr lang="de-DE" sz="1200" dirty="0"/>
              <a:t> </a:t>
            </a:r>
            <a:r>
              <a:rPr lang="de-DE" sz="1200" dirty="0" err="1"/>
              <a:t>of</a:t>
            </a:r>
            <a:r>
              <a:rPr lang="de-DE" sz="1200" dirty="0"/>
              <a:t> DNA-</a:t>
            </a:r>
            <a:r>
              <a:rPr lang="de-DE" sz="1200" dirty="0" err="1"/>
              <a:t>templated</a:t>
            </a:r>
            <a:r>
              <a:rPr lang="de-DE" sz="1200" dirty="0"/>
              <a:t> </a:t>
            </a:r>
            <a:r>
              <a:rPr lang="de-DE" sz="1200" dirty="0" err="1"/>
              <a:t>transcription</a:t>
            </a:r>
            <a:r>
              <a:rPr lang="de-DE" sz="1200" dirty="0"/>
              <a:t> à CN and RKN </a:t>
            </a:r>
            <a:r>
              <a:rPr lang="de-DE" sz="1200" dirty="0" err="1"/>
              <a:t>invade</a:t>
            </a:r>
            <a:r>
              <a:rPr lang="de-DE" sz="1200" dirty="0"/>
              <a:t> </a:t>
            </a:r>
            <a:r>
              <a:rPr lang="de-DE" sz="1200" dirty="0" err="1"/>
              <a:t>the</a:t>
            </a:r>
            <a:r>
              <a:rPr lang="de-DE" sz="1200" dirty="0"/>
              <a:t> plant root </a:t>
            </a:r>
            <a:r>
              <a:rPr lang="de-DE" sz="1200" dirty="0" err="1"/>
              <a:t>near</a:t>
            </a:r>
            <a:r>
              <a:rPr lang="de-DE" sz="1200" dirty="0"/>
              <a:t> </a:t>
            </a:r>
            <a:r>
              <a:rPr lang="de-DE" sz="1200" dirty="0" err="1"/>
              <a:t>the</a:t>
            </a:r>
            <a:r>
              <a:rPr lang="de-DE" sz="1200" dirty="0"/>
              <a:t> </a:t>
            </a:r>
            <a:r>
              <a:rPr lang="de-DE" sz="1200" dirty="0" err="1"/>
              <a:t>tip</a:t>
            </a:r>
            <a:r>
              <a:rPr lang="de-DE" sz="1200" dirty="0"/>
              <a:t> and </a:t>
            </a:r>
            <a:r>
              <a:rPr lang="de-DE" sz="1200" dirty="0" err="1"/>
              <a:t>move</a:t>
            </a:r>
            <a:r>
              <a:rPr lang="de-DE" sz="1200" dirty="0"/>
              <a:t> </a:t>
            </a:r>
            <a:r>
              <a:rPr lang="de-DE" sz="1200" dirty="0" err="1"/>
              <a:t>through</a:t>
            </a:r>
            <a:r>
              <a:rPr lang="de-DE" sz="1200" dirty="0"/>
              <a:t> different </a:t>
            </a:r>
            <a:r>
              <a:rPr lang="de-DE" sz="1200" dirty="0" err="1"/>
              <a:t>tissue</a:t>
            </a:r>
            <a:r>
              <a:rPr lang="de-DE" sz="1200" dirty="0"/>
              <a:t> </a:t>
            </a:r>
            <a:r>
              <a:rPr lang="de-DE" sz="1200" dirty="0" err="1"/>
              <a:t>layers</a:t>
            </a:r>
            <a:r>
              <a:rPr lang="de-DE" sz="1200" dirty="0"/>
              <a:t> </a:t>
            </a:r>
            <a:r>
              <a:rPr lang="de-DE" sz="1200" dirty="0" err="1"/>
              <a:t>to</a:t>
            </a:r>
            <a:r>
              <a:rPr lang="de-DE" sz="1200" dirty="0"/>
              <a:t> </a:t>
            </a:r>
            <a:r>
              <a:rPr lang="de-DE" sz="1200" dirty="0" err="1"/>
              <a:t>reach</a:t>
            </a:r>
            <a:r>
              <a:rPr lang="de-DE" sz="1200" dirty="0"/>
              <a:t> </a:t>
            </a:r>
            <a:r>
              <a:rPr lang="de-DE" sz="1200" dirty="0" err="1"/>
              <a:t>the</a:t>
            </a:r>
            <a:r>
              <a:rPr lang="de-DE" sz="1200" dirty="0"/>
              <a:t> </a:t>
            </a:r>
            <a:r>
              <a:rPr lang="de-DE" sz="1200" dirty="0" err="1"/>
              <a:t>vascular</a:t>
            </a:r>
            <a:r>
              <a:rPr lang="de-DE" sz="1200" dirty="0"/>
              <a:t> </a:t>
            </a:r>
            <a:r>
              <a:rPr lang="de-DE" sz="1200" dirty="0" err="1"/>
              <a:t>cylinder</a:t>
            </a:r>
            <a:r>
              <a:rPr lang="de-DE" sz="1200" dirty="0"/>
              <a:t>, </a:t>
            </a:r>
            <a:r>
              <a:rPr lang="de-DE" sz="1200" dirty="0" err="1"/>
              <a:t>where</a:t>
            </a:r>
            <a:r>
              <a:rPr lang="de-DE" sz="1200" dirty="0"/>
              <a:t> CNs </a:t>
            </a:r>
            <a:r>
              <a:rPr lang="de-DE" sz="1200" dirty="0" err="1"/>
              <a:t>induce</a:t>
            </a:r>
            <a:r>
              <a:rPr lang="de-DE" sz="1200" dirty="0"/>
              <a:t> </a:t>
            </a:r>
            <a:r>
              <a:rPr lang="de-DE" sz="1200" dirty="0" err="1"/>
              <a:t>the</a:t>
            </a:r>
            <a:r>
              <a:rPr lang="de-DE" sz="1200" dirty="0"/>
              <a:t> </a:t>
            </a:r>
            <a:r>
              <a:rPr lang="de-DE" sz="1200" dirty="0" err="1"/>
              <a:t>formation</a:t>
            </a:r>
            <a:r>
              <a:rPr lang="de-DE" sz="1200" dirty="0"/>
              <a:t> </a:t>
            </a:r>
            <a:r>
              <a:rPr lang="de-DE" sz="1200" dirty="0" err="1"/>
              <a:t>of</a:t>
            </a:r>
            <a:r>
              <a:rPr lang="de-DE" sz="1200" dirty="0"/>
              <a:t> a (a </a:t>
            </a:r>
            <a:r>
              <a:rPr lang="de-DE" sz="1200" dirty="0" err="1"/>
              <a:t>fusion</a:t>
            </a:r>
            <a:r>
              <a:rPr lang="de-DE" sz="1200" dirty="0"/>
              <a:t> </a:t>
            </a:r>
            <a:r>
              <a:rPr lang="de-DE" sz="1200" dirty="0" err="1"/>
              <a:t>of</a:t>
            </a:r>
            <a:r>
              <a:rPr lang="de-DE" sz="1200" dirty="0"/>
              <a:t> </a:t>
            </a:r>
            <a:r>
              <a:rPr lang="de-DE" sz="1200" dirty="0" err="1"/>
              <a:t>cells</a:t>
            </a:r>
            <a:r>
              <a:rPr lang="de-DE" sz="1200" dirty="0"/>
              <a:t> </a:t>
            </a:r>
            <a:r>
              <a:rPr lang="de-DE" sz="1200" dirty="0" err="1"/>
              <a:t>resulting</a:t>
            </a:r>
            <a:r>
              <a:rPr lang="de-DE" sz="1200" dirty="0"/>
              <a:t> </a:t>
            </a:r>
            <a:r>
              <a:rPr lang="de-DE" sz="1200" dirty="0" err="1"/>
              <a:t>from</a:t>
            </a:r>
            <a:r>
              <a:rPr lang="de-DE" sz="1200" dirty="0"/>
              <a:t> partial </a:t>
            </a:r>
            <a:r>
              <a:rPr lang="de-DE" sz="1200" dirty="0" err="1"/>
              <a:t>cell</a:t>
            </a:r>
            <a:r>
              <a:rPr lang="de-DE" sz="1200" dirty="0"/>
              <a:t> wall </a:t>
            </a:r>
            <a:r>
              <a:rPr lang="de-DE" sz="1200" dirty="0" err="1"/>
              <a:t>dissolution</a:t>
            </a:r>
            <a:r>
              <a:rPr lang="de-DE" sz="1200" dirty="0"/>
              <a:t>), Root-</a:t>
            </a:r>
            <a:r>
              <a:rPr lang="de-DE" sz="1200" dirty="0" err="1"/>
              <a:t>knot</a:t>
            </a:r>
            <a:r>
              <a:rPr lang="de-DE" sz="1200" dirty="0"/>
              <a:t> and </a:t>
            </a:r>
            <a:r>
              <a:rPr lang="de-DE" sz="1200" dirty="0" err="1"/>
              <a:t>cyst</a:t>
            </a:r>
            <a:r>
              <a:rPr lang="de-DE" sz="1200" dirty="0"/>
              <a:t> </a:t>
            </a:r>
            <a:r>
              <a:rPr lang="de-DE" sz="1200" dirty="0" err="1"/>
              <a:t>nematodes</a:t>
            </a:r>
            <a:r>
              <a:rPr lang="de-DE" sz="1200" dirty="0"/>
              <a:t> </a:t>
            </a:r>
            <a:r>
              <a:rPr lang="de-DE" sz="1200" dirty="0" err="1"/>
              <a:t>manipulate</a:t>
            </a:r>
            <a:r>
              <a:rPr lang="de-DE" sz="1200" dirty="0"/>
              <a:t> lateral root </a:t>
            </a:r>
            <a:r>
              <a:rPr lang="de-DE" sz="1200" dirty="0" err="1"/>
              <a:t>development</a:t>
            </a:r>
            <a:r>
              <a:rPr lang="de-DE" sz="1200" dirty="0"/>
              <a:t> </a:t>
            </a:r>
            <a:r>
              <a:rPr lang="de-DE" sz="1200" dirty="0" err="1"/>
              <a:t>to</a:t>
            </a:r>
            <a:r>
              <a:rPr lang="de-DE" sz="1200" dirty="0"/>
              <a:t> </a:t>
            </a:r>
            <a:r>
              <a:rPr lang="de-DE" sz="1200" dirty="0" err="1"/>
              <a:t>create</a:t>
            </a:r>
            <a:r>
              <a:rPr lang="de-DE" sz="1200" dirty="0"/>
              <a:t> </a:t>
            </a:r>
            <a:r>
              <a:rPr lang="de-DE" sz="1200" b="1" dirty="0" err="1"/>
              <a:t>feeding</a:t>
            </a:r>
            <a:r>
              <a:rPr lang="de-DE" sz="1200" b="1" dirty="0"/>
              <a:t> </a:t>
            </a:r>
            <a:r>
              <a:rPr lang="de-DE" sz="1200" b="1" dirty="0" err="1"/>
              <a:t>structures</a:t>
            </a:r>
            <a:r>
              <a:rPr lang="de-DE" sz="1200" dirty="0"/>
              <a:t> (</a:t>
            </a:r>
            <a:r>
              <a:rPr lang="de-DE" sz="1200" dirty="0" err="1"/>
              <a:t>giant</a:t>
            </a:r>
            <a:r>
              <a:rPr lang="de-DE" sz="1200" dirty="0"/>
              <a:t> </a:t>
            </a:r>
            <a:r>
              <a:rPr lang="de-DE" sz="1200" dirty="0" err="1"/>
              <a:t>cells</a:t>
            </a:r>
            <a:r>
              <a:rPr lang="de-DE" sz="1200" dirty="0"/>
              <a:t> </a:t>
            </a:r>
            <a:r>
              <a:rPr lang="de-DE" sz="1200" dirty="0" err="1"/>
              <a:t>or</a:t>
            </a:r>
            <a:r>
              <a:rPr lang="de-DE" sz="1200" dirty="0"/>
              <a:t> </a:t>
            </a:r>
            <a:r>
              <a:rPr lang="de-DE" sz="1200" dirty="0" err="1"/>
              <a:t>syncytia</a:t>
            </a:r>
            <a:r>
              <a:rPr lang="de-DE" sz="1200" dirty="0"/>
              <a:t>) </a:t>
            </a:r>
            <a:r>
              <a:rPr lang="de-DE" sz="1200" dirty="0" err="1"/>
              <a:t>that</a:t>
            </a:r>
            <a:r>
              <a:rPr lang="de-DE" sz="1200" dirty="0"/>
              <a:t> support </a:t>
            </a:r>
            <a:r>
              <a:rPr lang="de-DE" sz="1200" dirty="0" err="1"/>
              <a:t>their</a:t>
            </a:r>
            <a:r>
              <a:rPr lang="de-DE" sz="1200" dirty="0"/>
              <a:t> </a:t>
            </a:r>
            <a:r>
              <a:rPr lang="de-DE" sz="1200" dirty="0" err="1"/>
              <a:t>survival</a:t>
            </a:r>
            <a:r>
              <a:rPr lang="de-DE" sz="1200" dirty="0"/>
              <a:t>,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200" dirty="0"/>
              <a:t>Plant-</a:t>
            </a:r>
            <a:r>
              <a:rPr lang="de-DE" sz="1200" dirty="0" err="1"/>
              <a:t>parasitic</a:t>
            </a:r>
            <a:r>
              <a:rPr lang="de-DE" sz="1200" dirty="0"/>
              <a:t> </a:t>
            </a:r>
            <a:r>
              <a:rPr lang="de-DE" sz="1200" dirty="0" err="1"/>
              <a:t>nematodes</a:t>
            </a:r>
            <a:r>
              <a:rPr lang="de-DE" sz="1200" dirty="0"/>
              <a:t> (e.g., </a:t>
            </a:r>
            <a:r>
              <a:rPr lang="de-DE" sz="1200" i="1" dirty="0" err="1"/>
              <a:t>Heterodera</a:t>
            </a:r>
            <a:r>
              <a:rPr lang="de-DE" sz="1200" dirty="0"/>
              <a:t> </a:t>
            </a:r>
            <a:r>
              <a:rPr lang="de-DE" sz="1200" dirty="0" err="1"/>
              <a:t>or</a:t>
            </a:r>
            <a:r>
              <a:rPr lang="de-DE" sz="1200" dirty="0"/>
              <a:t> </a:t>
            </a:r>
            <a:r>
              <a:rPr lang="de-DE" sz="1200" i="1" dirty="0" err="1"/>
              <a:t>Meloidogyne</a:t>
            </a:r>
            <a:r>
              <a:rPr lang="de-DE" sz="1200" dirty="0"/>
              <a:t> </a:t>
            </a:r>
            <a:r>
              <a:rPr lang="de-DE" sz="1200" dirty="0" err="1"/>
              <a:t>species</a:t>
            </a:r>
            <a:r>
              <a:rPr lang="de-DE" sz="1200" dirty="0"/>
              <a:t>) </a:t>
            </a:r>
            <a:r>
              <a:rPr lang="de-DE" sz="1200" dirty="0" err="1"/>
              <a:t>secrete</a:t>
            </a:r>
            <a:r>
              <a:rPr lang="de-DE" sz="1200" dirty="0"/>
              <a:t> </a:t>
            </a:r>
            <a:r>
              <a:rPr lang="de-DE" sz="1200" dirty="0" err="1"/>
              <a:t>effectors</a:t>
            </a:r>
            <a:r>
              <a:rPr lang="de-DE" sz="1200" dirty="0"/>
              <a:t> </a:t>
            </a:r>
            <a:r>
              <a:rPr lang="de-DE" sz="1200" dirty="0" err="1"/>
              <a:t>that</a:t>
            </a:r>
            <a:r>
              <a:rPr lang="de-DE" sz="1200" dirty="0"/>
              <a:t> </a:t>
            </a:r>
            <a:r>
              <a:rPr lang="de-DE" sz="1200" dirty="0" err="1"/>
              <a:t>modulate</a:t>
            </a:r>
            <a:r>
              <a:rPr lang="de-DE" sz="1200" dirty="0"/>
              <a:t> host </a:t>
            </a:r>
            <a:r>
              <a:rPr lang="de-DE" sz="1200" dirty="0" err="1"/>
              <a:t>transcription</a:t>
            </a:r>
            <a:r>
              <a:rPr lang="de-DE" sz="1200" dirty="0"/>
              <a:t> </a:t>
            </a:r>
            <a:r>
              <a:rPr lang="de-DE" sz="1200" dirty="0" err="1"/>
              <a:t>factors</a:t>
            </a:r>
            <a:r>
              <a:rPr lang="de-DE" sz="1200" dirty="0"/>
              <a:t>, </a:t>
            </a:r>
            <a:r>
              <a:rPr lang="de-DE" sz="1200" dirty="0" err="1"/>
              <a:t>promoting</a:t>
            </a:r>
            <a:r>
              <a:rPr lang="de-DE" sz="1200" dirty="0"/>
              <a:t> </a:t>
            </a:r>
            <a:r>
              <a:rPr lang="de-DE" sz="1200" dirty="0" err="1"/>
              <a:t>susceptibility.The</a:t>
            </a:r>
            <a:r>
              <a:rPr lang="de-DE" sz="1200" dirty="0"/>
              <a:t> plant </a:t>
            </a:r>
            <a:r>
              <a:rPr lang="de-DE" sz="1200" dirty="0" err="1"/>
              <a:t>may</a:t>
            </a:r>
            <a:r>
              <a:rPr lang="de-DE" sz="1200" dirty="0"/>
              <a:t> also </a:t>
            </a:r>
            <a:r>
              <a:rPr lang="de-DE" sz="1200" dirty="0" err="1"/>
              <a:t>activate</a:t>
            </a:r>
            <a:r>
              <a:rPr lang="de-DE" sz="1200" dirty="0"/>
              <a:t> </a:t>
            </a:r>
            <a:r>
              <a:rPr lang="de-DE" sz="1200" dirty="0" err="1"/>
              <a:t>its</a:t>
            </a:r>
            <a:r>
              <a:rPr lang="de-DE" sz="1200" dirty="0"/>
              <a:t> own </a:t>
            </a:r>
            <a:r>
              <a:rPr lang="de-DE" sz="1200" dirty="0" err="1"/>
              <a:t>transcriptional</a:t>
            </a:r>
            <a:r>
              <a:rPr lang="de-DE" sz="1200" dirty="0"/>
              <a:t> </a:t>
            </a:r>
            <a:r>
              <a:rPr lang="de-DE" sz="1200" dirty="0" err="1"/>
              <a:t>networks</a:t>
            </a:r>
            <a:r>
              <a:rPr lang="de-DE" sz="1200" dirty="0"/>
              <a:t> in </a:t>
            </a:r>
            <a:r>
              <a:rPr lang="de-DE" sz="1200" dirty="0" err="1"/>
              <a:t>response</a:t>
            </a:r>
            <a:r>
              <a:rPr lang="de-DE" sz="1200" dirty="0"/>
              <a:t> </a:t>
            </a:r>
            <a:r>
              <a:rPr lang="de-DE" sz="1200" dirty="0" err="1"/>
              <a:t>to</a:t>
            </a:r>
            <a:r>
              <a:rPr lang="de-DE" sz="1200" dirty="0"/>
              <a:t> stress and </a:t>
            </a:r>
            <a:r>
              <a:rPr lang="de-DE" sz="1200" dirty="0" err="1"/>
              <a:t>infection</a:t>
            </a:r>
            <a:r>
              <a:rPr lang="de-DE" sz="12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200" dirty="0">
                <a:hlinkClick r:id="rId3"/>
              </a:rPr>
              <a:t>syncytium</a:t>
            </a:r>
            <a:endParaRPr lang="de-DE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1200" dirty="0">
                <a:hlinkClick r:id="rId4"/>
              </a:rPr>
              <a:t>multinucleate</a:t>
            </a:r>
            <a:endParaRPr lang="de-DE" sz="1200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075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1" dirty="0" err="1">
                <a:effectLst/>
              </a:rPr>
              <a:t>darkgreen</a:t>
            </a:r>
            <a:r>
              <a:rPr lang="de-DE" dirty="0"/>
              <a:t>: </a:t>
            </a:r>
            <a:r>
              <a:rPr lang="de-DE" dirty="0" err="1"/>
              <a:t>enriched</a:t>
            </a:r>
            <a:r>
              <a:rPr lang="de-DE" dirty="0"/>
              <a:t> in </a:t>
            </a:r>
            <a:r>
              <a:rPr lang="de-DE" dirty="0" err="1"/>
              <a:t>translation</a:t>
            </a:r>
            <a:r>
              <a:rPr lang="de-DE" dirty="0"/>
              <a:t>, </a:t>
            </a:r>
            <a:r>
              <a:rPr lang="de-DE" dirty="0" err="1"/>
              <a:t>ribosome</a:t>
            </a:r>
            <a:r>
              <a:rPr lang="de-DE" dirty="0"/>
              <a:t> </a:t>
            </a:r>
            <a:r>
              <a:rPr lang="de-DE" dirty="0" err="1"/>
              <a:t>biogenesis</a:t>
            </a:r>
            <a:r>
              <a:rPr lang="de-DE" dirty="0"/>
              <a:t>, </a:t>
            </a:r>
            <a:r>
              <a:rPr lang="de-DE" dirty="0" err="1"/>
              <a:t>cytoplasmic</a:t>
            </a:r>
            <a:r>
              <a:rPr lang="de-DE" dirty="0"/>
              <a:t> </a:t>
            </a:r>
            <a:r>
              <a:rPr lang="de-DE" dirty="0" err="1"/>
              <a:t>translation</a:t>
            </a:r>
            <a:r>
              <a:rPr lang="de-DE" dirty="0"/>
              <a:t>, rRNA </a:t>
            </a:r>
            <a:r>
              <a:rPr lang="de-DE" dirty="0" err="1"/>
              <a:t>processing</a:t>
            </a:r>
            <a:r>
              <a:rPr lang="de-DE" dirty="0"/>
              <a:t>, etc. à </a:t>
            </a:r>
            <a:r>
              <a:rPr lang="de-DE" b="1" dirty="0" err="1">
                <a:effectLst/>
              </a:rPr>
              <a:t>Increased</a:t>
            </a:r>
            <a:r>
              <a:rPr lang="de-DE" b="1" dirty="0">
                <a:effectLst/>
              </a:rPr>
              <a:t> </a:t>
            </a:r>
            <a:r>
              <a:rPr lang="de-DE" b="1" dirty="0" err="1">
                <a:effectLst/>
              </a:rPr>
              <a:t>protein</a:t>
            </a:r>
            <a:r>
              <a:rPr lang="de-DE" b="1" dirty="0">
                <a:effectLst/>
              </a:rPr>
              <a:t> </a:t>
            </a:r>
            <a:r>
              <a:rPr lang="de-DE" b="1" dirty="0" err="1">
                <a:effectLst/>
              </a:rPr>
              <a:t>synthesis</a:t>
            </a:r>
            <a:r>
              <a:rPr lang="de-DE" b="1" dirty="0">
                <a:effectLst/>
              </a:rPr>
              <a:t> </a:t>
            </a:r>
            <a:r>
              <a:rPr lang="de-DE" b="1" dirty="0" err="1">
                <a:effectLst/>
              </a:rPr>
              <a:t>demand: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ribosomes</a:t>
            </a:r>
            <a:r>
              <a:rPr lang="de-DE" dirty="0"/>
              <a:t>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enhanced</a:t>
            </a:r>
            <a:r>
              <a:rPr lang="de-DE" dirty="0"/>
              <a:t> </a:t>
            </a:r>
            <a:r>
              <a:rPr lang="de-DE" dirty="0" err="1"/>
              <a:t>translation</a:t>
            </a:r>
            <a:r>
              <a:rPr lang="de-DE" dirty="0"/>
              <a:t> </a:t>
            </a:r>
            <a:r>
              <a:rPr lang="de-DE" dirty="0" err="1"/>
              <a:t>capacity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associated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rapid </a:t>
            </a:r>
            <a:r>
              <a:rPr lang="de-DE" dirty="0" err="1"/>
              <a:t>growth</a:t>
            </a:r>
            <a:r>
              <a:rPr lang="de-DE" dirty="0"/>
              <a:t>, stress </a:t>
            </a:r>
            <a:r>
              <a:rPr lang="de-DE" dirty="0" err="1"/>
              <a:t>responses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metabolic</a:t>
            </a:r>
            <a:r>
              <a:rPr lang="de-DE" dirty="0"/>
              <a:t> </a:t>
            </a:r>
            <a:r>
              <a:rPr lang="de-DE" dirty="0" err="1"/>
              <a:t>shifts</a:t>
            </a:r>
            <a:r>
              <a:rPr lang="de-DE" dirty="0"/>
              <a:t>;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nematodes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associated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 </a:t>
            </a:r>
            <a:r>
              <a:rPr lang="de-DE" b="1" dirty="0" err="1">
                <a:effectLst/>
              </a:rPr>
              <a:t>nematode</a:t>
            </a:r>
            <a:r>
              <a:rPr lang="de-DE" b="1" dirty="0">
                <a:effectLst/>
              </a:rPr>
              <a:t> </a:t>
            </a:r>
            <a:r>
              <a:rPr lang="de-DE" b="1" dirty="0" err="1">
                <a:effectLst/>
              </a:rPr>
              <a:t>infection</a:t>
            </a:r>
            <a:r>
              <a:rPr lang="de-DE" dirty="0"/>
              <a:t>,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suggest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nematode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inducing</a:t>
            </a:r>
            <a:r>
              <a:rPr lang="de-DE" dirty="0"/>
              <a:t> high </a:t>
            </a:r>
            <a:r>
              <a:rPr lang="de-DE" dirty="0" err="1"/>
              <a:t>protein</a:t>
            </a:r>
            <a:r>
              <a:rPr lang="de-DE" dirty="0"/>
              <a:t> </a:t>
            </a:r>
            <a:r>
              <a:rPr lang="de-DE" dirty="0" err="1"/>
              <a:t>production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maintain</a:t>
            </a:r>
            <a:r>
              <a:rPr lang="de-DE" dirty="0"/>
              <a:t> </a:t>
            </a:r>
            <a:r>
              <a:rPr lang="de-DE" dirty="0" err="1"/>
              <a:t>feeding</a:t>
            </a:r>
            <a:r>
              <a:rPr lang="de-DE" dirty="0"/>
              <a:t> </a:t>
            </a:r>
            <a:r>
              <a:rPr lang="de-DE" dirty="0" err="1"/>
              <a:t>sites</a:t>
            </a:r>
            <a:r>
              <a:rPr lang="de-DE" dirty="0"/>
              <a:t> (permanent </a:t>
            </a:r>
            <a:r>
              <a:rPr lang="de-DE" dirty="0" err="1"/>
              <a:t>feeding</a:t>
            </a:r>
            <a:r>
              <a:rPr lang="de-DE" dirty="0"/>
              <a:t> </a:t>
            </a:r>
            <a:r>
              <a:rPr lang="de-DE" dirty="0" err="1"/>
              <a:t>site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names</a:t>
            </a:r>
            <a:r>
              <a:rPr lang="de-DE" dirty="0"/>
              <a:t> </a:t>
            </a:r>
            <a:r>
              <a:rPr lang="de-DE" dirty="0" err="1"/>
              <a:t>syncytium</a:t>
            </a:r>
            <a:r>
              <a:rPr lang="de-DE" dirty="0"/>
              <a:t>)</a:t>
            </a: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host </a:t>
            </a:r>
            <a:r>
              <a:rPr lang="de-DE" dirty="0" err="1"/>
              <a:t>invation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cyst</a:t>
            </a:r>
            <a:r>
              <a:rPr lang="de-DE" dirty="0"/>
              <a:t> </a:t>
            </a:r>
            <a:r>
              <a:rPr lang="de-DE" dirty="0" err="1"/>
              <a:t>nematodes</a:t>
            </a:r>
            <a:r>
              <a:rPr lang="de-DE" dirty="0"/>
              <a:t> </a:t>
            </a:r>
            <a:r>
              <a:rPr lang="de-DE" dirty="0" err="1"/>
              <a:t>involves</a:t>
            </a:r>
            <a:r>
              <a:rPr lang="de-DE" dirty="0"/>
              <a:t> </a:t>
            </a:r>
            <a:r>
              <a:rPr lang="de-DE" dirty="0" err="1"/>
              <a:t>piercing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plant </a:t>
            </a:r>
            <a:r>
              <a:rPr lang="de-DE" dirty="0" err="1"/>
              <a:t>cell</a:t>
            </a:r>
            <a:r>
              <a:rPr lang="de-DE" dirty="0"/>
              <a:t> </a:t>
            </a:r>
            <a:r>
              <a:rPr lang="de-DE" dirty="0" err="1"/>
              <a:t>walls</a:t>
            </a:r>
            <a:r>
              <a:rPr lang="de-DE" dirty="0"/>
              <a:t>, </a:t>
            </a:r>
            <a:r>
              <a:rPr lang="de-DE" dirty="0" err="1"/>
              <a:t>once</a:t>
            </a:r>
            <a:r>
              <a:rPr lang="de-DE" dirty="0"/>
              <a:t> </a:t>
            </a:r>
            <a:r>
              <a:rPr lang="de-DE" dirty="0" err="1"/>
              <a:t>inside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root </a:t>
            </a:r>
            <a:r>
              <a:rPr lang="de-DE" dirty="0" err="1"/>
              <a:t>cortex</a:t>
            </a:r>
            <a:r>
              <a:rPr lang="de-DE" dirty="0"/>
              <a:t>, </a:t>
            </a:r>
            <a:r>
              <a:rPr lang="de-DE" dirty="0" err="1"/>
              <a:t>migration</a:t>
            </a:r>
            <a:r>
              <a:rPr lang="de-DE" dirty="0"/>
              <a:t> </a:t>
            </a:r>
            <a:r>
              <a:rPr lang="de-DE" dirty="0" err="1"/>
              <a:t>towards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vascular</a:t>
            </a:r>
            <a:r>
              <a:rPr lang="de-DE" dirty="0"/>
              <a:t> </a:t>
            </a:r>
            <a:r>
              <a:rPr lang="de-DE" dirty="0" err="1"/>
              <a:t>cylinder</a:t>
            </a:r>
            <a:r>
              <a:rPr lang="de-DE" dirty="0"/>
              <a:t>, </a:t>
            </a:r>
            <a:r>
              <a:rPr lang="de-DE" dirty="0" err="1"/>
              <a:t>while</a:t>
            </a:r>
            <a:r>
              <a:rPr lang="de-DE" dirty="0"/>
              <a:t> </a:t>
            </a:r>
            <a:r>
              <a:rPr lang="de-DE" dirty="0" err="1"/>
              <a:t>causing</a:t>
            </a:r>
            <a:r>
              <a:rPr lang="de-DE" dirty="0"/>
              <a:t> extensive </a:t>
            </a:r>
            <a:r>
              <a:rPr lang="de-DE" dirty="0" err="1"/>
              <a:t>tissue</a:t>
            </a:r>
            <a:r>
              <a:rPr lang="de-DE" dirty="0"/>
              <a:t> </a:t>
            </a:r>
            <a:r>
              <a:rPr lang="de-DE" dirty="0" err="1"/>
              <a:t>damage</a:t>
            </a:r>
            <a:r>
              <a:rPr lang="de-DE" dirty="0"/>
              <a:t>. After </a:t>
            </a:r>
            <a:r>
              <a:rPr lang="de-DE" dirty="0" err="1"/>
              <a:t>arriving</a:t>
            </a:r>
            <a:r>
              <a:rPr lang="de-DE" dirty="0"/>
              <a:t>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vascular</a:t>
            </a:r>
            <a:r>
              <a:rPr lang="de-DE" dirty="0"/>
              <a:t> </a:t>
            </a:r>
            <a:r>
              <a:rPr lang="de-DE" dirty="0" err="1"/>
              <a:t>cylinder</a:t>
            </a:r>
            <a:r>
              <a:rPr lang="de-DE" dirty="0"/>
              <a:t>,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deliver</a:t>
            </a:r>
            <a:r>
              <a:rPr lang="de-DE" dirty="0"/>
              <a:t> stylet </a:t>
            </a:r>
            <a:r>
              <a:rPr lang="de-DE" dirty="0" err="1"/>
              <a:t>secreted</a:t>
            </a:r>
            <a:r>
              <a:rPr lang="de-DE" dirty="0"/>
              <a:t> </a:t>
            </a:r>
            <a:r>
              <a:rPr lang="de-DE" dirty="0" err="1"/>
              <a:t>effectors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host </a:t>
            </a:r>
            <a:r>
              <a:rPr lang="de-DE" dirty="0" err="1"/>
              <a:t>cell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initiate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formation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permanent </a:t>
            </a:r>
            <a:r>
              <a:rPr lang="de-DE" dirty="0" err="1"/>
              <a:t>feeding</a:t>
            </a:r>
            <a:r>
              <a:rPr lang="de-DE" dirty="0"/>
              <a:t> </a:t>
            </a:r>
            <a:r>
              <a:rPr lang="de-DE" dirty="0" err="1"/>
              <a:t>site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manipulating</a:t>
            </a:r>
            <a:r>
              <a:rPr lang="de-DE" dirty="0"/>
              <a:t> plant </a:t>
            </a:r>
            <a:r>
              <a:rPr lang="de-DE" dirty="0" err="1"/>
              <a:t>cell</a:t>
            </a:r>
            <a:r>
              <a:rPr lang="de-DE" dirty="0"/>
              <a:t> </a:t>
            </a:r>
            <a:r>
              <a:rPr lang="de-DE" dirty="0" err="1"/>
              <a:t>differentiation</a:t>
            </a:r>
            <a:r>
              <a:rPr lang="de-DE" dirty="0"/>
              <a:t> and </a:t>
            </a:r>
            <a:r>
              <a:rPr lang="de-DE" dirty="0" err="1"/>
              <a:t>growth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5108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sz="1200" dirty="0" err="1"/>
              <a:t>clubroot</a:t>
            </a:r>
            <a:r>
              <a:rPr lang="de-DE" sz="1200" dirty="0"/>
              <a:t> = root </a:t>
            </a:r>
            <a:r>
              <a:rPr lang="de-DE" sz="1200" dirty="0" err="1"/>
              <a:t>gall</a:t>
            </a:r>
            <a:r>
              <a:rPr lang="de-DE" sz="1200" dirty="0"/>
              <a:t> </a:t>
            </a:r>
            <a:r>
              <a:rPr lang="de-DE" sz="1200" dirty="0" err="1"/>
              <a:t>disease</a:t>
            </a:r>
            <a:r>
              <a:rPr lang="de-DE" sz="1200" dirty="0"/>
              <a:t> </a:t>
            </a:r>
            <a:r>
              <a:rPr lang="de-DE" sz="1200" dirty="0" err="1"/>
              <a:t>of</a:t>
            </a:r>
            <a:r>
              <a:rPr lang="de-DE" sz="1200" dirty="0"/>
              <a:t> </a:t>
            </a:r>
            <a:r>
              <a:rPr lang="de-DE" sz="1200" dirty="0" err="1"/>
              <a:t>Brassicaceae</a:t>
            </a:r>
            <a:r>
              <a:rPr lang="de-DE" sz="1200" dirty="0"/>
              <a:t> </a:t>
            </a:r>
            <a:r>
              <a:rPr lang="de-DE" sz="1200" dirty="0" err="1"/>
              <a:t>species</a:t>
            </a:r>
            <a:r>
              <a:rPr lang="de-DE" sz="1200" dirty="0"/>
              <a:t>, </a:t>
            </a:r>
            <a:r>
              <a:rPr lang="de-DE" sz="1200" dirty="0" err="1"/>
              <a:t>infection</a:t>
            </a:r>
            <a:r>
              <a:rPr lang="de-DE" sz="1200" dirty="0"/>
              <a:t> </a:t>
            </a:r>
            <a:r>
              <a:rPr lang="de-DE" sz="1200" dirty="0" err="1"/>
              <a:t>process</a:t>
            </a:r>
            <a:r>
              <a:rPr lang="de-DE" sz="1200" dirty="0"/>
              <a:t> </a:t>
            </a:r>
            <a:r>
              <a:rPr lang="de-DE" sz="1200" dirty="0" err="1"/>
              <a:t>involves</a:t>
            </a:r>
            <a:r>
              <a:rPr lang="de-DE" sz="1200" dirty="0"/>
              <a:t> a </a:t>
            </a:r>
            <a:r>
              <a:rPr lang="de-DE" sz="1200" dirty="0" err="1"/>
              <a:t>short</a:t>
            </a:r>
            <a:r>
              <a:rPr lang="de-DE" sz="1200" dirty="0"/>
              <a:t> </a:t>
            </a:r>
            <a:r>
              <a:rPr lang="de-DE" sz="1200" dirty="0" err="1"/>
              <a:t>primary</a:t>
            </a:r>
            <a:r>
              <a:rPr lang="de-DE" sz="1200" dirty="0"/>
              <a:t> </a:t>
            </a:r>
            <a:r>
              <a:rPr lang="de-DE" sz="1200" dirty="0" err="1"/>
              <a:t>infection</a:t>
            </a:r>
            <a:r>
              <a:rPr lang="de-DE" sz="1200" dirty="0"/>
              <a:t> </a:t>
            </a:r>
            <a:r>
              <a:rPr lang="de-DE" sz="1200" dirty="0" err="1"/>
              <a:t>of</a:t>
            </a:r>
            <a:r>
              <a:rPr lang="de-DE" sz="1200" dirty="0"/>
              <a:t> root </a:t>
            </a:r>
            <a:r>
              <a:rPr lang="de-DE" sz="1200" dirty="0" err="1"/>
              <a:t>hairs</a:t>
            </a:r>
            <a:r>
              <a:rPr lang="de-DE" sz="1200" dirty="0"/>
              <a:t>, </a:t>
            </a:r>
            <a:r>
              <a:rPr lang="de-DE" sz="1200" dirty="0" err="1"/>
              <a:t>followed</a:t>
            </a:r>
            <a:r>
              <a:rPr lang="de-DE" sz="1200" dirty="0"/>
              <a:t> </a:t>
            </a:r>
            <a:r>
              <a:rPr lang="de-DE" sz="1200" dirty="0" err="1"/>
              <a:t>by</a:t>
            </a:r>
            <a:r>
              <a:rPr lang="de-DE" sz="1200" dirty="0"/>
              <a:t> a </a:t>
            </a:r>
            <a:r>
              <a:rPr lang="de-DE" sz="1200" dirty="0" err="1"/>
              <a:t>secondary</a:t>
            </a:r>
            <a:r>
              <a:rPr lang="de-DE" sz="1200" dirty="0"/>
              <a:t> </a:t>
            </a:r>
            <a:r>
              <a:rPr lang="de-DE" sz="1200" dirty="0" err="1"/>
              <a:t>phase</a:t>
            </a:r>
            <a:r>
              <a:rPr lang="de-DE" sz="1200" dirty="0"/>
              <a:t> </a:t>
            </a:r>
            <a:r>
              <a:rPr lang="de-DE" sz="1200" dirty="0" err="1"/>
              <a:t>where</a:t>
            </a:r>
            <a:r>
              <a:rPr lang="de-DE" sz="1200" dirty="0"/>
              <a:t> </a:t>
            </a:r>
            <a:r>
              <a:rPr lang="de-DE" sz="1200" dirty="0" err="1"/>
              <a:t>plasmodia</a:t>
            </a:r>
            <a:r>
              <a:rPr lang="de-DE" sz="1200" dirty="0"/>
              <a:t> </a:t>
            </a:r>
            <a:r>
              <a:rPr lang="de-DE" sz="1200" dirty="0" err="1"/>
              <a:t>develop</a:t>
            </a:r>
            <a:r>
              <a:rPr lang="de-DE" sz="1200" dirty="0"/>
              <a:t> </a:t>
            </a:r>
            <a:r>
              <a:rPr lang="de-DE" sz="1200" dirty="0" err="1"/>
              <a:t>intracellularly</a:t>
            </a:r>
            <a:r>
              <a:rPr lang="de-DE" sz="1200" dirty="0"/>
              <a:t> in </a:t>
            </a:r>
            <a:r>
              <a:rPr lang="de-DE" sz="1200" dirty="0" err="1"/>
              <a:t>the</a:t>
            </a:r>
            <a:r>
              <a:rPr lang="de-DE" sz="1200" dirty="0"/>
              <a:t> root </a:t>
            </a:r>
            <a:r>
              <a:rPr lang="de-DE" sz="1200" dirty="0" err="1"/>
              <a:t>cortex</a:t>
            </a:r>
            <a:r>
              <a:rPr lang="de-DE" sz="1200" dirty="0"/>
              <a:t> (</a:t>
            </a:r>
            <a:r>
              <a:rPr lang="de-DE" sz="1200" dirty="0" err="1"/>
              <a:t>see</a:t>
            </a:r>
            <a:r>
              <a:rPr lang="de-DE" sz="1200" dirty="0"/>
              <a:t> </a:t>
            </a:r>
            <a:r>
              <a:rPr lang="de-DE" sz="1200" dirty="0" err="1"/>
              <a:t>lifestyle</a:t>
            </a:r>
            <a:r>
              <a:rPr lang="de-DE" sz="1200" dirty="0"/>
              <a:t> </a:t>
            </a:r>
            <a:r>
              <a:rPr lang="de-DE" sz="1200" dirty="0" err="1"/>
              <a:t>of</a:t>
            </a:r>
            <a:r>
              <a:rPr lang="de-DE" sz="1200" dirty="0"/>
              <a:t> </a:t>
            </a:r>
            <a:r>
              <a:rPr lang="de-DE" sz="1200" dirty="0" err="1"/>
              <a:t>P.brassicae</a:t>
            </a:r>
            <a:r>
              <a:rPr lang="de-DE" sz="1200" dirty="0"/>
              <a:t>)</a:t>
            </a:r>
          </a:p>
          <a:p>
            <a:endParaRPr lang="de-DE" dirty="0"/>
          </a:p>
          <a:p>
            <a:pPr marL="285750" indent="-285750">
              <a:buFont typeface="Wingdings" pitchFamily="2" charset="2"/>
              <a:buChar char="à"/>
            </a:pPr>
            <a:r>
              <a:rPr lang="de-DE" sz="1200" dirty="0"/>
              <a:t>(</a:t>
            </a:r>
            <a:r>
              <a:rPr lang="de-DE" sz="1200" dirty="0" err="1"/>
              <a:t>paper</a:t>
            </a:r>
            <a:r>
              <a:rPr lang="de-DE" sz="1200" dirty="0"/>
              <a:t> </a:t>
            </a:r>
            <a:r>
              <a:rPr lang="de-DE" sz="1200" dirty="0" err="1"/>
              <a:t>is</a:t>
            </a:r>
            <a:r>
              <a:rPr lang="de-DE" sz="1200" dirty="0"/>
              <a:t> </a:t>
            </a:r>
            <a:r>
              <a:rPr lang="de-DE" sz="1200" dirty="0" err="1"/>
              <a:t>only</a:t>
            </a:r>
            <a:r>
              <a:rPr lang="de-DE" sz="1200" dirty="0"/>
              <a:t> </a:t>
            </a:r>
            <a:r>
              <a:rPr lang="de-DE" sz="1200" dirty="0" err="1"/>
              <a:t>about</a:t>
            </a:r>
            <a:r>
              <a:rPr lang="de-DE" sz="1200" dirty="0"/>
              <a:t> </a:t>
            </a:r>
            <a:r>
              <a:rPr lang="de-DE" sz="1200" dirty="0" err="1"/>
              <a:t>B.napus</a:t>
            </a:r>
            <a:r>
              <a:rPr lang="de-DE" sz="1200" dirty="0"/>
              <a:t>), 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de-DE" sz="1200" dirty="0"/>
              <a:t>0.4 </a:t>
            </a:r>
            <a:r>
              <a:rPr lang="de-DE" sz="1200" dirty="0" err="1"/>
              <a:t>gene</a:t>
            </a:r>
            <a:r>
              <a:rPr lang="de-DE" sz="1200" dirty="0"/>
              <a:t> </a:t>
            </a:r>
            <a:r>
              <a:rPr lang="de-DE" sz="1200" dirty="0" err="1"/>
              <a:t>significance</a:t>
            </a:r>
            <a:r>
              <a:rPr lang="de-DE" sz="1200" dirty="0"/>
              <a:t> </a:t>
            </a:r>
            <a:r>
              <a:rPr lang="de-DE" sz="1200" dirty="0" err="1"/>
              <a:t>for</a:t>
            </a:r>
            <a:r>
              <a:rPr lang="de-DE" sz="1200" dirty="0"/>
              <a:t> </a:t>
            </a:r>
            <a:r>
              <a:rPr lang="de-DE" sz="1200" dirty="0" err="1"/>
              <a:t>P.brassicae</a:t>
            </a:r>
            <a:r>
              <a:rPr lang="de-DE" sz="1200" dirty="0"/>
              <a:t>)</a:t>
            </a:r>
          </a:p>
          <a:p>
            <a:endParaRPr lang="de-DE" dirty="0"/>
          </a:p>
          <a:p>
            <a:r>
              <a:rPr lang="de-DE" b="1" dirty="0" err="1"/>
              <a:t>Conservation</a:t>
            </a:r>
            <a:r>
              <a:rPr lang="de-DE" b="1" dirty="0"/>
              <a:t> </a:t>
            </a:r>
            <a:r>
              <a:rPr lang="de-DE" b="1" dirty="0" err="1"/>
              <a:t>of</a:t>
            </a:r>
            <a:r>
              <a:rPr lang="de-DE" b="1" dirty="0"/>
              <a:t> Defense </a:t>
            </a:r>
            <a:r>
              <a:rPr lang="de-DE" b="1" dirty="0" err="1"/>
              <a:t>Mechanisms</a:t>
            </a:r>
            <a:r>
              <a:rPr lang="de-DE" b="1" dirty="0"/>
              <a:t>: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The </a:t>
            </a:r>
            <a:r>
              <a:rPr lang="de-DE" dirty="0" err="1"/>
              <a:t>involvement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JAZ genes in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 </a:t>
            </a:r>
            <a:r>
              <a:rPr lang="de-DE" i="1" dirty="0"/>
              <a:t>P. </a:t>
            </a:r>
            <a:r>
              <a:rPr lang="de-DE" i="1" dirty="0" err="1"/>
              <a:t>brassicae</a:t>
            </a:r>
            <a:r>
              <a:rPr lang="de-DE" dirty="0"/>
              <a:t> </a:t>
            </a:r>
            <a:r>
              <a:rPr lang="de-DE" dirty="0" err="1"/>
              <a:t>infection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different </a:t>
            </a:r>
            <a:r>
              <a:rPr lang="de-DE" dirty="0" err="1"/>
              <a:t>species</a:t>
            </a:r>
            <a:r>
              <a:rPr lang="de-DE" dirty="0"/>
              <a:t> (</a:t>
            </a:r>
            <a:r>
              <a:rPr lang="de-DE" i="1" dirty="0"/>
              <a:t>B. </a:t>
            </a:r>
            <a:r>
              <a:rPr lang="de-DE" i="1" dirty="0" err="1"/>
              <a:t>napus</a:t>
            </a:r>
            <a:r>
              <a:rPr lang="de-DE" dirty="0"/>
              <a:t> and </a:t>
            </a:r>
            <a:r>
              <a:rPr lang="de-DE" i="1" dirty="0"/>
              <a:t>A. </a:t>
            </a:r>
            <a:r>
              <a:rPr lang="de-DE" i="1" dirty="0" err="1"/>
              <a:t>thaliana</a:t>
            </a:r>
            <a:r>
              <a:rPr lang="de-DE" dirty="0"/>
              <a:t>) </a:t>
            </a:r>
            <a:r>
              <a:rPr lang="de-DE" dirty="0" err="1"/>
              <a:t>suggests</a:t>
            </a:r>
            <a:r>
              <a:rPr lang="de-DE" dirty="0"/>
              <a:t> a </a:t>
            </a:r>
            <a:r>
              <a:rPr lang="de-DE" dirty="0" err="1"/>
              <a:t>conserved</a:t>
            </a:r>
            <a:r>
              <a:rPr lang="de-DE" dirty="0"/>
              <a:t>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jasmonate</a:t>
            </a:r>
            <a:r>
              <a:rPr lang="de-DE" dirty="0"/>
              <a:t> </a:t>
            </a:r>
            <a:r>
              <a:rPr lang="de-DE" dirty="0" err="1"/>
              <a:t>signaling</a:t>
            </a:r>
            <a:r>
              <a:rPr lang="de-DE" dirty="0"/>
              <a:t> </a:t>
            </a:r>
            <a:r>
              <a:rPr lang="de-DE" dirty="0" err="1"/>
              <a:t>pathway</a:t>
            </a:r>
            <a:r>
              <a:rPr lang="de-DE" dirty="0"/>
              <a:t> in plant </a:t>
            </a:r>
            <a:r>
              <a:rPr lang="de-DE" dirty="0" err="1"/>
              <a:t>defense</a:t>
            </a:r>
            <a:r>
              <a:rPr lang="de-DE" dirty="0"/>
              <a:t> </a:t>
            </a:r>
            <a:r>
              <a:rPr lang="de-DE" dirty="0" err="1"/>
              <a:t>mechanisms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pathogen.</a:t>
            </a:r>
          </a:p>
          <a:p>
            <a:r>
              <a:rPr lang="de-DE" b="1" dirty="0" err="1"/>
              <a:t>Functional</a:t>
            </a:r>
            <a:r>
              <a:rPr lang="de-DE" b="1" dirty="0"/>
              <a:t> </a:t>
            </a:r>
            <a:r>
              <a:rPr lang="de-DE" b="1" dirty="0" err="1"/>
              <a:t>Implications</a:t>
            </a:r>
            <a:r>
              <a:rPr lang="de-DE" b="1" dirty="0"/>
              <a:t> </a:t>
            </a:r>
            <a:r>
              <a:rPr lang="de-DE" b="1" dirty="0" err="1"/>
              <a:t>of</a:t>
            </a:r>
            <a:r>
              <a:rPr lang="de-DE" b="1" dirty="0"/>
              <a:t> JAZ Genes: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JAZ </a:t>
            </a:r>
            <a:r>
              <a:rPr lang="de-DE" dirty="0" err="1"/>
              <a:t>proteins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known</a:t>
            </a:r>
            <a:r>
              <a:rPr lang="de-DE" dirty="0"/>
              <a:t> </a:t>
            </a:r>
            <a:r>
              <a:rPr lang="de-DE" dirty="0" err="1"/>
              <a:t>repressors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jasmonic</a:t>
            </a:r>
            <a:r>
              <a:rPr lang="de-DE" dirty="0"/>
              <a:t> </a:t>
            </a:r>
            <a:r>
              <a:rPr lang="de-DE" dirty="0" err="1"/>
              <a:t>acid</a:t>
            </a:r>
            <a:r>
              <a:rPr lang="de-DE" dirty="0"/>
              <a:t> (JA) </a:t>
            </a:r>
            <a:r>
              <a:rPr lang="de-DE" dirty="0" err="1"/>
              <a:t>signaling</a:t>
            </a:r>
            <a:r>
              <a:rPr lang="de-DE" dirty="0"/>
              <a:t> </a:t>
            </a:r>
            <a:r>
              <a:rPr lang="de-DE" dirty="0" err="1"/>
              <a:t>pathway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crucial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regulating</a:t>
            </a:r>
            <a:r>
              <a:rPr lang="de-DE" dirty="0"/>
              <a:t> plant </a:t>
            </a:r>
            <a:r>
              <a:rPr lang="de-DE" dirty="0" err="1"/>
              <a:t>defense</a:t>
            </a:r>
            <a:r>
              <a:rPr lang="de-DE" dirty="0"/>
              <a:t> </a:t>
            </a:r>
            <a:r>
              <a:rPr lang="de-DE" dirty="0" err="1"/>
              <a:t>responses</a:t>
            </a:r>
            <a:r>
              <a:rPr lang="de-DE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The </a:t>
            </a:r>
            <a:r>
              <a:rPr lang="de-DE" dirty="0" err="1"/>
              <a:t>correlation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JAZ genes </a:t>
            </a:r>
            <a:r>
              <a:rPr lang="de-DE" dirty="0" err="1"/>
              <a:t>with</a:t>
            </a:r>
            <a:r>
              <a:rPr lang="de-DE" dirty="0"/>
              <a:t> </a:t>
            </a:r>
            <a:r>
              <a:rPr lang="de-DE" i="1" dirty="0"/>
              <a:t>P. </a:t>
            </a:r>
            <a:r>
              <a:rPr lang="de-DE" i="1" dirty="0" err="1"/>
              <a:t>brassicae</a:t>
            </a:r>
            <a:r>
              <a:rPr lang="de-DE" dirty="0"/>
              <a:t> </a:t>
            </a:r>
            <a:r>
              <a:rPr lang="de-DE" dirty="0" err="1"/>
              <a:t>infection</a:t>
            </a:r>
            <a:r>
              <a:rPr lang="de-DE" dirty="0"/>
              <a:t> in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study</a:t>
            </a:r>
            <a:r>
              <a:rPr lang="de-DE" dirty="0"/>
              <a:t> </a:t>
            </a:r>
            <a:r>
              <a:rPr lang="de-DE" dirty="0" err="1"/>
              <a:t>implies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genes </a:t>
            </a:r>
            <a:r>
              <a:rPr lang="de-DE" dirty="0" err="1"/>
              <a:t>might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modulating</a:t>
            </a:r>
            <a:r>
              <a:rPr lang="de-DE" dirty="0"/>
              <a:t> JA-</a:t>
            </a:r>
            <a:r>
              <a:rPr lang="de-DE" dirty="0" err="1"/>
              <a:t>mediated</a:t>
            </a:r>
            <a:r>
              <a:rPr lang="de-DE" dirty="0"/>
              <a:t> </a:t>
            </a:r>
            <a:r>
              <a:rPr lang="de-DE" dirty="0" err="1"/>
              <a:t>defense</a:t>
            </a:r>
            <a:r>
              <a:rPr lang="de-DE" dirty="0"/>
              <a:t> </a:t>
            </a:r>
            <a:r>
              <a:rPr lang="de-DE" dirty="0" err="1"/>
              <a:t>responses</a:t>
            </a:r>
            <a:r>
              <a:rPr lang="de-DE" dirty="0"/>
              <a:t> in </a:t>
            </a:r>
            <a:r>
              <a:rPr lang="de-DE" i="1" dirty="0"/>
              <a:t>A. </a:t>
            </a:r>
            <a:r>
              <a:rPr lang="de-DE" i="1" dirty="0" err="1"/>
              <a:t>thaliana</a:t>
            </a:r>
            <a:r>
              <a:rPr lang="de-DE" dirty="0"/>
              <a:t>.</a:t>
            </a:r>
          </a:p>
          <a:p>
            <a:r>
              <a:rPr lang="de-DE" b="1" dirty="0"/>
              <a:t>Potential Targets </a:t>
            </a:r>
            <a:r>
              <a:rPr lang="de-DE" b="1" dirty="0" err="1"/>
              <a:t>for</a:t>
            </a:r>
            <a:r>
              <a:rPr lang="de-DE" b="1" dirty="0"/>
              <a:t> </a:t>
            </a:r>
            <a:r>
              <a:rPr lang="de-DE" b="1" dirty="0" err="1"/>
              <a:t>Enhancing</a:t>
            </a:r>
            <a:r>
              <a:rPr lang="de-DE" b="1" dirty="0"/>
              <a:t> Resistance: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Identifying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JAZ genes </a:t>
            </a:r>
            <a:r>
              <a:rPr lang="de-DE" dirty="0" err="1"/>
              <a:t>associated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 </a:t>
            </a:r>
            <a:r>
              <a:rPr lang="de-DE" i="1" dirty="0"/>
              <a:t>P. </a:t>
            </a:r>
            <a:r>
              <a:rPr lang="de-DE" i="1" dirty="0" err="1"/>
              <a:t>brassicae</a:t>
            </a:r>
            <a:r>
              <a:rPr lang="de-DE" dirty="0"/>
              <a:t> </a:t>
            </a:r>
            <a:r>
              <a:rPr lang="de-DE" dirty="0" err="1"/>
              <a:t>infection</a:t>
            </a:r>
            <a:r>
              <a:rPr lang="de-DE" dirty="0"/>
              <a:t> </a:t>
            </a:r>
            <a:r>
              <a:rPr lang="de-DE" dirty="0" err="1"/>
              <a:t>provides</a:t>
            </a:r>
            <a:r>
              <a:rPr lang="de-DE" dirty="0"/>
              <a:t> potential </a:t>
            </a:r>
            <a:r>
              <a:rPr lang="de-DE" dirty="0" err="1"/>
              <a:t>targets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genetic</a:t>
            </a:r>
            <a:r>
              <a:rPr lang="de-DE" dirty="0"/>
              <a:t> </a:t>
            </a:r>
            <a:r>
              <a:rPr lang="de-DE" dirty="0" err="1"/>
              <a:t>manipulation</a:t>
            </a:r>
            <a:r>
              <a:rPr lang="de-DE" dirty="0"/>
              <a:t> </a:t>
            </a:r>
            <a:r>
              <a:rPr lang="de-DE" dirty="0" err="1"/>
              <a:t>aimed</a:t>
            </a:r>
            <a:r>
              <a:rPr lang="de-DE" dirty="0"/>
              <a:t> at </a:t>
            </a:r>
            <a:r>
              <a:rPr lang="de-DE" dirty="0" err="1"/>
              <a:t>enhancing</a:t>
            </a:r>
            <a:r>
              <a:rPr lang="de-DE" dirty="0"/>
              <a:t> </a:t>
            </a:r>
            <a:r>
              <a:rPr lang="de-DE" dirty="0" err="1"/>
              <a:t>clubroot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in </a:t>
            </a:r>
            <a:r>
              <a:rPr lang="de-DE" i="1" dirty="0"/>
              <a:t>A. </a:t>
            </a:r>
            <a:r>
              <a:rPr lang="de-DE" i="1" dirty="0" err="1"/>
              <a:t>thaliana</a:t>
            </a:r>
            <a:r>
              <a:rPr lang="de-DE" dirty="0"/>
              <a:t>.</a:t>
            </a:r>
          </a:p>
          <a:p>
            <a:r>
              <a:rPr lang="de-DE" b="1" dirty="0" err="1"/>
              <a:t>Comparative</a:t>
            </a:r>
            <a:r>
              <a:rPr lang="de-DE" b="1" dirty="0"/>
              <a:t> </a:t>
            </a:r>
            <a:r>
              <a:rPr lang="de-DE" b="1" dirty="0" err="1"/>
              <a:t>Genomic</a:t>
            </a:r>
            <a:r>
              <a:rPr lang="de-DE" b="1" dirty="0"/>
              <a:t> </a:t>
            </a:r>
            <a:r>
              <a:rPr lang="de-DE" b="1" dirty="0" err="1"/>
              <a:t>Insights</a:t>
            </a:r>
            <a:r>
              <a:rPr lang="de-DE" b="1" dirty="0"/>
              <a:t>: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 err="1"/>
              <a:t>Comparing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variations</a:t>
            </a:r>
            <a:r>
              <a:rPr lang="de-DE" dirty="0"/>
              <a:t> and </a:t>
            </a:r>
            <a:r>
              <a:rPr lang="de-DE" dirty="0" err="1"/>
              <a:t>expression</a:t>
            </a:r>
            <a:r>
              <a:rPr lang="de-DE" dirty="0"/>
              <a:t> </a:t>
            </a:r>
            <a:r>
              <a:rPr lang="de-DE" dirty="0" err="1"/>
              <a:t>patterns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JAZ genes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resistant</a:t>
            </a:r>
            <a:r>
              <a:rPr lang="de-DE" dirty="0"/>
              <a:t> and </a:t>
            </a:r>
            <a:r>
              <a:rPr lang="de-DE" dirty="0" err="1"/>
              <a:t>susceptible</a:t>
            </a:r>
            <a:r>
              <a:rPr lang="de-DE" dirty="0"/>
              <a:t> </a:t>
            </a:r>
            <a:r>
              <a:rPr lang="de-DE" dirty="0" err="1"/>
              <a:t>accessions</a:t>
            </a:r>
            <a:r>
              <a:rPr lang="de-DE" dirty="0"/>
              <a:t>,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done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 </a:t>
            </a:r>
            <a:r>
              <a:rPr lang="de-DE" i="1" dirty="0"/>
              <a:t>B. </a:t>
            </a:r>
            <a:r>
              <a:rPr lang="de-DE" i="1" dirty="0" err="1"/>
              <a:t>napus</a:t>
            </a:r>
            <a:r>
              <a:rPr lang="de-DE" dirty="0"/>
              <a:t> </a:t>
            </a:r>
            <a:r>
              <a:rPr lang="de-DE" dirty="0" err="1"/>
              <a:t>study</a:t>
            </a:r>
            <a:r>
              <a:rPr lang="de-DE" dirty="0"/>
              <a:t>,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offer</a:t>
            </a:r>
            <a:r>
              <a:rPr lang="de-DE" dirty="0"/>
              <a:t> </a:t>
            </a:r>
            <a:r>
              <a:rPr lang="de-DE" dirty="0" err="1"/>
              <a:t>insights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genetic</a:t>
            </a:r>
            <a:r>
              <a:rPr lang="de-DE" dirty="0"/>
              <a:t> </a:t>
            </a:r>
            <a:r>
              <a:rPr lang="de-DE" dirty="0" err="1"/>
              <a:t>basis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in </a:t>
            </a:r>
            <a:r>
              <a:rPr lang="de-DE" i="1" dirty="0"/>
              <a:t>A. </a:t>
            </a:r>
            <a:r>
              <a:rPr lang="de-DE" i="1" dirty="0" err="1"/>
              <a:t>thaliana</a:t>
            </a:r>
            <a:r>
              <a:rPr lang="de-DE" dirty="0"/>
              <a:t>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6761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1" dirty="0">
                <a:effectLst/>
              </a:rPr>
              <a:t>Yellow: </a:t>
            </a:r>
            <a:r>
              <a:rPr lang="de-DE" dirty="0" err="1"/>
              <a:t>enriched</a:t>
            </a:r>
            <a:r>
              <a:rPr lang="de-DE" dirty="0"/>
              <a:t> in Pentose and </a:t>
            </a:r>
            <a:r>
              <a:rPr lang="de-DE" dirty="0" err="1"/>
              <a:t>glucuronate</a:t>
            </a:r>
            <a:r>
              <a:rPr lang="de-DE" dirty="0"/>
              <a:t> </a:t>
            </a:r>
            <a:r>
              <a:rPr lang="de-DE" dirty="0" err="1"/>
              <a:t>interconversion</a:t>
            </a:r>
            <a:r>
              <a:rPr lang="de-DE" dirty="0"/>
              <a:t>, </a:t>
            </a:r>
            <a:r>
              <a:rPr lang="de-DE" dirty="0" err="1"/>
              <a:t>Cutin</a:t>
            </a:r>
            <a:r>
              <a:rPr lang="de-DE" dirty="0"/>
              <a:t>, </a:t>
            </a:r>
            <a:r>
              <a:rPr lang="de-DE" dirty="0" err="1"/>
              <a:t>suberine</a:t>
            </a:r>
            <a:r>
              <a:rPr lang="de-DE" dirty="0"/>
              <a:t> and </a:t>
            </a:r>
            <a:r>
              <a:rPr lang="de-DE" dirty="0" err="1"/>
              <a:t>wax</a:t>
            </a:r>
            <a:r>
              <a:rPr lang="de-DE" dirty="0"/>
              <a:t> </a:t>
            </a:r>
            <a:r>
              <a:rPr lang="de-DE" dirty="0" err="1"/>
              <a:t>biosynthesis</a:t>
            </a:r>
            <a:r>
              <a:rPr lang="de-DE" dirty="0"/>
              <a:t>. </a:t>
            </a:r>
            <a:r>
              <a:rPr lang="de-DE" dirty="0" err="1"/>
              <a:t>Pollination</a:t>
            </a:r>
            <a:r>
              <a:rPr lang="de-DE" dirty="0"/>
              <a:t>, </a:t>
            </a:r>
            <a:r>
              <a:rPr lang="de-DE" dirty="0" err="1"/>
              <a:t>cell</a:t>
            </a:r>
            <a:r>
              <a:rPr lang="de-DE" dirty="0"/>
              <a:t> </a:t>
            </a:r>
            <a:r>
              <a:rPr lang="de-DE" dirty="0" err="1"/>
              <a:t>growth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, </a:t>
            </a:r>
            <a:r>
              <a:rPr lang="de-DE" dirty="0" err="1"/>
              <a:t>pollen</a:t>
            </a:r>
            <a:r>
              <a:rPr lang="de-DE" dirty="0"/>
              <a:t> </a:t>
            </a:r>
            <a:r>
              <a:rPr lang="de-DE" dirty="0" err="1"/>
              <a:t>tube</a:t>
            </a:r>
            <a:r>
              <a:rPr lang="de-DE" dirty="0"/>
              <a:t> </a:t>
            </a:r>
            <a:r>
              <a:rPr lang="de-DE" dirty="0" err="1"/>
              <a:t>growth</a:t>
            </a:r>
            <a:r>
              <a:rPr lang="de-DE" dirty="0"/>
              <a:t>, </a:t>
            </a:r>
            <a:r>
              <a:rPr lang="de-DE" dirty="0" err="1"/>
              <a:t>cell</a:t>
            </a:r>
            <a:r>
              <a:rPr lang="de-DE" dirty="0"/>
              <a:t> </a:t>
            </a:r>
            <a:r>
              <a:rPr lang="de-DE" dirty="0" err="1"/>
              <a:t>tip</a:t>
            </a:r>
            <a:r>
              <a:rPr lang="de-DE" dirty="0"/>
              <a:t> </a:t>
            </a:r>
            <a:r>
              <a:rPr lang="de-DE" dirty="0" err="1"/>
              <a:t>growth</a:t>
            </a:r>
            <a:r>
              <a:rPr lang="de-DE" dirty="0"/>
              <a:t>. à </a:t>
            </a:r>
            <a:r>
              <a:rPr lang="de-DE" dirty="0" err="1"/>
              <a:t>metabolic</a:t>
            </a:r>
            <a:r>
              <a:rPr lang="de-DE" dirty="0"/>
              <a:t> </a:t>
            </a:r>
            <a:r>
              <a:rPr lang="de-DE" dirty="0" err="1"/>
              <a:t>repogramming</a:t>
            </a:r>
            <a:r>
              <a:rPr lang="de-DE" dirty="0"/>
              <a:t>, </a:t>
            </a:r>
          </a:p>
          <a:p>
            <a:pPr marL="171450" indent="-171450">
              <a:buFont typeface="Wingdings" pitchFamily="2" charset="2"/>
              <a:buChar char="à"/>
            </a:pPr>
            <a:r>
              <a:rPr lang="de-DE" dirty="0" err="1"/>
              <a:t>Viruses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cellular</a:t>
            </a:r>
            <a:r>
              <a:rPr lang="de-DE" dirty="0"/>
              <a:t> </a:t>
            </a:r>
            <a:r>
              <a:rPr lang="de-DE" dirty="0" err="1"/>
              <a:t>manipulation</a:t>
            </a:r>
            <a:r>
              <a:rPr lang="de-DE" dirty="0"/>
              <a:t> </a:t>
            </a:r>
            <a:r>
              <a:rPr lang="de-DE" dirty="0" err="1"/>
              <a:t>strategies</a:t>
            </a:r>
            <a:r>
              <a:rPr lang="de-DE" dirty="0"/>
              <a:t>, </a:t>
            </a:r>
            <a:r>
              <a:rPr lang="de-DE" dirty="0" err="1"/>
              <a:t>Specifically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cell</a:t>
            </a:r>
            <a:r>
              <a:rPr lang="de-DE" dirty="0"/>
              <a:t> wall and </a:t>
            </a:r>
            <a:r>
              <a:rPr lang="de-DE" dirty="0" err="1"/>
              <a:t>reproductive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pathways</a:t>
            </a:r>
            <a:r>
              <a:rPr lang="de-DE" dirty="0"/>
              <a:t>, Virus </a:t>
            </a:r>
            <a:r>
              <a:rPr lang="de-DE" dirty="0" err="1"/>
              <a:t>might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disrupting</a:t>
            </a:r>
            <a:r>
              <a:rPr lang="de-DE" dirty="0"/>
              <a:t> </a:t>
            </a:r>
            <a:r>
              <a:rPr lang="de-DE" dirty="0" err="1"/>
              <a:t>reproductive</a:t>
            </a:r>
            <a:r>
              <a:rPr lang="de-DE" dirty="0"/>
              <a:t> </a:t>
            </a:r>
            <a:r>
              <a:rPr lang="de-DE" dirty="0" err="1"/>
              <a:t>processes</a:t>
            </a:r>
            <a:endParaRPr lang="de-DE" dirty="0"/>
          </a:p>
          <a:p>
            <a:pPr marL="171450" indent="-171450">
              <a:buFont typeface="Wingdings" pitchFamily="2" charset="2"/>
              <a:buChar char="à"/>
            </a:pPr>
            <a:r>
              <a:rPr lang="de-DE" dirty="0"/>
              <a:t>Potential </a:t>
            </a:r>
            <a:r>
              <a:rPr lang="de-DE" dirty="0" err="1"/>
              <a:t>transmission</a:t>
            </a:r>
            <a:r>
              <a:rPr lang="de-DE" dirty="0"/>
              <a:t> </a:t>
            </a:r>
            <a:r>
              <a:rPr lang="de-DE" dirty="0" err="1"/>
              <a:t>strategies</a:t>
            </a:r>
            <a:r>
              <a:rPr lang="de-DE" dirty="0"/>
              <a:t> </a:t>
            </a:r>
            <a:r>
              <a:rPr lang="de-DE" dirty="0" err="1"/>
              <a:t>targeting</a:t>
            </a:r>
            <a:r>
              <a:rPr lang="de-DE" dirty="0"/>
              <a:t> plant sexual </a:t>
            </a:r>
            <a:r>
              <a:rPr lang="de-DE" dirty="0" err="1"/>
              <a:t>reproduction</a:t>
            </a:r>
            <a:endParaRPr lang="de-DE" dirty="0"/>
          </a:p>
          <a:p>
            <a:pPr marL="171450" indent="-171450">
              <a:buFont typeface="Wingdings" pitchFamily="2" charset="2"/>
              <a:buChar char="à"/>
            </a:pPr>
            <a:r>
              <a:rPr lang="de-DE" dirty="0"/>
              <a:t>Viral </a:t>
            </a:r>
            <a:r>
              <a:rPr lang="de-DE" dirty="0" err="1"/>
              <a:t>interference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cell</a:t>
            </a:r>
            <a:r>
              <a:rPr lang="de-DE" dirty="0"/>
              <a:t> </a:t>
            </a:r>
            <a:r>
              <a:rPr lang="de-DE" dirty="0" err="1"/>
              <a:t>tip</a:t>
            </a:r>
            <a:r>
              <a:rPr lang="de-DE" dirty="0"/>
              <a:t> </a:t>
            </a:r>
            <a:r>
              <a:rPr lang="de-DE" dirty="0" err="1"/>
              <a:t>growth</a:t>
            </a:r>
            <a:r>
              <a:rPr lang="de-DE" dirty="0"/>
              <a:t> </a:t>
            </a:r>
            <a:r>
              <a:rPr lang="de-DE" dirty="0" err="1"/>
              <a:t>mechanisms</a:t>
            </a:r>
            <a:r>
              <a:rPr lang="de-DE" dirty="0"/>
              <a:t> à </a:t>
            </a:r>
            <a:r>
              <a:rPr lang="de-DE" dirty="0" err="1"/>
              <a:t>paper</a:t>
            </a:r>
            <a:r>
              <a:rPr lang="de-DE" dirty="0"/>
              <a:t> on </a:t>
            </a:r>
            <a:r>
              <a:rPr lang="de-DE" dirty="0" err="1"/>
              <a:t>TuMV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425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TuMV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altering</a:t>
            </a:r>
            <a:r>
              <a:rPr lang="de-DE" dirty="0"/>
              <a:t> </a:t>
            </a:r>
            <a:r>
              <a:rPr lang="de-DE" dirty="0" err="1"/>
              <a:t>cell</a:t>
            </a:r>
            <a:r>
              <a:rPr lang="de-DE" dirty="0"/>
              <a:t> wall </a:t>
            </a:r>
            <a:r>
              <a:rPr lang="de-DE" dirty="0" err="1"/>
              <a:t>integrity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in turn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trigger</a:t>
            </a:r>
            <a:r>
              <a:rPr lang="de-DE" dirty="0"/>
              <a:t> a </a:t>
            </a:r>
            <a:r>
              <a:rPr lang="de-DE" dirty="0" err="1"/>
              <a:t>compensatory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in </a:t>
            </a:r>
            <a:r>
              <a:rPr lang="de-DE" dirty="0" err="1"/>
              <a:t>cutin</a:t>
            </a:r>
            <a:r>
              <a:rPr lang="de-DE" dirty="0"/>
              <a:t>, </a:t>
            </a:r>
            <a:r>
              <a:rPr lang="de-DE" dirty="0" err="1"/>
              <a:t>suberine</a:t>
            </a:r>
            <a:r>
              <a:rPr lang="de-DE" dirty="0"/>
              <a:t> and </a:t>
            </a:r>
            <a:r>
              <a:rPr lang="de-DE" dirty="0" err="1"/>
              <a:t>wax</a:t>
            </a:r>
            <a:r>
              <a:rPr lang="de-DE" dirty="0"/>
              <a:t> </a:t>
            </a:r>
            <a:r>
              <a:rPr lang="de-DE" dirty="0" err="1"/>
              <a:t>biosynthesis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reinforce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barriers</a:t>
            </a:r>
            <a:endParaRPr lang="de-DE" dirty="0"/>
          </a:p>
          <a:p>
            <a:r>
              <a:rPr lang="de-DE" dirty="0" err="1"/>
              <a:t>TuMV</a:t>
            </a:r>
            <a:r>
              <a:rPr lang="de-DE" dirty="0"/>
              <a:t> </a:t>
            </a:r>
            <a:r>
              <a:rPr lang="de-DE" dirty="0" err="1"/>
              <a:t>infection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 </a:t>
            </a:r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damage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stress </a:t>
            </a:r>
            <a:r>
              <a:rPr lang="de-DE" dirty="0" err="1"/>
              <a:t>responses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activate</a:t>
            </a:r>
            <a:r>
              <a:rPr lang="de-DE" dirty="0"/>
              <a:t> genes </a:t>
            </a:r>
            <a:r>
              <a:rPr lang="de-DE" dirty="0" err="1"/>
              <a:t>involved</a:t>
            </a:r>
            <a:r>
              <a:rPr lang="de-DE" dirty="0"/>
              <a:t> in </a:t>
            </a:r>
            <a:r>
              <a:rPr lang="de-DE" dirty="0" err="1"/>
              <a:t>cuticle</a:t>
            </a:r>
            <a:r>
              <a:rPr lang="de-DE" dirty="0"/>
              <a:t> </a:t>
            </a:r>
            <a:r>
              <a:rPr lang="de-DE" dirty="0" err="1"/>
              <a:t>biosynthesis</a:t>
            </a:r>
            <a:r>
              <a:rPr lang="de-DE" dirty="0"/>
              <a:t> and </a:t>
            </a:r>
            <a:r>
              <a:rPr lang="de-DE" dirty="0" err="1"/>
              <a:t>cell</a:t>
            </a:r>
            <a:r>
              <a:rPr lang="de-DE" dirty="0"/>
              <a:t> wall </a:t>
            </a:r>
            <a:r>
              <a:rPr lang="de-DE" dirty="0" err="1"/>
              <a:t>reinforcement</a:t>
            </a:r>
            <a:r>
              <a:rPr lang="de-DE" dirty="0"/>
              <a:t>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1349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Grey60:</a:t>
            </a:r>
            <a:r>
              <a:rPr lang="de-DE" dirty="0"/>
              <a:t> Oxidative </a:t>
            </a:r>
            <a:r>
              <a:rPr lang="de-DE" dirty="0" err="1"/>
              <a:t>phosphorylation</a:t>
            </a:r>
            <a:r>
              <a:rPr lang="de-DE" dirty="0"/>
              <a:t> à </a:t>
            </a:r>
            <a:r>
              <a:rPr lang="de-DE" dirty="0" err="1"/>
              <a:t>Indicates</a:t>
            </a:r>
            <a:r>
              <a:rPr lang="de-DE" dirty="0"/>
              <a:t> massive </a:t>
            </a:r>
            <a:r>
              <a:rPr lang="de-DE" dirty="0" err="1"/>
              <a:t>changes</a:t>
            </a:r>
            <a:r>
              <a:rPr lang="de-DE" dirty="0"/>
              <a:t> in mitochondrial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production</a:t>
            </a:r>
            <a:r>
              <a:rPr lang="de-DE" dirty="0"/>
              <a:t>, Potential viral </a:t>
            </a:r>
            <a:r>
              <a:rPr lang="de-DE" dirty="0" err="1"/>
              <a:t>strategies:Hijacking</a:t>
            </a:r>
            <a:r>
              <a:rPr lang="de-DE" dirty="0"/>
              <a:t> host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metabolism</a:t>
            </a:r>
            <a:r>
              <a:rPr lang="de-DE" dirty="0"/>
              <a:t>, </a:t>
            </a:r>
            <a:r>
              <a:rPr lang="de-DE" dirty="0" err="1"/>
              <a:t>Creating</a:t>
            </a:r>
            <a:r>
              <a:rPr lang="de-DE" dirty="0"/>
              <a:t> favorable </a:t>
            </a:r>
            <a:r>
              <a:rPr lang="de-DE" dirty="0" err="1"/>
              <a:t>conditions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viral </a:t>
            </a:r>
            <a:r>
              <a:rPr lang="de-DE" dirty="0" err="1"/>
              <a:t>replication</a:t>
            </a:r>
            <a:r>
              <a:rPr lang="de-DE" dirty="0"/>
              <a:t>, </a:t>
            </a:r>
            <a:r>
              <a:rPr lang="de-DE" dirty="0" err="1"/>
              <a:t>Altering</a:t>
            </a:r>
            <a:r>
              <a:rPr lang="de-DE" dirty="0"/>
              <a:t> </a:t>
            </a:r>
            <a:r>
              <a:rPr lang="de-DE" dirty="0" err="1"/>
              <a:t>cellular</a:t>
            </a:r>
            <a:r>
              <a:rPr lang="de-DE" dirty="0"/>
              <a:t> </a:t>
            </a:r>
            <a:r>
              <a:rPr lang="de-DE" dirty="0" err="1"/>
              <a:t>energetics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support viral </a:t>
            </a:r>
            <a:r>
              <a:rPr lang="de-DE" dirty="0" err="1"/>
              <a:t>life</a:t>
            </a:r>
            <a:r>
              <a:rPr lang="de-DE" dirty="0"/>
              <a:t> </a:t>
            </a:r>
            <a:r>
              <a:rPr lang="de-DE" dirty="0" err="1"/>
              <a:t>cycle</a:t>
            </a:r>
            <a:r>
              <a:rPr lang="de-DE" dirty="0"/>
              <a:t>; </a:t>
            </a:r>
            <a:r>
              <a:rPr lang="de-DE" dirty="0" err="1"/>
              <a:t>purine</a:t>
            </a:r>
            <a:r>
              <a:rPr lang="de-DE" dirty="0"/>
              <a:t> </a:t>
            </a:r>
            <a:r>
              <a:rPr lang="de-DE" dirty="0" err="1"/>
              <a:t>nucleoside</a:t>
            </a:r>
            <a:r>
              <a:rPr lang="de-DE" dirty="0"/>
              <a:t> </a:t>
            </a:r>
            <a:r>
              <a:rPr lang="de-DE" dirty="0" err="1"/>
              <a:t>triphosphate</a:t>
            </a:r>
            <a:r>
              <a:rPr lang="de-DE" dirty="0"/>
              <a:t> </a:t>
            </a:r>
            <a:r>
              <a:rPr lang="de-DE" dirty="0" err="1"/>
              <a:t>biosynthetic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 à </a:t>
            </a:r>
            <a:r>
              <a:rPr lang="de-DE" dirty="0" err="1"/>
              <a:t>ritical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viral RNA/DNA </a:t>
            </a:r>
            <a:r>
              <a:rPr lang="de-DE" dirty="0" err="1"/>
              <a:t>synthesis</a:t>
            </a:r>
            <a:r>
              <a:rPr lang="de-DE" dirty="0"/>
              <a:t>, Providing </a:t>
            </a:r>
            <a:r>
              <a:rPr lang="de-DE" dirty="0" err="1"/>
              <a:t>nucleotide</a:t>
            </a:r>
            <a:r>
              <a:rPr lang="de-DE" dirty="0"/>
              <a:t> </a:t>
            </a:r>
            <a:r>
              <a:rPr lang="de-DE" dirty="0" err="1"/>
              <a:t>precursors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viral </a:t>
            </a:r>
            <a:r>
              <a:rPr lang="de-DE" dirty="0" err="1"/>
              <a:t>genome</a:t>
            </a:r>
            <a:r>
              <a:rPr lang="de-DE" dirty="0"/>
              <a:t> </a:t>
            </a:r>
            <a:r>
              <a:rPr lang="de-DE" dirty="0" err="1"/>
              <a:t>replication</a:t>
            </a:r>
            <a:r>
              <a:rPr lang="de-DE" dirty="0"/>
              <a:t>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redirecting</a:t>
            </a:r>
            <a:r>
              <a:rPr lang="de-DE" dirty="0"/>
              <a:t> host </a:t>
            </a:r>
            <a:r>
              <a:rPr lang="de-DE" dirty="0" err="1"/>
              <a:t>nucleotide</a:t>
            </a:r>
            <a:r>
              <a:rPr lang="de-DE" dirty="0"/>
              <a:t> </a:t>
            </a:r>
            <a:r>
              <a:rPr lang="de-DE" dirty="0" err="1"/>
              <a:t>pools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viral </a:t>
            </a:r>
            <a:r>
              <a:rPr lang="de-DE" dirty="0" err="1"/>
              <a:t>production</a:t>
            </a:r>
            <a:r>
              <a:rPr lang="de-DE" dirty="0"/>
              <a:t>; </a:t>
            </a:r>
            <a:r>
              <a:rPr lang="de-DE" dirty="0" err="1"/>
              <a:t>generation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precursor</a:t>
            </a:r>
            <a:r>
              <a:rPr lang="de-DE" dirty="0"/>
              <a:t> </a:t>
            </a:r>
            <a:r>
              <a:rPr lang="de-DE" dirty="0" err="1"/>
              <a:t>metabolites</a:t>
            </a:r>
            <a:r>
              <a:rPr lang="de-DE" dirty="0"/>
              <a:t> and </a:t>
            </a:r>
            <a:r>
              <a:rPr lang="de-DE" dirty="0" err="1"/>
              <a:t>energy</a:t>
            </a:r>
            <a:r>
              <a:rPr lang="de-DE" dirty="0"/>
              <a:t> à </a:t>
            </a:r>
            <a:r>
              <a:rPr lang="de-DE" dirty="0" err="1"/>
              <a:t>TuMV</a:t>
            </a:r>
            <a:r>
              <a:rPr lang="de-DE" dirty="0"/>
              <a:t> </a:t>
            </a:r>
            <a:r>
              <a:rPr lang="de-DE" dirty="0" err="1"/>
              <a:t>appears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deeply</a:t>
            </a:r>
            <a:r>
              <a:rPr lang="de-DE" dirty="0"/>
              <a:t> </a:t>
            </a:r>
            <a:r>
              <a:rPr lang="de-DE" dirty="0" err="1"/>
              <a:t>manipulate</a:t>
            </a:r>
            <a:r>
              <a:rPr lang="de-DE" dirty="0"/>
              <a:t> host </a:t>
            </a:r>
            <a:r>
              <a:rPr lang="de-DE" dirty="0" err="1"/>
              <a:t>cellular</a:t>
            </a:r>
            <a:r>
              <a:rPr lang="de-DE" dirty="0"/>
              <a:t> </a:t>
            </a:r>
            <a:r>
              <a:rPr lang="de-DE" dirty="0" err="1"/>
              <a:t>metabolism</a:t>
            </a:r>
            <a:r>
              <a:rPr lang="de-DE" dirty="0"/>
              <a:t>, Energy </a:t>
            </a:r>
            <a:r>
              <a:rPr lang="de-DE" dirty="0" err="1"/>
              <a:t>production</a:t>
            </a:r>
            <a:r>
              <a:rPr lang="de-DE" dirty="0"/>
              <a:t> and </a:t>
            </a:r>
            <a:r>
              <a:rPr lang="de-DE" dirty="0" err="1"/>
              <a:t>nucleotide</a:t>
            </a:r>
            <a:r>
              <a:rPr lang="de-DE" dirty="0"/>
              <a:t> </a:t>
            </a:r>
            <a:r>
              <a:rPr lang="de-DE" dirty="0" err="1"/>
              <a:t>metabolism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targets</a:t>
            </a:r>
            <a:r>
              <a:rPr lang="de-DE" dirty="0"/>
              <a:t>, The </a:t>
            </a:r>
            <a:r>
              <a:rPr lang="de-DE" dirty="0" err="1"/>
              <a:t>virus</a:t>
            </a:r>
            <a:r>
              <a:rPr lang="de-DE" dirty="0"/>
              <a:t> </a:t>
            </a:r>
            <a:r>
              <a:rPr lang="de-DE" dirty="0" err="1"/>
              <a:t>likely</a:t>
            </a:r>
            <a:r>
              <a:rPr lang="de-DE" dirty="0"/>
              <a:t> </a:t>
            </a:r>
            <a:r>
              <a:rPr lang="de-DE" dirty="0" err="1"/>
              <a:t>creates</a:t>
            </a:r>
            <a:r>
              <a:rPr lang="de-DE" dirty="0"/>
              <a:t> a </a:t>
            </a:r>
            <a:r>
              <a:rPr lang="de-DE" dirty="0" err="1"/>
              <a:t>metabolic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favors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own </a:t>
            </a:r>
            <a:r>
              <a:rPr lang="de-DE" dirty="0" err="1"/>
              <a:t>reproduction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 err="1"/>
              <a:t>Darkred</a:t>
            </a:r>
            <a:r>
              <a:rPr lang="de-DE" b="1" dirty="0"/>
              <a:t>:</a:t>
            </a:r>
            <a:r>
              <a:rPr lang="de-DE" dirty="0"/>
              <a:t> plant-pathogen </a:t>
            </a:r>
            <a:r>
              <a:rPr lang="de-DE" dirty="0" err="1"/>
              <a:t>interaction</a:t>
            </a:r>
            <a:r>
              <a:rPr lang="de-DE" dirty="0"/>
              <a:t>, MAPK </a:t>
            </a:r>
            <a:r>
              <a:rPr lang="de-DE" dirty="0" err="1"/>
              <a:t>signaling</a:t>
            </a:r>
            <a:r>
              <a:rPr lang="de-DE" dirty="0"/>
              <a:t> </a:t>
            </a:r>
            <a:r>
              <a:rPr lang="de-DE" dirty="0" err="1"/>
              <a:t>pathway</a:t>
            </a:r>
            <a:r>
              <a:rPr lang="de-DE" dirty="0"/>
              <a:t> (plant </a:t>
            </a:r>
            <a:r>
              <a:rPr lang="de-DE" dirty="0" err="1"/>
              <a:t>defense</a:t>
            </a:r>
            <a:r>
              <a:rPr lang="de-DE" dirty="0"/>
              <a:t>), </a:t>
            </a:r>
            <a:r>
              <a:rPr lang="de-DE" dirty="0" err="1"/>
              <a:t>Glycerolipid</a:t>
            </a:r>
            <a:r>
              <a:rPr lang="de-DE" dirty="0"/>
              <a:t> </a:t>
            </a:r>
            <a:r>
              <a:rPr lang="de-DE" dirty="0" err="1"/>
              <a:t>metabolism</a:t>
            </a:r>
            <a:r>
              <a:rPr lang="de-DE" dirty="0"/>
              <a:t>, </a:t>
            </a:r>
            <a:r>
              <a:rPr lang="de-DE" dirty="0" err="1"/>
              <a:t>defense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,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hypoxia</a:t>
            </a:r>
            <a:r>
              <a:rPr lang="de-DE" dirty="0"/>
              <a:t>,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stress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Plum1 (</a:t>
            </a:r>
            <a:r>
              <a:rPr lang="de-DE" b="1" dirty="0" err="1"/>
              <a:t>downregulated</a:t>
            </a:r>
            <a:r>
              <a:rPr lang="de-DE" b="1" dirty="0"/>
              <a:t>):</a:t>
            </a:r>
            <a:r>
              <a:rPr lang="de-DE" dirty="0"/>
              <a:t> DNA </a:t>
            </a:r>
            <a:r>
              <a:rPr lang="de-DE" dirty="0" err="1"/>
              <a:t>damage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, double </a:t>
            </a:r>
            <a:r>
              <a:rPr lang="de-DE" dirty="0" err="1"/>
              <a:t>strand</a:t>
            </a:r>
            <a:r>
              <a:rPr lang="de-DE" dirty="0"/>
              <a:t> break </a:t>
            </a:r>
            <a:r>
              <a:rPr lang="de-DE" dirty="0" err="1"/>
              <a:t>repair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520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Flavonoids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Antimicrobial</a:t>
            </a:r>
            <a:r>
              <a:rPr lang="de-DE" dirty="0"/>
              <a:t> compounds,</a:t>
            </a:r>
          </a:p>
          <a:p>
            <a:r>
              <a:rPr lang="de-DE" dirty="0" err="1"/>
              <a:t>Signaling</a:t>
            </a:r>
            <a:r>
              <a:rPr lang="de-DE" dirty="0"/>
              <a:t> </a:t>
            </a:r>
            <a:r>
              <a:rPr lang="de-DE" dirty="0" err="1"/>
              <a:t>molecules</a:t>
            </a:r>
            <a:r>
              <a:rPr lang="de-DE" dirty="0"/>
              <a:t> in plant </a:t>
            </a:r>
            <a:r>
              <a:rPr lang="de-DE" dirty="0" err="1"/>
              <a:t>immunity</a:t>
            </a:r>
            <a:r>
              <a:rPr lang="de-DE" dirty="0"/>
              <a:t>, </a:t>
            </a:r>
          </a:p>
          <a:p>
            <a:r>
              <a:rPr lang="de-DE" dirty="0" err="1"/>
              <a:t>Antioxidant</a:t>
            </a:r>
            <a:r>
              <a:rPr lang="de-DE" dirty="0"/>
              <a:t> </a:t>
            </a:r>
            <a:r>
              <a:rPr lang="de-DE" dirty="0" err="1"/>
              <a:t>protection</a:t>
            </a:r>
            <a:r>
              <a:rPr lang="de-DE" dirty="0"/>
              <a:t>,</a:t>
            </a:r>
          </a:p>
          <a:p>
            <a:r>
              <a:rPr lang="de-DE" dirty="0"/>
              <a:t>UV stress </a:t>
            </a:r>
            <a:r>
              <a:rPr lang="de-DE" dirty="0" err="1"/>
              <a:t>response</a:t>
            </a:r>
            <a:r>
              <a:rPr lang="de-DE" dirty="0"/>
              <a:t>, </a:t>
            </a:r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b="1" dirty="0" err="1">
                <a:effectLst/>
              </a:rPr>
              <a:t>metabolic</a:t>
            </a:r>
            <a:r>
              <a:rPr lang="de-DE" b="1" dirty="0">
                <a:effectLst/>
              </a:rPr>
              <a:t> </a:t>
            </a:r>
            <a:r>
              <a:rPr lang="de-DE" b="1" dirty="0" err="1">
                <a:effectLst/>
              </a:rPr>
              <a:t>reprogramming</a:t>
            </a:r>
            <a:endParaRPr lang="de-DE" b="1" dirty="0">
              <a:effectLst/>
            </a:endParaRPr>
          </a:p>
          <a:p>
            <a:endParaRPr lang="de-DE" b="1" dirty="0">
              <a:effectLst/>
            </a:endParaRPr>
          </a:p>
          <a:p>
            <a:r>
              <a:rPr lang="de-DE" dirty="0" err="1"/>
              <a:t>Redirecting</a:t>
            </a:r>
            <a:r>
              <a:rPr lang="de-DE" dirty="0"/>
              <a:t> </a:t>
            </a:r>
            <a:r>
              <a:rPr lang="de-DE" dirty="0" err="1"/>
              <a:t>carbon</a:t>
            </a:r>
            <a:r>
              <a:rPr lang="de-DE" dirty="0"/>
              <a:t> </a:t>
            </a:r>
            <a:r>
              <a:rPr lang="de-DE" dirty="0" err="1"/>
              <a:t>resources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defense</a:t>
            </a:r>
            <a:r>
              <a:rPr lang="de-DE" dirty="0"/>
              <a:t>, </a:t>
            </a:r>
            <a:r>
              <a:rPr lang="de-DE" dirty="0" err="1"/>
              <a:t>Modifying</a:t>
            </a:r>
            <a:r>
              <a:rPr lang="de-DE" dirty="0"/>
              <a:t> </a:t>
            </a:r>
            <a:r>
              <a:rPr lang="de-DE" dirty="0" err="1"/>
              <a:t>sugar</a:t>
            </a:r>
            <a:r>
              <a:rPr lang="de-DE" dirty="0"/>
              <a:t> </a:t>
            </a:r>
            <a:r>
              <a:rPr lang="de-DE" dirty="0" err="1"/>
              <a:t>signaling</a:t>
            </a:r>
            <a:r>
              <a:rPr lang="de-DE" dirty="0"/>
              <a:t> </a:t>
            </a:r>
            <a:r>
              <a:rPr lang="de-DE" dirty="0" err="1"/>
              <a:t>pathways</a:t>
            </a:r>
            <a:r>
              <a:rPr lang="de-DE" dirty="0"/>
              <a:t>, </a:t>
            </a:r>
            <a:r>
              <a:rPr lang="de-DE" dirty="0" err="1"/>
              <a:t>Creating</a:t>
            </a:r>
            <a:r>
              <a:rPr lang="de-DE" dirty="0"/>
              <a:t> </a:t>
            </a:r>
            <a:r>
              <a:rPr lang="de-DE" dirty="0" err="1"/>
              <a:t>nutrient</a:t>
            </a:r>
            <a:r>
              <a:rPr lang="de-DE" dirty="0"/>
              <a:t> </a:t>
            </a:r>
            <a:r>
              <a:rPr lang="de-DE" dirty="0" err="1"/>
              <a:t>limitations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pathogen, </a:t>
            </a:r>
            <a:r>
              <a:rPr lang="de-DE" dirty="0" err="1"/>
              <a:t>Nicotinate</a:t>
            </a:r>
            <a:r>
              <a:rPr lang="de-DE" dirty="0"/>
              <a:t> and Nicotinamide </a:t>
            </a:r>
            <a:r>
              <a:rPr lang="de-DE" dirty="0" err="1"/>
              <a:t>Metabolism</a:t>
            </a:r>
            <a:r>
              <a:rPr lang="de-DE" dirty="0"/>
              <a:t>: Critical </a:t>
            </a:r>
            <a:r>
              <a:rPr lang="de-DE" dirty="0" err="1"/>
              <a:t>for</a:t>
            </a:r>
            <a:r>
              <a:rPr lang="de-DE" dirty="0"/>
              <a:t> NAD+ and NADPH </a:t>
            </a:r>
            <a:r>
              <a:rPr lang="de-DE" dirty="0" err="1"/>
              <a:t>production</a:t>
            </a:r>
            <a:r>
              <a:rPr lang="de-DE" dirty="0"/>
              <a:t>, </a:t>
            </a:r>
            <a:r>
              <a:rPr lang="de-DE" dirty="0" err="1"/>
              <a:t>Cellular</a:t>
            </a:r>
            <a:r>
              <a:rPr lang="de-DE" dirty="0"/>
              <a:t> </a:t>
            </a:r>
            <a:r>
              <a:rPr lang="de-DE" dirty="0" err="1"/>
              <a:t>redox</a:t>
            </a:r>
            <a:r>
              <a:rPr lang="de-DE" dirty="0"/>
              <a:t> </a:t>
            </a:r>
            <a:r>
              <a:rPr lang="de-DE" dirty="0" err="1"/>
              <a:t>regulation,Signaling</a:t>
            </a:r>
            <a:r>
              <a:rPr lang="de-DE" dirty="0"/>
              <a:t> in stress </a:t>
            </a:r>
            <a:r>
              <a:rPr lang="de-DE" dirty="0" err="1"/>
              <a:t>responses</a:t>
            </a:r>
            <a:r>
              <a:rPr lang="de-DE" dirty="0"/>
              <a:t>, Potential immune </a:t>
            </a:r>
            <a:r>
              <a:rPr lang="de-DE" dirty="0" err="1"/>
              <a:t>signaling</a:t>
            </a:r>
            <a:r>
              <a:rPr lang="de-DE" dirty="0"/>
              <a:t>, UV Response: </a:t>
            </a:r>
            <a:r>
              <a:rPr lang="de-DE" dirty="0" err="1"/>
              <a:t>Suggests</a:t>
            </a:r>
            <a:r>
              <a:rPr lang="de-DE" dirty="0"/>
              <a:t> </a:t>
            </a:r>
            <a:r>
              <a:rPr lang="de-DE" dirty="0" err="1"/>
              <a:t>broader</a:t>
            </a:r>
            <a:r>
              <a:rPr lang="de-DE" dirty="0"/>
              <a:t> stress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activation,Overlaps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flavonoid</a:t>
            </a:r>
            <a:r>
              <a:rPr lang="de-DE" dirty="0"/>
              <a:t> </a:t>
            </a:r>
            <a:r>
              <a:rPr lang="de-DE" dirty="0" err="1"/>
              <a:t>protective</a:t>
            </a:r>
            <a:r>
              <a:rPr lang="de-DE" dirty="0"/>
              <a:t> </a:t>
            </a:r>
            <a:r>
              <a:rPr lang="de-DE" dirty="0" err="1"/>
              <a:t>mechanisms</a:t>
            </a:r>
            <a:r>
              <a:rPr lang="de-DE" dirty="0"/>
              <a:t>, </a:t>
            </a:r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cross</a:t>
            </a:r>
            <a:r>
              <a:rPr lang="de-DE" dirty="0"/>
              <a:t>-talk </a:t>
            </a:r>
            <a:r>
              <a:rPr lang="de-DE" dirty="0" err="1"/>
              <a:t>between</a:t>
            </a:r>
            <a:r>
              <a:rPr lang="de-DE" dirty="0"/>
              <a:t> different stress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pathways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350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800" dirty="0" err="1">
                <a:effectLst/>
              </a:rPr>
              <a:t>Ribosome</a:t>
            </a:r>
            <a:r>
              <a:rPr lang="de-DE" sz="1800" dirty="0">
                <a:effectLst/>
              </a:rPr>
              <a:t> - </a:t>
            </a:r>
            <a:r>
              <a:rPr lang="de-DE" sz="1800" dirty="0" err="1">
                <a:effectLst/>
              </a:rPr>
              <a:t>Arabidopsis</a:t>
            </a:r>
            <a:r>
              <a:rPr lang="de-DE" sz="1800" dirty="0">
                <a:effectLst/>
              </a:rPr>
              <a:t> </a:t>
            </a:r>
            <a:r>
              <a:rPr lang="de-DE" sz="1800" dirty="0" err="1">
                <a:effectLst/>
              </a:rPr>
              <a:t>thaliana</a:t>
            </a:r>
            <a:r>
              <a:rPr lang="de-DE" sz="1800" dirty="0">
                <a:effectLst/>
              </a:rPr>
              <a:t> (</a:t>
            </a:r>
            <a:r>
              <a:rPr lang="de-DE" sz="1800" dirty="0" err="1">
                <a:effectLst/>
              </a:rPr>
              <a:t>thale</a:t>
            </a:r>
            <a:r>
              <a:rPr lang="de-DE" sz="1800" dirty="0">
                <a:effectLst/>
              </a:rPr>
              <a:t> </a:t>
            </a:r>
            <a:r>
              <a:rPr lang="de-DE" sz="1800" dirty="0" err="1">
                <a:effectLst/>
              </a:rPr>
              <a:t>cress</a:t>
            </a:r>
            <a:r>
              <a:rPr lang="de-DE" sz="1800" dirty="0">
                <a:effectLst/>
              </a:rPr>
              <a:t>)147/160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AFC6D0-44D5-4EB7-828F-6F464F83D79A}" type="slidenum">
              <a:rPr lang="en-GB" smtClean="0"/>
              <a:pPr>
                <a:defRPr/>
              </a:pPr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304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/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00. Januar 2015)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600" baseline="0" noProof="0" dirty="0" smtClean="0">
                <a:solidFill>
                  <a:schemeClr val="bg1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00. Januar 2015)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>
                <a:solidFill>
                  <a:srgbClr val="000000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00. Januar 2015)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4103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/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00. Januar 2015)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Fußzeilenplatzhalter 9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600200"/>
            <a:ext cx="8508999" cy="3095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4103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/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 lIns="0" rIns="0"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948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2143125"/>
            <a:ext cx="8508999" cy="254317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410369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/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  <p:sp useBgFill="1">
        <p:nvSpPr>
          <p:cNvPr id="6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600200"/>
            <a:ext cx="8508999" cy="50530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183948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nhaltsplatzhalter 2"/>
          <p:cNvSpPr>
            <a:spLocks noGrp="1"/>
          </p:cNvSpPr>
          <p:nvPr>
            <p:ph idx="14" hasCustomPrompt="1"/>
          </p:nvPr>
        </p:nvSpPr>
        <p:spPr>
          <a:xfrm>
            <a:off x="319091" y="1602000"/>
            <a:ext cx="4180910" cy="30956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13" name="Inhaltsplatzhalter 2"/>
          <p:cNvSpPr>
            <a:spLocks noGrp="1"/>
          </p:cNvSpPr>
          <p:nvPr>
            <p:ph idx="15" hasCustomPrompt="1"/>
          </p:nvPr>
        </p:nvSpPr>
        <p:spPr>
          <a:xfrm>
            <a:off x="4647179" y="1602000"/>
            <a:ext cx="4180910" cy="30956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16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4103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baseline="0" noProof="0" dirty="0"/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901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600200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4103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/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noProof="0"/>
              <a:t>Dr. rer. nat. Erika Mustermann (TUM) | kann beliebig erweitert werden | Infos mit Strich trennen</a:t>
            </a:r>
          </a:p>
        </p:txBody>
      </p:sp>
      <p:sp>
        <p:nvSpPr>
          <p:cNvPr id="8" name="Inhaltsplatzhalter 9"/>
          <p:cNvSpPr>
            <a:spLocks noGrp="1"/>
          </p:cNvSpPr>
          <p:nvPr>
            <p:ph sz="quarter" idx="18"/>
          </p:nvPr>
        </p:nvSpPr>
        <p:spPr>
          <a:xfrm>
            <a:off x="316992" y="2148752"/>
            <a:ext cx="4188333" cy="2547074"/>
          </a:xfrm>
          <a:prstGeom prst="rect">
            <a:avLst/>
          </a:prstGeom>
        </p:spPr>
        <p:txBody>
          <a:bodyPr lIns="0" rIns="0"/>
          <a:lstStyle>
            <a:lvl1pPr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1400"/>
            </a:lvl2pPr>
            <a:lvl3pPr>
              <a:defRPr sz="1400" baseline="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48200" y="2148840"/>
            <a:ext cx="4180392" cy="2546911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+ Text (Hintergr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 bwMode="auto">
          <a:xfrm>
            <a:off x="0" y="2152650"/>
            <a:ext cx="9144000" cy="299085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 eaLnBrk="0" hangingPunct="0"/>
            <a:endParaRPr lang="de-DE" sz="1000">
              <a:latin typeface="Arial" pitchFamily="34" charset="0"/>
            </a:endParaRPr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4103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/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noProof="0"/>
              <a:t>Dr. rer. nat. Erika Mustermann (TUM) | kann beliebig erweitert werden | Infos mit Strich trennen</a:t>
            </a:r>
          </a:p>
        </p:txBody>
      </p:sp>
      <p:sp>
        <p:nvSpPr>
          <p:cNvPr id="8" name="Inhaltsplatzhalter 9"/>
          <p:cNvSpPr>
            <a:spLocks noGrp="1"/>
          </p:cNvSpPr>
          <p:nvPr>
            <p:ph sz="quarter" idx="18"/>
          </p:nvPr>
        </p:nvSpPr>
        <p:spPr>
          <a:xfrm>
            <a:off x="316992" y="2152650"/>
            <a:ext cx="4197858" cy="2552700"/>
          </a:xfrm>
          <a:prstGeom prst="rect">
            <a:avLst/>
          </a:prstGeom>
        </p:spPr>
        <p:txBody>
          <a:bodyPr lIns="0" rIns="0"/>
          <a:lstStyle>
            <a:lvl1pPr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1400"/>
            </a:lvl2pPr>
            <a:lvl3pPr>
              <a:defRPr sz="1400" baseline="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48200" y="2143125"/>
            <a:ext cx="4180392" cy="2543176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9" hasCustomPrompt="1"/>
          </p:nvPr>
        </p:nvSpPr>
        <p:spPr>
          <a:xfrm>
            <a:off x="319090" y="1600200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ße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4103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/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noProof="0"/>
              <a:t>Dr. rer. nat. Erika Mustermann (TUM) | kann beliebig erweitert werden | Infos mit Strich trennen</a:t>
            </a:r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7"/>
          </p:nvPr>
        </p:nvSpPr>
        <p:spPr>
          <a:xfrm>
            <a:off x="0" y="2133600"/>
            <a:ext cx="9144000" cy="3009900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endParaRPr lang="de-DE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8" hasCustomPrompt="1"/>
          </p:nvPr>
        </p:nvSpPr>
        <p:spPr>
          <a:xfrm>
            <a:off x="319090" y="1600200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 formatfüll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1600200"/>
            <a:ext cx="9144000" cy="3543299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1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4103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/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Fußzeilenplatzhalter 9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9873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0804A-F305-8270-0387-ED143DA24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46C8BC-72DC-0A10-28D7-18E10D49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09.03.25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EB9B31-1081-83BF-9389-695346FE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B36480-7DE5-9505-8A29-EFE9EEDF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0077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1231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baseline="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Präsentationsmuster</a:t>
            </a:r>
            <a:br>
              <a:rPr lang="de-DE" noProof="0" dirty="0"/>
            </a:br>
            <a:br>
              <a:rPr lang="de-DE" noProof="0" dirty="0"/>
            </a:br>
            <a:r>
              <a:rPr lang="de-DE" noProof="0" dirty="0"/>
              <a:t>kann auch als </a:t>
            </a:r>
            <a:r>
              <a:rPr lang="de-DE" noProof="0" dirty="0" err="1"/>
              <a:t>Kapiteltrenner</a:t>
            </a:r>
            <a:r>
              <a:rPr lang="de-DE" noProof="0" dirty="0"/>
              <a:t> verwendet werden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1231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Präsentationsmuster</a:t>
            </a:r>
            <a:br>
              <a:rPr lang="de-DE" noProof="0" dirty="0"/>
            </a:br>
            <a:br>
              <a:rPr lang="de-DE" noProof="0" dirty="0"/>
            </a:br>
            <a:r>
              <a:rPr lang="de-DE" noProof="0" dirty="0"/>
              <a:t>kann auch als </a:t>
            </a:r>
            <a:r>
              <a:rPr lang="de-DE" noProof="0" dirty="0" err="1"/>
              <a:t>Kapiteltrenner</a:t>
            </a:r>
            <a:r>
              <a:rPr lang="de-DE" noProof="0" dirty="0"/>
              <a:t> verwendet werden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image" Target="../media/image1.wmf"/><Relationship Id="rId5" Type="http://schemas.openxmlformats.org/officeDocument/2006/relationships/slideLayout" Target="../slideLayouts/slideLayout8.xml"/><Relationship Id="rId10" Type="http://schemas.openxmlformats.org/officeDocument/2006/relationships/theme" Target="../theme/theme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3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7829538" cy="28851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Bild 8" descr="20150416 tum logo blau png final.pn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8800" y="324000"/>
            <a:ext cx="604774" cy="31851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dt="0"/>
  <p:txStyles>
    <p:titleStyle>
      <a:lvl1pPr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/>
          <p:cNvSpPr txBox="1"/>
          <p:nvPr/>
        </p:nvSpPr>
        <p:spPr>
          <a:xfrm>
            <a:off x="7713330" y="4922462"/>
            <a:ext cx="1115376" cy="210507"/>
          </a:xfrm>
          <a:prstGeom prst="rect">
            <a:avLst/>
          </a:prstGeom>
        </p:spPr>
        <p:txBody>
          <a:bodyPr wrap="square" lIns="0" tIns="0" rIns="0" bIns="0" rtlCol="0" anchor="b" anchorCtr="0">
            <a:spAutoFit/>
          </a:bodyPr>
          <a:lstStyle/>
          <a:p>
            <a:pPr algn="r">
              <a:lnSpc>
                <a:spcPct val="114000"/>
              </a:lnSpc>
            </a:pPr>
            <a:fld id="{C51078C5-4710-4254-8001-F1C0900803FD}" type="slidenum">
              <a:rPr lang="de-DE" sz="1200" smtClean="0">
                <a:latin typeface="+mn-lt"/>
                <a:cs typeface="Arial" pitchFamily="34" charset="0"/>
              </a:rPr>
              <a:pPr algn="r">
                <a:lnSpc>
                  <a:spcPct val="114000"/>
                </a:lnSpc>
              </a:pPr>
              <a:t>‹Nr.›</a:t>
            </a:fld>
            <a:endParaRPr lang="de-DE" sz="1200" dirty="0">
              <a:latin typeface="+mn-lt"/>
              <a:cs typeface="Arial" pitchFamily="34" charset="0"/>
            </a:endParaRPr>
          </a:p>
        </p:txBody>
      </p:sp>
      <p:pic>
        <p:nvPicPr>
          <p:cNvPr id="5" name="Bild 4" descr="Fahnen_HG.jpg"/>
          <p:cNvPicPr>
            <a:picLocks noChangeAspect="1"/>
          </p:cNvPicPr>
          <p:nvPr/>
        </p:nvPicPr>
        <p:blipFill>
          <a:blip r:embed="rId3" cstate="screen"/>
          <a:srcRect l="398" t="14167" b="1083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ild 6" descr="20150416 tum logo blau png 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8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  <p:pic>
        <p:nvPicPr>
          <p:cNvPr id="7" name="Bild 6" descr="20150416 tum logo blau png 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8411" y="324000"/>
            <a:ext cx="604774" cy="318516"/>
          </a:xfrm>
          <a:prstGeom prst="rect">
            <a:avLst/>
          </a:prstGeom>
        </p:spPr>
      </p:pic>
      <p:sp>
        <p:nvSpPr>
          <p:cNvPr id="11" name="Textfeld 10"/>
          <p:cNvSpPr txBox="1"/>
          <p:nvPr userDrawn="1"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900"/>
              </a:lnSpc>
            </a:pPr>
            <a:r>
              <a:rPr lang="de-DE" sz="800" dirty="0">
                <a:solidFill>
                  <a:schemeClr val="tx2"/>
                </a:solidFill>
                <a:latin typeface="+mn-lt"/>
              </a:rPr>
              <a:t>Lehrstuhl für Mustertechnik</a:t>
            </a:r>
          </a:p>
          <a:p>
            <a:pPr>
              <a:lnSpc>
                <a:spcPts val="900"/>
              </a:lnSpc>
            </a:pPr>
            <a:r>
              <a:rPr lang="de-DE" sz="800" dirty="0">
                <a:solidFill>
                  <a:schemeClr val="tx2"/>
                </a:solidFill>
                <a:latin typeface="+mn-lt"/>
              </a:rPr>
              <a:t>TUM</a:t>
            </a:r>
            <a:r>
              <a:rPr lang="de-DE" sz="800" baseline="0" dirty="0">
                <a:solidFill>
                  <a:schemeClr val="tx2"/>
                </a:solidFill>
                <a:latin typeface="+mn-lt"/>
              </a:rPr>
              <a:t> School </a:t>
            </a:r>
            <a:r>
              <a:rPr lang="de-DE" sz="800" baseline="0" dirty="0" err="1">
                <a:solidFill>
                  <a:schemeClr val="tx2"/>
                </a:solidFill>
                <a:latin typeface="+mn-lt"/>
              </a:rPr>
              <a:t>of</a:t>
            </a:r>
            <a:r>
              <a:rPr lang="de-DE" sz="800" dirty="0">
                <a:solidFill>
                  <a:schemeClr val="tx2"/>
                </a:solidFill>
                <a:latin typeface="+mn-lt"/>
              </a:rPr>
              <a:t> Musterverfahren</a:t>
            </a:r>
          </a:p>
          <a:p>
            <a:pPr>
              <a:lnSpc>
                <a:spcPts val="900"/>
              </a:lnSpc>
            </a:pPr>
            <a:r>
              <a:rPr lang="de-DE" sz="800" dirty="0">
                <a:solidFill>
                  <a:schemeClr val="tx2"/>
                </a:solidFill>
                <a:latin typeface="+mn-lt"/>
              </a:rPr>
              <a:t>Technische Universität</a:t>
            </a:r>
            <a:r>
              <a:rPr lang="de-DE" sz="800" baseline="0" dirty="0">
                <a:solidFill>
                  <a:schemeClr val="tx2"/>
                </a:solidFill>
                <a:latin typeface="+mn-lt"/>
              </a:rPr>
              <a:t> München</a:t>
            </a:r>
            <a:endParaRPr lang="de-DE" sz="800" dirty="0">
              <a:solidFill>
                <a:schemeClr val="tx2"/>
              </a:solidFill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ild 2" descr="20150416 tum logo blau png fin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8411" y="324000"/>
            <a:ext cx="604774" cy="318516"/>
          </a:xfrm>
          <a:prstGeom prst="rect">
            <a:avLst/>
          </a:prstGeom>
        </p:spPr>
      </p:pic>
      <p:sp>
        <p:nvSpPr>
          <p:cNvPr id="5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4" r:id="rId2"/>
    <p:sldLayoutId id="2147483704" r:id="rId3"/>
    <p:sldLayoutId id="2147483657" r:id="rId4"/>
    <p:sldLayoutId id="2147483711" r:id="rId5"/>
    <p:sldLayoutId id="2147483703" r:id="rId6"/>
    <p:sldLayoutId id="2147483653" r:id="rId7"/>
    <p:sldLayoutId id="2147483656" r:id="rId8"/>
    <p:sldLayoutId id="2147483712" r:id="rId9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5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 bwMode="hidden"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de-DE" dirty="0"/>
          </a:p>
        </p:txBody>
      </p:sp>
      <p:pic>
        <p:nvPicPr>
          <p:cNvPr id="4" name="Bild 3" descr="20150416 tum logo blau png 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7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 bwMode="hidden"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de-DE" dirty="0">
              <a:solidFill>
                <a:schemeClr val="bg1"/>
              </a:solidFill>
            </a:endParaRPr>
          </a:p>
        </p:txBody>
      </p:sp>
      <p:pic>
        <p:nvPicPr>
          <p:cNvPr id="4" name="Bild 3" descr="20150416 tum logo blau png 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9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de-DE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campuspress.yale.edu/claylab/" TargetMode="External"/><Relationship Id="rId4" Type="http://schemas.openxmlformats.org/officeDocument/2006/relationships/image" Target="../media/image5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bio-protocol.org/en/bpdetail?id=3661&amp;type=0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doi.org/10.1186/s12864-017-4426-7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mib.2018.09.004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3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emf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emf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4">
            <a:extLst>
              <a:ext uri="{FF2B5EF4-FFF2-40B4-BE49-F238E27FC236}">
                <a16:creationId xmlns:a16="http://schemas.microsoft.com/office/drawing/2014/main" id="{8436E9E6-728D-1625-5442-CEB8848EC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Unveiling Commonalities and Divergences in Biotrophic Plant-Microbe Interactions using Gene Co-Expression Networks in Arabidopsis thaliana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8D791E12-468D-9557-39F3-A9F3E4069A3E}"/>
              </a:ext>
            </a:extLst>
          </p:cNvPr>
          <p:cNvSpPr txBox="1">
            <a:spLocks/>
          </p:cNvSpPr>
          <p:nvPr/>
        </p:nvSpPr>
        <p:spPr>
          <a:xfrm>
            <a:off x="211025" y="3169147"/>
            <a:ext cx="8508999" cy="955594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6213" indent="-176213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3" indent="-184150" algn="l" rtl="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 typeface="Symbol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8163" indent="-177800" algn="l" rtl="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 typeface="Symbol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4375" indent="-176213" algn="l" rtl="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 typeface="Symbol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Luisa Bender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Freising, 10. März 2025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1A3F3EF7-5F08-FEF9-1A42-6244F5D1C360}"/>
              </a:ext>
            </a:extLst>
          </p:cNvPr>
          <p:cNvSpPr txBox="1">
            <a:spLocks/>
          </p:cNvSpPr>
          <p:nvPr/>
        </p:nvSpPr>
        <p:spPr>
          <a:xfrm>
            <a:off x="319090" y="2252848"/>
            <a:ext cx="8508999" cy="5571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lang="de-DE" sz="1600" kern="1200" baseline="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6213" indent="-176213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charset="0"/>
              <a:buChar char="•"/>
              <a:defRPr lang="de-DE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3" indent="-184150" algn="l" rtl="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 typeface="Symbol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8163" indent="-177800" algn="l" rtl="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 typeface="Symbol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4375" indent="-176213" algn="l" rtl="0" eaLnBrk="0" fontAlgn="base" hangingPunct="0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Font typeface="Symbol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Bachelor thesis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DCDF5BD-4F16-3E15-89F1-AC54E2B7BE99}"/>
              </a:ext>
            </a:extLst>
          </p:cNvPr>
          <p:cNvSpPr txBox="1"/>
          <p:nvPr/>
        </p:nvSpPr>
        <p:spPr>
          <a:xfrm>
            <a:off x="319090" y="241756"/>
            <a:ext cx="211974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noProof="0" dirty="0">
                <a:solidFill>
                  <a:schemeClr val="bg2"/>
                </a:solidFill>
                <a:latin typeface="+mn-lt"/>
              </a:rPr>
              <a:t>Professorship for Computational Plant Biology</a:t>
            </a:r>
          </a:p>
          <a:p>
            <a:r>
              <a:rPr lang="en-US" sz="800" noProof="0" dirty="0">
                <a:solidFill>
                  <a:schemeClr val="bg2"/>
                </a:solidFill>
                <a:latin typeface="+mn-lt"/>
              </a:rPr>
              <a:t>TUM School of Life Sciences</a:t>
            </a:r>
          </a:p>
          <a:p>
            <a:r>
              <a:rPr lang="en-US" sz="800" noProof="0" dirty="0">
                <a:solidFill>
                  <a:schemeClr val="bg2"/>
                </a:solidFill>
                <a:latin typeface="+mn-lt"/>
              </a:rPr>
              <a:t>Technical University of Munich</a:t>
            </a:r>
          </a:p>
          <a:p>
            <a:endParaRPr lang="en-US" sz="800" noProof="0" dirty="0">
              <a:solidFill>
                <a:schemeClr val="bg2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7D61B6A3-708D-20A4-5D80-5E209470B3D7}"/>
              </a:ext>
            </a:extLst>
          </p:cNvPr>
          <p:cNvSpPr txBox="1"/>
          <p:nvPr/>
        </p:nvSpPr>
        <p:spPr>
          <a:xfrm>
            <a:off x="2088349" y="146420"/>
            <a:ext cx="4967288" cy="2539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Collecting RNA-Seq datasets on</a:t>
            </a:r>
            <a:r>
              <a:rPr lang="en-US" sz="1050" i="1" dirty="0"/>
              <a:t> A. thaliana </a:t>
            </a:r>
            <a:r>
              <a:rPr lang="en-US" sz="1050" dirty="0"/>
              <a:t>infection with biotrophic pathogens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4827D2C-93F2-8C28-B2A6-72ED39B64206}"/>
              </a:ext>
            </a:extLst>
          </p:cNvPr>
          <p:cNvSpPr txBox="1"/>
          <p:nvPr/>
        </p:nvSpPr>
        <p:spPr>
          <a:xfrm>
            <a:off x="3225395" y="527939"/>
            <a:ext cx="2693195" cy="2539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Downloading samples with </a:t>
            </a:r>
            <a:r>
              <a:rPr lang="en-US" sz="1050" b="1" dirty="0" err="1"/>
              <a:t>sratoolkit</a:t>
            </a:r>
            <a:r>
              <a:rPr lang="en-US" sz="1050" dirty="0"/>
              <a:t>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3CE8E66-6D5E-0AA1-BF2A-F1553222319F}"/>
              </a:ext>
            </a:extLst>
          </p:cNvPr>
          <p:cNvSpPr txBox="1"/>
          <p:nvPr/>
        </p:nvSpPr>
        <p:spPr>
          <a:xfrm>
            <a:off x="3552993" y="875924"/>
            <a:ext cx="2038010" cy="4154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Basic quality trimming with </a:t>
            </a:r>
            <a:r>
              <a:rPr lang="en-US" sz="1050" b="1" dirty="0" err="1"/>
              <a:t>fastp</a:t>
            </a:r>
            <a:r>
              <a:rPr lang="en-US" sz="1050" dirty="0"/>
              <a:t> 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3776C06-9326-FF23-AEE1-9AD2E09EB4CD}"/>
              </a:ext>
            </a:extLst>
          </p:cNvPr>
          <p:cNvSpPr txBox="1"/>
          <p:nvPr/>
        </p:nvSpPr>
        <p:spPr>
          <a:xfrm>
            <a:off x="3095699" y="1363383"/>
            <a:ext cx="2952584" cy="2539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Quality control with </a:t>
            </a:r>
            <a:r>
              <a:rPr lang="en-US" sz="1050" b="1" dirty="0" err="1"/>
              <a:t>FastQC</a:t>
            </a:r>
            <a:r>
              <a:rPr lang="en-US" sz="1050" dirty="0"/>
              <a:t> and </a:t>
            </a:r>
            <a:r>
              <a:rPr lang="en-US" sz="1050" dirty="0" err="1"/>
              <a:t>MultiQC</a:t>
            </a:r>
            <a:endParaRPr lang="en-US" sz="105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9F75B7C-354A-4E4E-081F-F210988DEA7B}"/>
              </a:ext>
            </a:extLst>
          </p:cNvPr>
          <p:cNvSpPr txBox="1"/>
          <p:nvPr/>
        </p:nvSpPr>
        <p:spPr>
          <a:xfrm>
            <a:off x="2952826" y="1701485"/>
            <a:ext cx="3238334" cy="2539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Mapping reads with </a:t>
            </a:r>
            <a:r>
              <a:rPr lang="en-US" sz="1050" b="1" dirty="0" err="1"/>
              <a:t>kallisto</a:t>
            </a:r>
            <a:endParaRPr lang="en-US" sz="1050" b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0D22C4-944A-1C54-46C7-D2DE771A223D}"/>
              </a:ext>
            </a:extLst>
          </p:cNvPr>
          <p:cNvSpPr txBox="1"/>
          <p:nvPr/>
        </p:nvSpPr>
        <p:spPr>
          <a:xfrm>
            <a:off x="2439198" y="2102418"/>
            <a:ext cx="4265590" cy="4154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Importing raw gene counts and abundance (</a:t>
            </a:r>
            <a:r>
              <a:rPr lang="en-US" sz="1050" dirty="0" err="1"/>
              <a:t>tpm</a:t>
            </a:r>
            <a:r>
              <a:rPr lang="en-US" sz="1050" dirty="0"/>
              <a:t>) counts with </a:t>
            </a:r>
            <a:r>
              <a:rPr lang="en-US" sz="1050" dirty="0" err="1"/>
              <a:t>tximport</a:t>
            </a:r>
            <a:endParaRPr lang="en-US" sz="105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17C972D-FC5E-B51B-1AC4-1B2650D8A94C}"/>
              </a:ext>
            </a:extLst>
          </p:cNvPr>
          <p:cNvSpPr txBox="1"/>
          <p:nvPr/>
        </p:nvSpPr>
        <p:spPr>
          <a:xfrm>
            <a:off x="1801669" y="2984944"/>
            <a:ext cx="2038010" cy="4154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Filtering low expressed genes with </a:t>
            </a:r>
            <a:r>
              <a:rPr lang="en-US" sz="1050" dirty="0" err="1"/>
              <a:t>tpm</a:t>
            </a:r>
            <a:r>
              <a:rPr lang="en-US" sz="1050" dirty="0"/>
              <a:t> counts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5F3AC4D-70CA-111C-E2F2-B0E14A1A7624}"/>
              </a:ext>
            </a:extLst>
          </p:cNvPr>
          <p:cNvSpPr txBox="1"/>
          <p:nvPr/>
        </p:nvSpPr>
        <p:spPr>
          <a:xfrm>
            <a:off x="4953469" y="2905061"/>
            <a:ext cx="2038010" cy="57708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Variance </a:t>
            </a:r>
            <a:r>
              <a:rPr lang="en-US" sz="1050" b="1" dirty="0" err="1"/>
              <a:t>stabilzation</a:t>
            </a:r>
            <a:r>
              <a:rPr lang="en-US" sz="1050" b="1" dirty="0"/>
              <a:t> transformation </a:t>
            </a:r>
            <a:r>
              <a:rPr lang="en-US" sz="1050" dirty="0"/>
              <a:t>on raw counts with DESeq2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D97D6B9-2FDC-7D08-2FCE-0971555704F7}"/>
              </a:ext>
            </a:extLst>
          </p:cNvPr>
          <p:cNvSpPr txBox="1"/>
          <p:nvPr/>
        </p:nvSpPr>
        <p:spPr>
          <a:xfrm>
            <a:off x="2820674" y="3638193"/>
            <a:ext cx="3502647" cy="2539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WGCNA</a:t>
            </a:r>
            <a:r>
              <a:rPr lang="en-US" sz="1050" dirty="0"/>
              <a:t> – network construction and module detection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D687986-B624-F5CA-4893-CE604ABB5018}"/>
              </a:ext>
            </a:extLst>
          </p:cNvPr>
          <p:cNvSpPr txBox="1"/>
          <p:nvPr/>
        </p:nvSpPr>
        <p:spPr>
          <a:xfrm>
            <a:off x="3186827" y="4032292"/>
            <a:ext cx="2770329" cy="4154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Module trait matching and hub gene selection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2EF2052-A0A4-9193-A556-2DBEC70936B9}"/>
              </a:ext>
            </a:extLst>
          </p:cNvPr>
          <p:cNvSpPr txBox="1"/>
          <p:nvPr/>
        </p:nvSpPr>
        <p:spPr>
          <a:xfrm>
            <a:off x="3073331" y="4581582"/>
            <a:ext cx="2997321" cy="4154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Functional annotation and enrichment analysis of module genes with </a:t>
            </a:r>
            <a:r>
              <a:rPr lang="en-US" sz="1050" b="1" dirty="0" err="1"/>
              <a:t>clusterProfiler</a:t>
            </a:r>
            <a:endParaRPr lang="en-US" sz="1050" b="1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1F6F7BF-757F-0780-168E-7E7AD57A8F54}"/>
              </a:ext>
            </a:extLst>
          </p:cNvPr>
          <p:cNvSpPr txBox="1"/>
          <p:nvPr/>
        </p:nvSpPr>
        <p:spPr>
          <a:xfrm>
            <a:off x="7293557" y="2695173"/>
            <a:ext cx="1433853" cy="57708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b="1" dirty="0"/>
              <a:t>PCA</a:t>
            </a:r>
            <a:r>
              <a:rPr lang="en-US" sz="1050" dirty="0"/>
              <a:t> to identify potential outliers using stats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9C76D93-8722-DA7C-BAAC-0671C164F05D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4571993" y="400336"/>
            <a:ext cx="0" cy="1276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0F144E35-CA76-0E7D-B05F-EEE0C875D9F8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4571993" y="781855"/>
            <a:ext cx="5" cy="94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3316723E-077A-757F-9F2F-FCD118332557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571991" y="1291422"/>
            <a:ext cx="7" cy="71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614682F-687C-E1ED-7647-38459AED8929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4571991" y="1617299"/>
            <a:ext cx="2" cy="84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D19DE7B3-1BF0-C255-B1FE-EBE399DD9AE6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4571993" y="1955401"/>
            <a:ext cx="0" cy="1470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7770901-2705-400D-FF5D-400290F65AEF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2820674" y="2517916"/>
            <a:ext cx="1751319" cy="46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601EA409-191B-515C-6BE1-ADEC7E25034B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3839679" y="3192693"/>
            <a:ext cx="1113790" cy="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E95997BE-D70C-3173-8230-F1EF0B07ED72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V="1">
            <a:off x="6991479" y="2983714"/>
            <a:ext cx="302078" cy="209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DCE2EE1-62E1-A6CC-FB21-66073F445330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4571998" y="3482142"/>
            <a:ext cx="1400476" cy="156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479B533-F59C-CCB2-567D-6812C3CFDE7C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4571993" y="2517916"/>
            <a:ext cx="1400481" cy="387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F064BCA7-2E11-46BC-EAF0-4C0F3F20BDE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flipH="1">
            <a:off x="4571992" y="3892109"/>
            <a:ext cx="6" cy="140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3F78EA72-A3C4-9140-9209-8E77101103DB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4571992" y="4447790"/>
            <a:ext cx="0" cy="1337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A2DCABF0-FACC-4888-08E7-DB19F6E98485}"/>
              </a:ext>
            </a:extLst>
          </p:cNvPr>
          <p:cNvSpPr txBox="1"/>
          <p:nvPr/>
        </p:nvSpPr>
        <p:spPr>
          <a:xfrm>
            <a:off x="50339" y="1998543"/>
            <a:ext cx="2038010" cy="4154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Including gene counts from unpublished dataset</a:t>
            </a:r>
          </a:p>
        </p:txBody>
      </p:sp>
      <p:cxnSp>
        <p:nvCxnSpPr>
          <p:cNvPr id="59" name="Gewinkelte Verbindung 58">
            <a:extLst>
              <a:ext uri="{FF2B5EF4-FFF2-40B4-BE49-F238E27FC236}">
                <a16:creationId xmlns:a16="http://schemas.microsoft.com/office/drawing/2014/main" id="{5EC4EA52-E6F7-7BA3-216D-D839793524CD}"/>
              </a:ext>
            </a:extLst>
          </p:cNvPr>
          <p:cNvCxnSpPr>
            <a:stCxn id="55" idx="2"/>
            <a:endCxn id="11" idx="0"/>
          </p:cNvCxnSpPr>
          <p:nvPr/>
        </p:nvCxnSpPr>
        <p:spPr>
          <a:xfrm rot="16200000" flipH="1">
            <a:off x="3275399" y="207986"/>
            <a:ext cx="491020" cy="49031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winkelte Verbindung 66">
            <a:extLst>
              <a:ext uri="{FF2B5EF4-FFF2-40B4-BE49-F238E27FC236}">
                <a16:creationId xmlns:a16="http://schemas.microsoft.com/office/drawing/2014/main" id="{4CDC11E0-E2AB-34B1-3F50-413537A58D3F}"/>
              </a:ext>
            </a:extLst>
          </p:cNvPr>
          <p:cNvCxnSpPr>
            <a:stCxn id="55" idx="2"/>
            <a:endCxn id="10" idx="0"/>
          </p:cNvCxnSpPr>
          <p:nvPr/>
        </p:nvCxnSpPr>
        <p:spPr>
          <a:xfrm rot="16200000" flipH="1">
            <a:off x="1659558" y="1823827"/>
            <a:ext cx="570903" cy="17513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oliennummernplatzhalter 3">
            <a:extLst>
              <a:ext uri="{FF2B5EF4-FFF2-40B4-BE49-F238E27FC236}">
                <a16:creationId xmlns:a16="http://schemas.microsoft.com/office/drawing/2014/main" id="{B1069919-8B84-3B10-4BFF-61434CE5570B}"/>
              </a:ext>
            </a:extLst>
          </p:cNvPr>
          <p:cNvSpPr txBox="1">
            <a:spLocks/>
          </p:cNvSpPr>
          <p:nvPr/>
        </p:nvSpPr>
        <p:spPr>
          <a:xfrm>
            <a:off x="6774934" y="4854985"/>
            <a:ext cx="2052074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100"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algn="r"/>
            <a:fld id="{CE58CB1E-F828-4F11-99E0-327109AF9DA4}" type="slidenum">
              <a:rPr lang="en-US" smtClean="0"/>
              <a:pPr algn="r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382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319090" y="1847850"/>
            <a:ext cx="8508999" cy="299847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Fungal biotrophs (powdery mildew disease)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Oomycete biotroph (downy mildew)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Root and cyst nematodes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Protist biotroph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Viral biotrophs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Control samples: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Necrotrophic pathogens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Drought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319090" y="904500"/>
            <a:ext cx="8508999" cy="380745"/>
          </a:xfrm>
        </p:spPr>
        <p:txBody>
          <a:bodyPr/>
          <a:lstStyle/>
          <a:p>
            <a:r>
              <a:rPr lang="en-US" noProof="0" dirty="0"/>
              <a:t>About the pathogens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noProof="0" smtClean="0"/>
              <a:pPr/>
              <a:t>3</a:t>
            </a:fld>
            <a:endParaRPr lang="en-US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F95922A-08CD-291B-0CE0-283E6A085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90" y="1595919"/>
            <a:ext cx="4729987" cy="309562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/>
              <a:t>Golovinomyces</a:t>
            </a:r>
            <a:r>
              <a:rPr lang="en-US" i="1" dirty="0"/>
              <a:t> </a:t>
            </a:r>
            <a:r>
              <a:rPr lang="en-US" i="1" dirty="0" err="1"/>
              <a:t>orontii</a:t>
            </a: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Erysiphe </a:t>
            </a:r>
            <a:r>
              <a:rPr lang="en-US" i="1" dirty="0" err="1"/>
              <a:t>cichoracearum</a:t>
            </a: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Erysiphe </a:t>
            </a:r>
            <a:r>
              <a:rPr lang="en-US" i="1" dirty="0" err="1"/>
              <a:t>cruciferarum</a:t>
            </a: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Causing foliar </a:t>
            </a:r>
            <a:r>
              <a:rPr lang="en-US" b="1" dirty="0"/>
              <a:t>powdery mildew disease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Powdery mildews rely on living plant tissue for growth and reproduction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Life cycle begins with landing of a </a:t>
            </a:r>
            <a:r>
              <a:rPr lang="en-US" dirty="0" err="1"/>
              <a:t>condiospore</a:t>
            </a:r>
            <a:r>
              <a:rPr lang="en-US" dirty="0"/>
              <a:t> on the leaf surface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Formation of a </a:t>
            </a:r>
            <a:r>
              <a:rPr lang="en-US" b="1" dirty="0"/>
              <a:t>haustorium</a:t>
            </a:r>
            <a:r>
              <a:rPr lang="en-US" dirty="0"/>
              <a:t> </a:t>
            </a:r>
            <a:r>
              <a:rPr lang="en-US" dirty="0">
                <a:sym typeface="Wingdings" pitchFamily="2" charset="2"/>
              </a:rPr>
              <a:t> serves as „feeding“ organ for nutrient uptake</a:t>
            </a: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94FFA3F-77F8-E42A-6C5D-43FFE4E79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Fungal biotrophs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08763C2-DEF4-EF13-DE8B-E0C115FE48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028" name="Picture 4" descr="Arabidopsis thaliana infected with Golovinomyces orontii (powdery mildew)">
            <a:extLst>
              <a:ext uri="{FF2B5EF4-FFF2-40B4-BE49-F238E27FC236}">
                <a16:creationId xmlns:a16="http://schemas.microsoft.com/office/drawing/2014/main" id="{46BF1895-EA8C-2072-CD7C-39C23CF23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41" y="496642"/>
            <a:ext cx="1775279" cy="1331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Details are in the caption following the image">
            <a:extLst>
              <a:ext uri="{FF2B5EF4-FFF2-40B4-BE49-F238E27FC236}">
                <a16:creationId xmlns:a16="http://schemas.microsoft.com/office/drawing/2014/main" id="{969BDDC0-FABC-DB9F-74AD-1F0A5DFD2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7387" y="282927"/>
            <a:ext cx="1662561" cy="4178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17CDBD3F-B822-94F9-2066-49CFAFE331EB}"/>
              </a:ext>
            </a:extLst>
          </p:cNvPr>
          <p:cNvSpPr txBox="1"/>
          <p:nvPr/>
        </p:nvSpPr>
        <p:spPr>
          <a:xfrm>
            <a:off x="0" y="4836078"/>
            <a:ext cx="8508999" cy="3392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1.) 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https://campuspress.yale.edu/claylab/</a:t>
            </a:r>
            <a:r>
              <a: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, 2.) Koh et. Al (2005), </a:t>
            </a:r>
            <a:r>
              <a:rPr lang="en-US" sz="1000" i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Arabidopsis thaliana</a:t>
            </a:r>
            <a:r>
              <a:rPr lang="en-US" sz="100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 subcellular responses to compatible </a:t>
            </a:r>
            <a:r>
              <a:rPr lang="en-US" sz="1000" i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Erysiphe </a:t>
            </a:r>
            <a:r>
              <a:rPr lang="en-US" sz="1000" i="1" u="none" strike="noStrike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cichoracearum</a:t>
            </a:r>
            <a:r>
              <a:rPr lang="en-US" sz="1000" i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en-US" sz="100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infections</a:t>
            </a:r>
            <a:endParaRPr lang="en-US" sz="1000" i="0" u="none" strike="noStrike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+mn-lt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9C5A4CB-1D95-E798-638D-D682A9932A50}"/>
              </a:ext>
            </a:extLst>
          </p:cNvPr>
          <p:cNvSpPr txBox="1"/>
          <p:nvPr/>
        </p:nvSpPr>
        <p:spPr>
          <a:xfrm>
            <a:off x="5467117" y="1850505"/>
            <a:ext cx="1602603" cy="3699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14000"/>
              </a:lnSpc>
            </a:pP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Arabidopsis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 infected with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G.orontii</a:t>
            </a:r>
            <a:endParaRPr lang="en-US" sz="1100" i="1" dirty="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44B0DB1-2D12-6AB8-FE80-6B8D734D9168}"/>
              </a:ext>
            </a:extLst>
          </p:cNvPr>
          <p:cNvSpPr txBox="1"/>
          <p:nvPr/>
        </p:nvSpPr>
        <p:spPr>
          <a:xfrm>
            <a:off x="5135415" y="3986545"/>
            <a:ext cx="2093330" cy="3699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14000"/>
              </a:lnSpc>
            </a:pP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Infection stages of </a:t>
            </a:r>
            <a:r>
              <a:rPr lang="en-US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E.cichoracearum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 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on </a:t>
            </a:r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Arabidopsis</a:t>
            </a:r>
          </a:p>
        </p:txBody>
      </p:sp>
    </p:spTree>
    <p:extLst>
      <p:ext uri="{BB962C8B-B14F-4D97-AF65-F5344CB8AC3E}">
        <p14:creationId xmlns:p14="http://schemas.microsoft.com/office/powerpoint/2010/main" val="443547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143E45A-9778-00EC-88F9-7F9D253FD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91" y="1600200"/>
            <a:ext cx="6310806" cy="309562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1" u="none" strike="noStrike" dirty="0" err="1">
                <a:solidFill>
                  <a:srgbClr val="1B1B1B"/>
                </a:solidFill>
                <a:effectLst/>
              </a:rPr>
              <a:t>Hyaloperonospora</a:t>
            </a:r>
            <a:r>
              <a:rPr lang="en-US" b="0" i="1" u="none" strike="noStrike" dirty="0">
                <a:solidFill>
                  <a:srgbClr val="1B1B1B"/>
                </a:solidFill>
                <a:effectLst/>
              </a:rPr>
              <a:t> </a:t>
            </a:r>
            <a:r>
              <a:rPr lang="en-US" b="0" i="1" u="none" strike="noStrike" dirty="0" err="1">
                <a:solidFill>
                  <a:srgbClr val="1B1B1B"/>
                </a:solidFill>
                <a:effectLst/>
              </a:rPr>
              <a:t>arabidopsidis</a:t>
            </a:r>
            <a:endParaRPr lang="en-US" b="0" i="1" u="none" strike="noStrike" dirty="0">
              <a:solidFill>
                <a:srgbClr val="1B1B1B"/>
              </a:solidFill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>
              <a:solidFill>
                <a:srgbClr val="1B1B1B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causing </a:t>
            </a:r>
            <a:r>
              <a:rPr lang="en-US" b="1" dirty="0"/>
              <a:t>downy mildew </a:t>
            </a:r>
            <a:r>
              <a:rPr lang="en-US" dirty="0"/>
              <a:t>disease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shares common infection process with fungi causing powdery mildew disease </a:t>
            </a:r>
          </a:p>
          <a:p>
            <a:pPr marL="461963" lvl="1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form</a:t>
            </a:r>
            <a:r>
              <a:rPr lang="en-US" dirty="0"/>
              <a:t>ation of haustoria</a:t>
            </a:r>
          </a:p>
          <a:p>
            <a:pPr lvl="1" indent="0">
              <a:buNone/>
            </a:pPr>
            <a:endParaRPr lang="en-US" dirty="0"/>
          </a:p>
          <a:p>
            <a:pPr marL="317500" lvl="1" indent="-301625"/>
            <a:r>
              <a:rPr lang="en-US" dirty="0"/>
              <a:t>Oomycetes are phylogenetically close brown algae (distinct from true fungi)</a:t>
            </a:r>
          </a:p>
          <a:p>
            <a:pPr marL="317500" lvl="1" indent="-301625"/>
            <a:r>
              <a:rPr lang="en-US" dirty="0"/>
              <a:t>Obligate biotrophs </a:t>
            </a:r>
            <a:r>
              <a:rPr lang="en-US" dirty="0">
                <a:sym typeface="Wingdings" pitchFamily="2" charset="2"/>
              </a:rPr>
              <a:t> cannot live without their host</a:t>
            </a: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4E87EF4-595A-CD13-ABEB-1E54A15FB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Oomycete biotroph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C8DAD6-235B-6044-E424-EF4F5C4B2D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7F3F0-DBF9-1E7A-BD10-94D9E348ADD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11161" y="4854985"/>
            <a:ext cx="8367617" cy="273844"/>
          </a:xfrm>
        </p:spPr>
        <p:txBody>
          <a:bodyPr/>
          <a:lstStyle/>
          <a:p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Hwu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et. Al (2020), Maintenance and Quantitative Phenotyping of the Oomycete-plant Model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Pathosystem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 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Hyaloperonospora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arabidopsidis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–Arabidopsis,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https://bio-protocol.org/en/bpdetail?id=3661&amp;type=0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052" name="Picture 4" descr="Large image">
            <a:extLst>
              <a:ext uri="{FF2B5EF4-FFF2-40B4-BE49-F238E27FC236}">
                <a16:creationId xmlns:a16="http://schemas.microsoft.com/office/drawing/2014/main" id="{05DF77B0-AB1C-FCB6-ED8A-84B1021F9A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623"/>
          <a:stretch/>
        </p:blipFill>
        <p:spPr bwMode="auto">
          <a:xfrm>
            <a:off x="6629896" y="972000"/>
            <a:ext cx="2342149" cy="1783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5576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0D766A8-EDD2-4AE0-3F47-89CDD09AC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90" y="1600200"/>
            <a:ext cx="5749579" cy="309562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/>
              <a:t>Plasmodiophora</a:t>
            </a:r>
            <a:r>
              <a:rPr lang="en-US" i="1" dirty="0"/>
              <a:t> brassicae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Clubroot pathogen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Modulates host root development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Initiating formation of nutrient-replete </a:t>
            </a:r>
            <a:r>
              <a:rPr lang="en-US" b="1" dirty="0"/>
              <a:t>galls</a:t>
            </a:r>
            <a:r>
              <a:rPr lang="en-US" dirty="0"/>
              <a:t> within the root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Root infection negatively affects the uptake of water and nutrients in host plants</a:t>
            </a:r>
          </a:p>
          <a:p>
            <a:r>
              <a:rPr lang="en-US" dirty="0">
                <a:sym typeface="Wingdings" pitchFamily="2" charset="2"/>
              </a:rPr>
              <a:t>  </a:t>
            </a:r>
            <a:r>
              <a:rPr lang="en-US" dirty="0"/>
              <a:t>Reducing growth and productivity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7A1EDA04-19C0-B350-C0F8-5B265257E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Protist biotroph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454F17-C1A1-3430-6664-C3951121A8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BED7F4D-8C2B-C90D-E467-476804E81A2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2083" y="4695825"/>
            <a:ext cx="8694822" cy="604955"/>
          </a:xfrm>
        </p:spPr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Irani et al. “Transcriptome Analysis of Response to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Plasmodiophora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 Brassicae Infection in the Arabidopsis Shoot and Root.”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BMC Genomics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 19 (January 5, 2018): 23.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https://doi.org/10.1186/s12864-017-4426-7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.</a:t>
            </a:r>
          </a:p>
          <a:p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076" name="Picture 4" descr="figure 1">
            <a:extLst>
              <a:ext uri="{FF2B5EF4-FFF2-40B4-BE49-F238E27FC236}">
                <a16:creationId xmlns:a16="http://schemas.microsoft.com/office/drawing/2014/main" id="{49122515-E390-1FA0-5BE1-23DF22DA68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191" b="26300"/>
          <a:stretch/>
        </p:blipFill>
        <p:spPr bwMode="auto">
          <a:xfrm>
            <a:off x="6168772" y="905069"/>
            <a:ext cx="2656138" cy="3790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564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F7489487-41B0-741B-9F9B-620D2C1D1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91" y="1600200"/>
            <a:ext cx="5314794" cy="309562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endoparasitic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Cyst nematode (CN): </a:t>
            </a:r>
            <a:r>
              <a:rPr lang="en-US" i="1" dirty="0" err="1"/>
              <a:t>Heterodora</a:t>
            </a:r>
            <a:r>
              <a:rPr lang="en-US" i="1" dirty="0"/>
              <a:t> </a:t>
            </a:r>
            <a:r>
              <a:rPr lang="en-US" i="1" dirty="0" err="1"/>
              <a:t>schachtii</a:t>
            </a: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Root-knot nematode (RKN): </a:t>
            </a:r>
            <a:r>
              <a:rPr lang="en-US" i="1" dirty="0"/>
              <a:t>Meloidogyne javanica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Invasion of plant root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Move through different tissue layers to reach vascular cylinder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Formation of feedings sides:</a:t>
            </a:r>
          </a:p>
          <a:p>
            <a:pPr marL="461963" lvl="1" indent="-285750">
              <a:buFont typeface="Arial" panose="020B0604020202020204" pitchFamily="34" charset="0"/>
              <a:buChar char="•"/>
            </a:pPr>
            <a:r>
              <a:rPr lang="en-US" dirty="0"/>
              <a:t>CN: syncytium (fusion of cells)</a:t>
            </a:r>
          </a:p>
          <a:p>
            <a:pPr marL="461963" lvl="1" indent="-285750">
              <a:buFont typeface="Arial" panose="020B0604020202020204" pitchFamily="34" charset="0"/>
              <a:buChar char="•"/>
            </a:pPr>
            <a:r>
              <a:rPr lang="en-US" dirty="0"/>
              <a:t>RKN: several giant cells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uptake nutrients from the plant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Induce pathologically disturbed allocation of photosynthetic products that reduces plant growth and yield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E46D76D-2BCE-F57D-46D7-6AE1F3CF5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Nematodes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CE3910-8830-1135-F7C1-F3AD8BFB49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BA6841-4D76-B34A-2F51-2B1B5046B41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316992" y="4795986"/>
            <a:ext cx="8363777" cy="273844"/>
          </a:xfrm>
        </p:spPr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Siddique, Shahid, and Florian Mw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Grundler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. “Parasitic Nematodes Manipulate Plant Development to Establish Feeding Sites.”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Current Opinion in Microbiology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 46 (December 2018): 102–8.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https://doi.org/10.1016/j.mib.2018.09.004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</a:rPr>
              <a:t>.</a:t>
            </a:r>
          </a:p>
        </p:txBody>
      </p:sp>
      <p:pic>
        <p:nvPicPr>
          <p:cNvPr id="1026" name="Picture 2" descr="Figure 1">
            <a:extLst>
              <a:ext uri="{FF2B5EF4-FFF2-40B4-BE49-F238E27FC236}">
                <a16:creationId xmlns:a16="http://schemas.microsoft.com/office/drawing/2014/main" id="{78A867CE-EF98-367B-B533-ADC272EF3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8636" y="1346006"/>
            <a:ext cx="3257550" cy="244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141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58EC1D1-FC13-5A08-C346-CCD41EB71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Turnip mosaic virus (</a:t>
            </a:r>
            <a:r>
              <a:rPr lang="en-US" i="1" dirty="0" err="1"/>
              <a:t>TuMV</a:t>
            </a:r>
            <a:r>
              <a:rPr lang="en-US" i="1" dirty="0"/>
              <a:t>) – </a:t>
            </a:r>
            <a:r>
              <a:rPr lang="en-US" dirty="0"/>
              <a:t>potyvirus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Enters cells and begins replication in the cytoplasm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forming viral replication complexes on the 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host translation machinery to produce viral proteins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Moves intracellularly to reach plasmodesmata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Eventually reaching the phloem allowing systemic infection throughout the plant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Turnip yellows virus (</a:t>
            </a:r>
            <a:r>
              <a:rPr lang="en-US" i="1" dirty="0" err="1"/>
              <a:t>TuYV</a:t>
            </a:r>
            <a:r>
              <a:rPr lang="en-US" i="1" dirty="0"/>
              <a:t>) – </a:t>
            </a:r>
            <a:r>
              <a:rPr lang="en-US" dirty="0" err="1"/>
              <a:t>polerovirus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Replicates only in phloem companion cells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specialized than </a:t>
            </a:r>
            <a:r>
              <a:rPr lang="en-US" dirty="0" err="1"/>
              <a:t>TuMV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9AC6C31-7557-0D74-AFA7-93771C1B7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Viral biotrophs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70A11B-E60B-1A3B-A7EB-46A14EEBC4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5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BB78F3-23C5-DFDC-367A-5F65565DD1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763E625-5182-C37B-C709-DAFA4B881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4" y="1051678"/>
            <a:ext cx="4577430" cy="2910465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EF3EFC34-5786-BB88-CBB1-22E5C9B15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7615" y="1051678"/>
            <a:ext cx="4466385" cy="3040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315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DAF434-E458-066A-0797-88DE426BB0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3901451-E15B-641B-7AB2-035E9BB5D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58" y="958645"/>
            <a:ext cx="4708689" cy="2993923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DCCB880-46D3-DD61-D9AB-81489490C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517" y="1085005"/>
            <a:ext cx="4152639" cy="282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846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0889BD-202E-8995-4E2C-DDB481CEC9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48FF9-5799-80BF-1D18-7C6885681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640" y="407955"/>
            <a:ext cx="6806211" cy="4327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892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349337-7A7D-258B-88C4-0C4BB9660C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25508E3-FC36-3633-51A5-AA01C9CA9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2" y="266549"/>
            <a:ext cx="7783623" cy="4588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406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DCB6A7-1299-8DC4-2EBB-2BC3D08D03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F439AC3-1BD3-A329-EE05-99ACB08B6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53" y="319211"/>
            <a:ext cx="8036837" cy="4505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0868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766E46-7D34-BA6D-6807-386E0819B2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8EDE27A-684B-B061-C8A2-3AA6A01D5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29" y="304378"/>
            <a:ext cx="7368988" cy="455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447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121AA2-3AC8-A042-7AA8-B0214113DB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DEB510A-F139-C883-AAB7-0E4655420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1204"/>
            <a:ext cx="7171765" cy="462109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B262764-C9E0-C74A-7951-07010A10B5E4}"/>
              </a:ext>
            </a:extLst>
          </p:cNvPr>
          <p:cNvSpPr txBox="1"/>
          <p:nvPr/>
        </p:nvSpPr>
        <p:spPr>
          <a:xfrm>
            <a:off x="7171765" y="1936376"/>
            <a:ext cx="1655243" cy="53796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dirty="0">
                <a:latin typeface="+mn-lt"/>
              </a:rPr>
              <a:t>25 Modules</a:t>
            </a:r>
          </a:p>
          <a:p>
            <a:pPr>
              <a:lnSpc>
                <a:spcPct val="114000"/>
              </a:lnSpc>
            </a:pPr>
            <a:r>
              <a:rPr lang="en-US" sz="1600" dirty="0">
                <a:latin typeface="+mn-lt"/>
              </a:rPr>
              <a:t>No grey module</a:t>
            </a:r>
          </a:p>
        </p:txBody>
      </p:sp>
    </p:spTree>
    <p:extLst>
      <p:ext uri="{BB962C8B-B14F-4D97-AF65-F5344CB8AC3E}">
        <p14:creationId xmlns:p14="http://schemas.microsoft.com/office/powerpoint/2010/main" val="3149678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EA34BD-3AF5-7023-B6F4-039D873FAA8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D937675-60DB-0296-2138-5391A8697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231" y="1351313"/>
            <a:ext cx="3758769" cy="184263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6982662-8598-2B46-ED62-447E8C675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47" y="625783"/>
            <a:ext cx="5487853" cy="389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856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9D133D-7215-D93E-AF23-27CD97D468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15EB0B2-4D35-6C70-BAF4-42AB83012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2" y="113796"/>
            <a:ext cx="7092176" cy="5029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2518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7DA6CA-DAC2-3190-F591-A2699E9085B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61BFD2-3BC0-2CAE-1059-24AC19D33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783" y="14671"/>
            <a:ext cx="7251188" cy="514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816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DF40A87-4C63-67C7-E01E-B92208008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Module Membership (MM) / </a:t>
            </a:r>
            <a:r>
              <a:rPr lang="en-US" dirty="0" err="1"/>
              <a:t>kME</a:t>
            </a:r>
            <a:r>
              <a:rPr lang="en-US" dirty="0"/>
              <a:t> (</a:t>
            </a:r>
            <a:r>
              <a:rPr lang="en-US" dirty="0" err="1"/>
              <a:t>signedKME</a:t>
            </a:r>
            <a:r>
              <a:rPr lang="en-US" dirty="0"/>
              <a:t>()): correlation between each gene and each module eigengene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describes the connectivity of a gene inside a module</a:t>
            </a:r>
          </a:p>
          <a:p>
            <a:endParaRPr lang="en-US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Gene Significance (GS): correlation between each gene and a given trait</a:t>
            </a:r>
          </a:p>
          <a:p>
            <a:pPr marL="461963" lvl="1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Helps identify genes with a high significance for a pathogen infection</a:t>
            </a:r>
          </a:p>
          <a:p>
            <a:pPr marL="461963" lvl="1" indent="-285750">
              <a:buFont typeface="Wingdings" pitchFamily="2" charset="2"/>
              <a:buChar char="à"/>
            </a:pPr>
            <a:endParaRPr lang="en-US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Hub gene: important gene that has a high connectivity inside a module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Genes with </a:t>
            </a:r>
            <a:r>
              <a:rPr lang="en-US" b="1" dirty="0" err="1">
                <a:sym typeface="Wingdings" pitchFamily="2" charset="2"/>
              </a:rPr>
              <a:t>kME</a:t>
            </a:r>
            <a:r>
              <a:rPr lang="en-US" b="1" dirty="0">
                <a:sym typeface="Wingdings" pitchFamily="2" charset="2"/>
              </a:rPr>
              <a:t> &gt; 0.8 </a:t>
            </a:r>
            <a:r>
              <a:rPr lang="en-US" dirty="0">
                <a:sym typeface="Wingdings" pitchFamily="2" charset="2"/>
              </a:rPr>
              <a:t>considered as hub genes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Functional enrichment of modules and hub genes with </a:t>
            </a:r>
            <a:r>
              <a:rPr lang="en-US" dirty="0" err="1">
                <a:sym typeface="Wingdings" pitchFamily="2" charset="2"/>
              </a:rPr>
              <a:t>clusterProfiler</a:t>
            </a:r>
            <a:endParaRPr lang="en-US" dirty="0">
              <a:sym typeface="Wingdings" pitchFamily="2" charset="2"/>
            </a:endParaRPr>
          </a:p>
          <a:p>
            <a:pPr marL="461963" lvl="1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Gene Ontology (GO) overrepresentation analysis, mostly biological processes</a:t>
            </a:r>
          </a:p>
          <a:p>
            <a:pPr marL="461963" lvl="1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KEGG pathway enrichment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9532214-8092-A10B-EF68-B7A0975CB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Methods for analyzing modules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6EF36C-658E-CC81-B81C-B992BBE0C5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07551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A0E27D1-7D5D-19B2-F938-DC1E289B7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791114"/>
          </a:xfrm>
        </p:spPr>
        <p:txBody>
          <a:bodyPr/>
          <a:lstStyle/>
          <a:p>
            <a:r>
              <a:rPr lang="en-US" dirty="0"/>
              <a:t>Oomycete biotroph - </a:t>
            </a:r>
            <a:r>
              <a:rPr lang="en-US" b="0" i="1" u="none" strike="noStrike" dirty="0" err="1">
                <a:solidFill>
                  <a:srgbClr val="1B1B1B"/>
                </a:solidFill>
                <a:effectLst/>
              </a:rPr>
              <a:t>Hyaloperonospora</a:t>
            </a:r>
            <a:r>
              <a:rPr lang="en-US" b="0" i="1" u="none" strike="noStrike" dirty="0">
                <a:solidFill>
                  <a:srgbClr val="1B1B1B"/>
                </a:solidFill>
                <a:effectLst/>
              </a:rPr>
              <a:t> </a:t>
            </a:r>
            <a:r>
              <a:rPr lang="en-US" b="0" i="1" u="none" strike="noStrike" dirty="0" err="1">
                <a:solidFill>
                  <a:srgbClr val="1B1B1B"/>
                </a:solidFill>
                <a:effectLst/>
              </a:rPr>
              <a:t>arabidopsidis</a:t>
            </a:r>
            <a:br>
              <a:rPr lang="en-US" b="0" i="1" u="none" strike="noStrike" dirty="0">
                <a:solidFill>
                  <a:srgbClr val="1B1B1B"/>
                </a:solidFill>
                <a:effectLst/>
              </a:rPr>
            </a:b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9BF7E5-3502-2A03-4CF1-9E3AFF6A2A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9" name="Grafik 8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7B12D3B1-040B-3FE6-4B8E-7B5800FB2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311" y="1926314"/>
            <a:ext cx="3008475" cy="2084304"/>
          </a:xfrm>
          <a:prstGeom prst="rect">
            <a:avLst/>
          </a:prstGeom>
        </p:spPr>
      </p:pic>
      <p:pic>
        <p:nvPicPr>
          <p:cNvPr id="14" name="Grafik 13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0AB81E6-EB66-9797-8249-11F5E56AEE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4427" y="1644231"/>
            <a:ext cx="4367341" cy="302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688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F53DCF2-0AC3-8C66-7153-C8239F45E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810"/>
          </a:xfrm>
        </p:spPr>
        <p:txBody>
          <a:bodyPr/>
          <a:lstStyle/>
          <a:p>
            <a:r>
              <a:rPr lang="en-US" dirty="0"/>
              <a:t>Oomycete biotroph - </a:t>
            </a:r>
            <a:r>
              <a:rPr lang="en-US" b="0" i="1" u="none" strike="noStrike" dirty="0" err="1">
                <a:solidFill>
                  <a:srgbClr val="1B1B1B"/>
                </a:solidFill>
                <a:effectLst/>
              </a:rPr>
              <a:t>Hyaloperonospora</a:t>
            </a:r>
            <a:r>
              <a:rPr lang="en-US" b="0" i="1" u="none" strike="noStrike" dirty="0">
                <a:solidFill>
                  <a:srgbClr val="1B1B1B"/>
                </a:solidFill>
                <a:effectLst/>
              </a:rPr>
              <a:t> </a:t>
            </a:r>
            <a:r>
              <a:rPr lang="en-US" b="0" i="1" u="none" strike="noStrike" dirty="0" err="1">
                <a:solidFill>
                  <a:srgbClr val="1B1B1B"/>
                </a:solidFill>
                <a:effectLst/>
              </a:rPr>
              <a:t>arabidopsidis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BFE61C-2ADE-8295-08B4-33855438F2D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6" name="Grafik 5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5D89CB29-9E06-F3F5-B68F-088FF9BF7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95627"/>
            <a:ext cx="3154314" cy="2185342"/>
          </a:xfrm>
          <a:prstGeom prst="rect">
            <a:avLst/>
          </a:prstGeom>
        </p:spPr>
      </p:pic>
      <p:pic>
        <p:nvPicPr>
          <p:cNvPr id="8" name="Grafik 7" descr="Ein Bild, das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2600E40D-BDB4-9A93-BEE0-3F8A0E429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487" y="1584357"/>
            <a:ext cx="2963024" cy="2052814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2DBC8A96-593F-758C-D559-5A8D36D930C1}"/>
              </a:ext>
            </a:extLst>
          </p:cNvPr>
          <p:cNvSpPr txBox="1"/>
          <p:nvPr/>
        </p:nvSpPr>
        <p:spPr>
          <a:xfrm>
            <a:off x="3154314" y="3790691"/>
            <a:ext cx="5138928" cy="14529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400" b="1" dirty="0" err="1">
                <a:latin typeface="+mn-lt"/>
              </a:rPr>
              <a:t>darkred</a:t>
            </a:r>
            <a:r>
              <a:rPr lang="en-US" sz="1400" dirty="0">
                <a:latin typeface="+mn-lt"/>
              </a:rPr>
              <a:t>: enriched in plant-pathogen interaction, MAPK signaling pathway, </a:t>
            </a:r>
            <a:r>
              <a:rPr lang="en-US" sz="1400" dirty="0" err="1">
                <a:latin typeface="+mn-lt"/>
              </a:rPr>
              <a:t>Glycerolipid</a:t>
            </a:r>
            <a:r>
              <a:rPr lang="en-US" sz="1400" dirty="0">
                <a:latin typeface="+mn-lt"/>
              </a:rPr>
              <a:t> metabolism</a:t>
            </a:r>
          </a:p>
          <a:p>
            <a:pPr>
              <a:lnSpc>
                <a:spcPct val="114000"/>
              </a:lnSpc>
            </a:pPr>
            <a:endParaRPr lang="en-US" sz="1400" dirty="0">
              <a:latin typeface="+mn-lt"/>
            </a:endParaRPr>
          </a:p>
          <a:p>
            <a:pPr>
              <a:lnSpc>
                <a:spcPct val="114000"/>
              </a:lnSpc>
            </a:pPr>
            <a:r>
              <a:rPr lang="en-US" sz="1400" dirty="0">
                <a:latin typeface="+mn-lt"/>
              </a:rPr>
              <a:t>Single-gene </a:t>
            </a:r>
            <a:r>
              <a:rPr lang="en-US" sz="1400" dirty="0" err="1">
                <a:latin typeface="+mn-lt"/>
              </a:rPr>
              <a:t>multifunctions</a:t>
            </a:r>
            <a:r>
              <a:rPr lang="en-US" sz="1400" dirty="0">
                <a:latin typeface="+mn-lt"/>
              </a:rPr>
              <a:t>: genes could play roles in hypoxia or pathogen responses at the corresponding stress </a:t>
            </a:r>
            <a:r>
              <a:rPr lang="en-US" sz="1400" dirty="0">
                <a:latin typeface="+mn-lt"/>
                <a:sym typeface="Wingdings" pitchFamily="2" charset="2"/>
              </a:rPr>
              <a:t> WRKYs</a:t>
            </a:r>
            <a:endParaRPr lang="en-US" sz="1400" dirty="0">
              <a:latin typeface="+mn-lt"/>
            </a:endParaRPr>
          </a:p>
          <a:p>
            <a:pPr>
              <a:lnSpc>
                <a:spcPct val="114000"/>
              </a:lnSpc>
            </a:pPr>
            <a:endParaRPr lang="en-US" sz="1400" dirty="0">
              <a:latin typeface="+mn-lt"/>
            </a:endParaRPr>
          </a:p>
        </p:txBody>
      </p:sp>
      <p:pic>
        <p:nvPicPr>
          <p:cNvPr id="13" name="Grafik 12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6E430E3D-774B-24D7-0CA4-9BC90497B5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302" y="1506331"/>
            <a:ext cx="3075644" cy="213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84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C09A931-59BF-EC11-8EF5-856C54E44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810"/>
          </a:xfrm>
        </p:spPr>
        <p:txBody>
          <a:bodyPr/>
          <a:lstStyle/>
          <a:p>
            <a:r>
              <a:rPr lang="en-US" dirty="0"/>
              <a:t>Oomycete biotroph - </a:t>
            </a:r>
            <a:r>
              <a:rPr lang="en-US" b="0" i="1" u="none" strike="noStrike" dirty="0" err="1">
                <a:solidFill>
                  <a:srgbClr val="1B1B1B"/>
                </a:solidFill>
                <a:effectLst/>
              </a:rPr>
              <a:t>Hyaloperonospora</a:t>
            </a:r>
            <a:r>
              <a:rPr lang="en-US" b="0" i="1" u="none" strike="noStrike" dirty="0">
                <a:solidFill>
                  <a:srgbClr val="1B1B1B"/>
                </a:solidFill>
                <a:effectLst/>
              </a:rPr>
              <a:t> </a:t>
            </a:r>
            <a:r>
              <a:rPr lang="en-US" b="0" i="1" u="none" strike="noStrike" dirty="0" err="1">
                <a:solidFill>
                  <a:srgbClr val="1B1B1B"/>
                </a:solidFill>
                <a:effectLst/>
              </a:rPr>
              <a:t>arabidopsidis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9C44DE-8AE8-5AA6-9561-DD5332DDDA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6" name="Grafik 5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38A42B2A-8511-1425-2C75-D54CDB1BF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399" y="1801350"/>
            <a:ext cx="3887533" cy="2693324"/>
          </a:xfrm>
          <a:prstGeom prst="rect">
            <a:avLst/>
          </a:prstGeom>
        </p:spPr>
      </p:pic>
      <p:pic>
        <p:nvPicPr>
          <p:cNvPr id="8" name="Grafik 7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962562A-B52A-87B8-E753-A12EB676A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90" y="1916713"/>
            <a:ext cx="3579885" cy="2480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4209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27D1C039-A291-332F-5D01-1097C6D487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8610" y="1759360"/>
            <a:ext cx="4468213" cy="3095625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4CB9C17-0431-42F6-3A9B-268BFDA3C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810"/>
          </a:xfrm>
        </p:spPr>
        <p:txBody>
          <a:bodyPr/>
          <a:lstStyle/>
          <a:p>
            <a:r>
              <a:rPr lang="en-US" dirty="0"/>
              <a:t>Oomycete biotroph - </a:t>
            </a:r>
            <a:r>
              <a:rPr lang="en-US" b="0" i="1" u="none" strike="noStrike" dirty="0" err="1">
                <a:solidFill>
                  <a:srgbClr val="1B1B1B"/>
                </a:solidFill>
                <a:effectLst/>
              </a:rPr>
              <a:t>Hyaloperonospora</a:t>
            </a:r>
            <a:r>
              <a:rPr lang="en-US" b="0" i="1" u="none" strike="noStrike" dirty="0">
                <a:solidFill>
                  <a:srgbClr val="1B1B1B"/>
                </a:solidFill>
                <a:effectLst/>
              </a:rPr>
              <a:t> </a:t>
            </a:r>
            <a:r>
              <a:rPr lang="en-US" b="0" i="1" u="none" strike="noStrike" dirty="0" err="1">
                <a:solidFill>
                  <a:srgbClr val="1B1B1B"/>
                </a:solidFill>
                <a:effectLst/>
              </a:rPr>
              <a:t>arabidopsidis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A40AD5-A338-497F-0EE7-D5DDF7A320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9" name="Grafik 8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140C30D-FD3C-1AE2-064D-90C111158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636" y="1918527"/>
            <a:ext cx="3466596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078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E3B1763-886E-6275-B73C-E0FB661BA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Nematodes – </a:t>
            </a:r>
            <a:r>
              <a:rPr lang="en-US" i="1" dirty="0"/>
              <a:t>M. javanica </a:t>
            </a:r>
            <a:r>
              <a:rPr lang="en-US" dirty="0"/>
              <a:t>and </a:t>
            </a:r>
            <a:r>
              <a:rPr lang="en-US" i="1" dirty="0"/>
              <a:t>H. </a:t>
            </a:r>
            <a:r>
              <a:rPr lang="en-US" i="1" dirty="0" err="1"/>
              <a:t>schachtii</a:t>
            </a:r>
            <a:endParaRPr lang="en-US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488D63-6ACB-B679-F04C-641F049526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9" name="Grafik 8" descr="Ein Bild, das Text, Screenshot, rot, Diagramm enthält.&#10;&#10;KI-generierte Inhalte können fehlerhaft sein.">
            <a:extLst>
              <a:ext uri="{FF2B5EF4-FFF2-40B4-BE49-F238E27FC236}">
                <a16:creationId xmlns:a16="http://schemas.microsoft.com/office/drawing/2014/main" id="{C39A36E2-9234-DA7A-8802-723AB51BD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074" y="1057809"/>
            <a:ext cx="2631793" cy="1823334"/>
          </a:xfrm>
          <a:prstGeom prst="rect">
            <a:avLst/>
          </a:prstGeom>
        </p:spPr>
      </p:pic>
      <p:pic>
        <p:nvPicPr>
          <p:cNvPr id="14" name="Grafik 13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78496996-5A63-DC23-AB6D-F72E85100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3880" y="2881143"/>
            <a:ext cx="3265478" cy="2262357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FBA4897C-DCEC-630F-0B2B-AC462B2EF3E3}"/>
              </a:ext>
            </a:extLst>
          </p:cNvPr>
          <p:cNvSpPr txBox="1"/>
          <p:nvPr/>
        </p:nvSpPr>
        <p:spPr>
          <a:xfrm>
            <a:off x="319090" y="1602889"/>
            <a:ext cx="5221098" cy="34176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400" b="1" dirty="0">
                <a:latin typeface="+mn-lt"/>
              </a:rPr>
              <a:t>brown module</a:t>
            </a:r>
            <a:r>
              <a:rPr lang="en-US" sz="1400" dirty="0">
                <a:latin typeface="+mn-lt"/>
              </a:rPr>
              <a:t>:</a:t>
            </a:r>
          </a:p>
          <a:p>
            <a:pPr>
              <a:lnSpc>
                <a:spcPct val="114000"/>
              </a:lnSpc>
            </a:pPr>
            <a:r>
              <a:rPr lang="en-US" sz="1400" dirty="0">
                <a:latin typeface="+mn-lt"/>
                <a:sym typeface="Wingdings" pitchFamily="2" charset="2"/>
              </a:rPr>
              <a:t> e</a:t>
            </a:r>
            <a:r>
              <a:rPr lang="en-US" sz="1400" dirty="0">
                <a:latin typeface="+mn-lt"/>
              </a:rPr>
              <a:t>nriched in root morphogenesis, plant-type cell wall organization, plant epidermis development</a:t>
            </a:r>
          </a:p>
          <a:p>
            <a:pPr>
              <a:lnSpc>
                <a:spcPct val="114000"/>
              </a:lnSpc>
            </a:pPr>
            <a:endParaRPr lang="en-US" sz="1400" dirty="0">
              <a:latin typeface="+mn-lt"/>
            </a:endParaRPr>
          </a:p>
          <a:p>
            <a:pPr>
              <a:lnSpc>
                <a:spcPct val="114000"/>
              </a:lnSpc>
            </a:pPr>
            <a:r>
              <a:rPr lang="en-US" sz="1400" dirty="0">
                <a:latin typeface="+mn-lt"/>
              </a:rPr>
              <a:t>Significant for nematodes: </a:t>
            </a:r>
            <a:r>
              <a:rPr lang="en-US" sz="1400" dirty="0" err="1">
                <a:latin typeface="+mn-lt"/>
              </a:rPr>
              <a:t>postive</a:t>
            </a:r>
            <a:r>
              <a:rPr lang="en-US" sz="1400" dirty="0">
                <a:latin typeface="+mn-lt"/>
              </a:rPr>
              <a:t> regulation of DNA-templates transcription and lateral root morphogenesis</a:t>
            </a:r>
          </a:p>
          <a:p>
            <a:pPr>
              <a:lnSpc>
                <a:spcPct val="114000"/>
              </a:lnSpc>
            </a:pPr>
            <a:endParaRPr lang="en-US" sz="1400" dirty="0">
              <a:latin typeface="+mn-lt"/>
            </a:endParaRPr>
          </a:p>
          <a:p>
            <a:pPr marL="285750" indent="-285750">
              <a:lnSpc>
                <a:spcPct val="114000"/>
              </a:lnSpc>
              <a:buFont typeface="Wingdings" pitchFamily="2" charset="2"/>
              <a:buChar char="à"/>
            </a:pPr>
            <a:r>
              <a:rPr lang="en-US" sz="1400" dirty="0">
                <a:latin typeface="+mn-lt"/>
                <a:sym typeface="Wingdings" pitchFamily="2" charset="2"/>
              </a:rPr>
              <a:t>Nematodes manipulate lateral root development to create feeding structures (</a:t>
            </a:r>
            <a:r>
              <a:rPr lang="en-US" sz="1400" dirty="0" err="1">
                <a:latin typeface="+mn-lt"/>
                <a:sym typeface="Wingdings" pitchFamily="2" charset="2"/>
              </a:rPr>
              <a:t>synctia</a:t>
            </a:r>
            <a:r>
              <a:rPr lang="en-US" sz="1400" dirty="0">
                <a:latin typeface="+mn-lt"/>
                <a:sym typeface="Wingdings" pitchFamily="2" charset="2"/>
              </a:rPr>
              <a:t>)</a:t>
            </a:r>
          </a:p>
          <a:p>
            <a:pPr marL="285750" indent="-285750">
              <a:lnSpc>
                <a:spcPct val="114000"/>
              </a:lnSpc>
              <a:buFont typeface="Wingdings" pitchFamily="2" charset="2"/>
              <a:buChar char="à"/>
            </a:pPr>
            <a:r>
              <a:rPr lang="en-US" sz="1400" dirty="0">
                <a:latin typeface="+mn-lt"/>
                <a:sym typeface="Wingdings" pitchFamily="2" charset="2"/>
              </a:rPr>
              <a:t>Secrete effectors that modulate host transcription factors</a:t>
            </a:r>
          </a:p>
          <a:p>
            <a:pPr marL="285750" indent="-285750">
              <a:lnSpc>
                <a:spcPct val="114000"/>
              </a:lnSpc>
              <a:buFont typeface="Wingdings" pitchFamily="2" charset="2"/>
              <a:buChar char="à"/>
            </a:pPr>
            <a:r>
              <a:rPr lang="en-US" sz="1400" dirty="0">
                <a:latin typeface="+mn-lt"/>
                <a:sym typeface="Wingdings" pitchFamily="2" charset="2"/>
              </a:rPr>
              <a:t>Plant may activate its own transcriptional networks in response to stress and infection</a:t>
            </a:r>
            <a:endParaRPr lang="en-US" sz="1400" dirty="0">
              <a:latin typeface="+mn-lt"/>
            </a:endParaRPr>
          </a:p>
          <a:p>
            <a:pPr>
              <a:lnSpc>
                <a:spcPct val="114000"/>
              </a:lnSpc>
            </a:pPr>
            <a:endParaRPr lang="en-US" sz="1400" dirty="0">
              <a:latin typeface="+mn-lt"/>
            </a:endParaRPr>
          </a:p>
          <a:p>
            <a:pPr>
              <a:lnSpc>
                <a:spcPct val="114000"/>
              </a:lnSpc>
            </a:pPr>
            <a:r>
              <a:rPr lang="en-US" sz="1400" dirty="0"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092341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nhaltsplatzhalter 7" descr="Ein Bild, das Tex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70A6C1E1-03BD-4E49-C911-59901B50C9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11162" y="1544804"/>
            <a:ext cx="3515427" cy="2435525"/>
          </a:xfr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593B05-0E39-BAB6-F51E-E11266EDEA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6" name="Titel 2">
            <a:extLst>
              <a:ext uri="{FF2B5EF4-FFF2-40B4-BE49-F238E27FC236}">
                <a16:creationId xmlns:a16="http://schemas.microsoft.com/office/drawing/2014/main" id="{D0D0D4A3-CF8F-F136-ACF5-90172EB2D961}"/>
              </a:ext>
            </a:extLst>
          </p:cNvPr>
          <p:cNvSpPr txBox="1">
            <a:spLocks/>
          </p:cNvSpPr>
          <p:nvPr/>
        </p:nvSpPr>
        <p:spPr>
          <a:xfrm>
            <a:off x="311162" y="949503"/>
            <a:ext cx="8508999" cy="3807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defRPr lang="de-DE" sz="2500" b="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2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2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2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2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2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2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2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2"/>
                </a:solidFill>
                <a:latin typeface="Arial" charset="0"/>
                <a:cs typeface="Arial" charset="0"/>
              </a:defRPr>
            </a:lvl9pPr>
          </a:lstStyle>
          <a:p>
            <a:r>
              <a:rPr lang="en-US" dirty="0"/>
              <a:t>Nematodes – </a:t>
            </a:r>
            <a:r>
              <a:rPr lang="en-US" i="1" dirty="0"/>
              <a:t>M. javanica </a:t>
            </a:r>
            <a:r>
              <a:rPr lang="en-US" dirty="0"/>
              <a:t>and </a:t>
            </a:r>
            <a:r>
              <a:rPr lang="en-US" i="1" dirty="0"/>
              <a:t>H. </a:t>
            </a:r>
            <a:r>
              <a:rPr lang="en-US" i="1" dirty="0" err="1"/>
              <a:t>schachtii</a:t>
            </a:r>
            <a:endParaRPr lang="en-US" i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19794FC-BBCA-A72C-D769-CCBE57915C96}"/>
              </a:ext>
            </a:extLst>
          </p:cNvPr>
          <p:cNvSpPr txBox="1"/>
          <p:nvPr/>
        </p:nvSpPr>
        <p:spPr>
          <a:xfrm>
            <a:off x="3937300" y="1560483"/>
            <a:ext cx="4744122" cy="243528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400" b="1" dirty="0" err="1">
                <a:latin typeface="+mn-lt"/>
              </a:rPr>
              <a:t>darkgreen</a:t>
            </a:r>
            <a:r>
              <a:rPr lang="en-US" sz="1400" dirty="0">
                <a:latin typeface="+mn-lt"/>
              </a:rPr>
              <a:t>: enriched in translation, ribosome biogenesis, cytoplasmic translation, rRNA processing</a:t>
            </a:r>
          </a:p>
          <a:p>
            <a:pPr>
              <a:lnSpc>
                <a:spcPct val="114000"/>
              </a:lnSpc>
            </a:pPr>
            <a:endParaRPr lang="en-US" sz="1400" dirty="0">
              <a:latin typeface="+mn-lt"/>
            </a:endParaRPr>
          </a:p>
          <a:p>
            <a:pPr marL="285750" indent="-285750">
              <a:lnSpc>
                <a:spcPct val="114000"/>
              </a:lnSpc>
              <a:buFont typeface="Wingdings" pitchFamily="2" charset="2"/>
              <a:buChar char="à"/>
            </a:pPr>
            <a:r>
              <a:rPr lang="en-US" sz="1400" dirty="0">
                <a:latin typeface="+mn-lt"/>
                <a:sym typeface="Wingdings" pitchFamily="2" charset="2"/>
              </a:rPr>
              <a:t>Increased protein synthesis demand</a:t>
            </a:r>
          </a:p>
          <a:p>
            <a:pPr marL="285750" indent="-285750">
              <a:lnSpc>
                <a:spcPct val="114000"/>
              </a:lnSpc>
              <a:buFont typeface="Wingdings" pitchFamily="2" charset="2"/>
              <a:buChar char="à"/>
            </a:pPr>
            <a:r>
              <a:rPr lang="en-US" sz="1400" dirty="0">
                <a:latin typeface="+mn-lt"/>
                <a:sym typeface="Wingdings" pitchFamily="2" charset="2"/>
              </a:rPr>
              <a:t>Often associated with rapid growth, stress responses or metabolic shifts</a:t>
            </a:r>
          </a:p>
          <a:p>
            <a:pPr marL="285750" indent="-285750">
              <a:lnSpc>
                <a:spcPct val="114000"/>
              </a:lnSpc>
              <a:buFont typeface="Wingdings" pitchFamily="2" charset="2"/>
              <a:buChar char="à"/>
            </a:pPr>
            <a:endParaRPr lang="en-US" sz="1400" dirty="0">
              <a:latin typeface="+mn-lt"/>
              <a:sym typeface="Wingdings" pitchFamily="2" charset="2"/>
            </a:endParaRPr>
          </a:p>
          <a:p>
            <a:pPr marL="285750" indent="-285750">
              <a:lnSpc>
                <a:spcPct val="114000"/>
              </a:lnSpc>
              <a:buFont typeface="Wingdings" pitchFamily="2" charset="2"/>
              <a:buChar char="à"/>
            </a:pPr>
            <a:r>
              <a:rPr lang="en-US" sz="1400" dirty="0">
                <a:latin typeface="+mn-lt"/>
                <a:sym typeface="Wingdings" pitchFamily="2" charset="2"/>
              </a:rPr>
              <a:t>For nematodes: could suggest that the nematode is inducing high protein production to maintain feeding sites</a:t>
            </a:r>
            <a:endParaRPr lang="en-US" sz="1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756713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5EF1F7B-2461-F073-2B11-712701BB45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515100" y="65547"/>
            <a:ext cx="3393795" cy="2351257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471D70BF-1EDB-5478-117F-AE516154E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Protist biotroph – </a:t>
            </a:r>
            <a:r>
              <a:rPr lang="en-US" i="1" dirty="0"/>
              <a:t>P. brassicae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30357-7AD4-3677-9D43-FBA2E573E1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9" name="Grafik 8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1C5C957C-A8E8-268E-720D-AD664AF06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5656" y="2495602"/>
            <a:ext cx="3529173" cy="2445048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01FEE53-4C6D-4BC0-CCFA-EDAFB1F62B69}"/>
              </a:ext>
            </a:extLst>
          </p:cNvPr>
          <p:cNvSpPr txBox="1"/>
          <p:nvPr/>
        </p:nvSpPr>
        <p:spPr>
          <a:xfrm>
            <a:off x="235105" y="1687747"/>
            <a:ext cx="4878372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enriched in plant-pathogen interaction pathway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hypoxia response</a:t>
            </a:r>
            <a:r>
              <a:rPr lang="en-US" sz="1400" dirty="0"/>
              <a:t>: contributes positively to clubroot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/>
              <a:t>jasmonic</a:t>
            </a:r>
            <a:r>
              <a:rPr lang="en-US" sz="1400" b="1" dirty="0"/>
              <a:t> acid signaling</a:t>
            </a:r>
            <a:r>
              <a:rPr lang="en-US" sz="1400" dirty="0"/>
              <a:t>: part of defense response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hub genes also belong to JAZ or TIFY family 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400" dirty="0"/>
              <a:t>13 JAZ genes have been reported in </a:t>
            </a:r>
            <a:r>
              <a:rPr lang="en-US" sz="1400" dirty="0" err="1"/>
              <a:t>A.thaliana</a:t>
            </a:r>
            <a:r>
              <a:rPr lang="en-US" sz="1400" dirty="0"/>
              <a:t> 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sz="1400" dirty="0"/>
              <a:t>participate in plant development and defense reactions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B4F660D-FB07-DDD9-F47E-3B8CB055CEA2}"/>
              </a:ext>
            </a:extLst>
          </p:cNvPr>
          <p:cNvSpPr/>
          <p:nvPr/>
        </p:nvSpPr>
        <p:spPr>
          <a:xfrm>
            <a:off x="7227694" y="4324788"/>
            <a:ext cx="398224" cy="9765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39A1593-A79E-4CE9-AA27-68F6BF140953}"/>
              </a:ext>
            </a:extLst>
          </p:cNvPr>
          <p:cNvSpPr/>
          <p:nvPr/>
        </p:nvSpPr>
        <p:spPr>
          <a:xfrm>
            <a:off x="6900700" y="4653378"/>
            <a:ext cx="398224" cy="9765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2BEFEE1-D565-75E8-1A82-790D9E32EC57}"/>
              </a:ext>
            </a:extLst>
          </p:cNvPr>
          <p:cNvSpPr/>
          <p:nvPr/>
        </p:nvSpPr>
        <p:spPr>
          <a:xfrm>
            <a:off x="6744497" y="4500598"/>
            <a:ext cx="398224" cy="9765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en-US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36008E8E-36E2-BFEA-7355-04B07D42EB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836996"/>
            <a:ext cx="2831503" cy="81638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08010A8-5CF7-B007-4A26-20511EE491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8458" y="4459670"/>
            <a:ext cx="3060244" cy="618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489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DD1F4FC-5BBF-3ED6-BE74-C4CED1146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Viral biotroph – Turnip mosaic virus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213C72-4DB2-635E-2913-D4AEE09217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11" name="Grafik 10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D3F2B7EA-1EC6-51C5-D872-1913E3C30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656" y="1572966"/>
            <a:ext cx="3401828" cy="2356822"/>
          </a:xfrm>
          <a:prstGeom prst="rect">
            <a:avLst/>
          </a:prstGeom>
        </p:spPr>
      </p:pic>
      <p:pic>
        <p:nvPicPr>
          <p:cNvPr id="16" name="Grafik 1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6B65A2FD-DFF7-1BFC-1EB3-907ECCB87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1018" y="2772007"/>
            <a:ext cx="3401828" cy="2356822"/>
          </a:xfrm>
          <a:prstGeom prst="rect">
            <a:avLst/>
          </a:prstGeom>
        </p:spPr>
      </p:pic>
      <p:pic>
        <p:nvPicPr>
          <p:cNvPr id="18" name="Grafik 17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57AF0395-BDF2-9D09-DFC2-D2BCDEF8D3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0814" y="116490"/>
            <a:ext cx="3803186" cy="2634887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BCA25F8-F148-3716-6AAC-5E9DD9ADFC23}"/>
              </a:ext>
            </a:extLst>
          </p:cNvPr>
          <p:cNvSpPr txBox="1"/>
          <p:nvPr/>
        </p:nvSpPr>
        <p:spPr>
          <a:xfrm>
            <a:off x="319090" y="4171500"/>
            <a:ext cx="3541034" cy="7162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400" dirty="0">
                <a:latin typeface="+mn-lt"/>
              </a:rPr>
              <a:t>Enriched in following pathways: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Pentose and glucoronate interconversion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latin typeface="+mn-lt"/>
              </a:rPr>
              <a:t>Cutin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suberine</a:t>
            </a:r>
            <a:r>
              <a:rPr lang="en-US" sz="1400" dirty="0">
                <a:latin typeface="+mn-lt"/>
              </a:rPr>
              <a:t> and wax biosynthesis</a:t>
            </a:r>
          </a:p>
        </p:txBody>
      </p:sp>
    </p:spTree>
    <p:extLst>
      <p:ext uri="{BB962C8B-B14F-4D97-AF65-F5344CB8AC3E}">
        <p14:creationId xmlns:p14="http://schemas.microsoft.com/office/powerpoint/2010/main" val="19377943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16908FB-074B-12DE-AB33-1E835F989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90" y="1600200"/>
            <a:ext cx="8508999" cy="127573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Very specific pathways and biological processes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c</a:t>
            </a:r>
            <a:r>
              <a:rPr lang="en-US" dirty="0"/>
              <a:t>ould suggest changes in cell wall and reproductive development of the plant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Cutin</a:t>
            </a:r>
            <a:r>
              <a:rPr lang="en-US" dirty="0"/>
              <a:t>, </a:t>
            </a:r>
            <a:r>
              <a:rPr lang="en-US" dirty="0" err="1"/>
              <a:t>suberine</a:t>
            </a:r>
            <a:r>
              <a:rPr lang="en-US" dirty="0"/>
              <a:t> and wax are components of cell wall and protective barriers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/>
              <a:t>Defense mechanism of the plant trying to build mechanical barriers against the invasion of the virus</a:t>
            </a:r>
          </a:p>
          <a:p>
            <a:endParaRPr lang="en-US" dirty="0"/>
          </a:p>
          <a:p>
            <a:pPr marL="285750" indent="-285750">
              <a:buFont typeface="Wingdings" pitchFamily="2" charset="2"/>
              <a:buChar char="à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D3445AE-F2BB-978B-FF16-08922D533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Viral biotroph – Turnip mosaic virus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417BA9-12DD-BAA8-0220-2BA8698196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CEFCE6E-E7FF-53DC-D92A-1E072DEC61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11" y="3177903"/>
            <a:ext cx="5464277" cy="15975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D58652DD-2C64-E9AD-55AB-6084FB348CCE}"/>
              </a:ext>
            </a:extLst>
          </p:cNvPr>
          <p:cNvSpPr txBox="1"/>
          <p:nvPr/>
        </p:nvSpPr>
        <p:spPr>
          <a:xfrm>
            <a:off x="5780188" y="3065371"/>
            <a:ext cx="3046820" cy="14529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Viral strains of </a:t>
            </a:r>
            <a:r>
              <a:rPr lang="en-US" sz="1400" dirty="0" err="1">
                <a:latin typeface="+mn-lt"/>
              </a:rPr>
              <a:t>TuMV</a:t>
            </a:r>
            <a:r>
              <a:rPr lang="en-US" sz="1400" dirty="0">
                <a:latin typeface="+mn-lt"/>
              </a:rPr>
              <a:t> disrupt secondary cell wall deposition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Interfere with plant development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Developmental alterations could maybe lead to dysregulation of </a:t>
            </a:r>
            <a:r>
              <a:rPr lang="en-US" sz="1400" dirty="0" err="1">
                <a:latin typeface="+mn-lt"/>
              </a:rPr>
              <a:t>reproducitve</a:t>
            </a:r>
            <a:r>
              <a:rPr lang="en-US" sz="1400" dirty="0">
                <a:latin typeface="+mn-lt"/>
              </a:rPr>
              <a:t> pathways</a:t>
            </a:r>
          </a:p>
        </p:txBody>
      </p:sp>
    </p:spTree>
    <p:extLst>
      <p:ext uri="{BB962C8B-B14F-4D97-AF65-F5344CB8AC3E}">
        <p14:creationId xmlns:p14="http://schemas.microsoft.com/office/powerpoint/2010/main" val="14692541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D7D13-8DAD-9E89-F373-9DDE206BF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Screenshot, Diagramm, Muster enthält.&#10;&#10;KI-generierte Inhalte können fehlerhaft sein.">
            <a:extLst>
              <a:ext uri="{FF2B5EF4-FFF2-40B4-BE49-F238E27FC236}">
                <a16:creationId xmlns:a16="http://schemas.microsoft.com/office/drawing/2014/main" id="{D6089FC1-3B0F-7031-136A-9CAA288DEA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19090" y="1556254"/>
            <a:ext cx="2551720" cy="1767858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B68EF78-C067-F8E6-2B79-F59A8CC2A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Viral biotroph – Turnip mosaic virus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8FA7CE-D8BF-8859-9F64-6EFAACD97E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9" name="Grafik 8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EC6081DE-FC55-4551-AAC9-BF0C59C1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870" y="3341564"/>
            <a:ext cx="2551720" cy="1767858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C693B146-2276-313E-8ACC-3072FFFC0172}"/>
              </a:ext>
            </a:extLst>
          </p:cNvPr>
          <p:cNvSpPr txBox="1"/>
          <p:nvPr/>
        </p:nvSpPr>
        <p:spPr>
          <a:xfrm>
            <a:off x="3144132" y="1806977"/>
            <a:ext cx="5680778" cy="9618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400" b="1" dirty="0">
                <a:latin typeface="+mn-lt"/>
              </a:rPr>
              <a:t>Grey60</a:t>
            </a:r>
            <a:r>
              <a:rPr lang="en-US" sz="1400" dirty="0">
                <a:latin typeface="+mn-lt"/>
              </a:rPr>
              <a:t>: enriched in oxidative phosphorylation, purine nucleoside triphosphate biosynthetic process</a:t>
            </a:r>
          </a:p>
          <a:p>
            <a:pPr marL="285750" indent="-285750">
              <a:lnSpc>
                <a:spcPct val="114000"/>
              </a:lnSpc>
              <a:buFont typeface="Wingdings" pitchFamily="2" charset="2"/>
              <a:buChar char="à"/>
            </a:pPr>
            <a:r>
              <a:rPr lang="en-US" sz="1400" dirty="0">
                <a:latin typeface="+mn-lt"/>
                <a:sym typeface="Wingdings" pitchFamily="2" charset="2"/>
              </a:rPr>
              <a:t>Indicate changes in mitochondrial energy production</a:t>
            </a:r>
          </a:p>
          <a:p>
            <a:pPr marL="285750" indent="-285750">
              <a:lnSpc>
                <a:spcPct val="114000"/>
              </a:lnSpc>
              <a:buFont typeface="Wingdings" pitchFamily="2" charset="2"/>
              <a:buChar char="à"/>
            </a:pPr>
            <a:r>
              <a:rPr lang="en-US" sz="1400" dirty="0">
                <a:latin typeface="+mn-lt"/>
                <a:sym typeface="Wingdings" pitchFamily="2" charset="2"/>
              </a:rPr>
              <a:t>Manipulation of host cellular metabolism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C2C0AC4-2097-43F3-292A-7AE1351421FE}"/>
              </a:ext>
            </a:extLst>
          </p:cNvPr>
          <p:cNvSpPr txBox="1"/>
          <p:nvPr/>
        </p:nvSpPr>
        <p:spPr>
          <a:xfrm>
            <a:off x="3144131" y="3824791"/>
            <a:ext cx="4967481" cy="47064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400" b="1" dirty="0">
                <a:latin typeface="+mn-lt"/>
              </a:rPr>
              <a:t>Plum1: </a:t>
            </a:r>
            <a:r>
              <a:rPr lang="en-US" sz="1400" dirty="0">
                <a:latin typeface="+mn-lt"/>
              </a:rPr>
              <a:t>enriched in DNA damage response, double strand break repair </a:t>
            </a:r>
          </a:p>
        </p:txBody>
      </p:sp>
    </p:spTree>
    <p:extLst>
      <p:ext uri="{BB962C8B-B14F-4D97-AF65-F5344CB8AC3E}">
        <p14:creationId xmlns:p14="http://schemas.microsoft.com/office/powerpoint/2010/main" val="737464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1D430B3-D776-CE4F-A884-5A278A3B3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Different modules correlating with all three fungal biotrophs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Maybe d</a:t>
            </a:r>
            <a:r>
              <a:rPr lang="en-US" dirty="0"/>
              <a:t>ifferent infection strategies?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/>
              <a:t>Genetic differences between fungal species?</a:t>
            </a:r>
          </a:p>
          <a:p>
            <a:pPr marL="285750" indent="-285750">
              <a:buFont typeface="Wingdings" pitchFamily="2" charset="2"/>
              <a:buChar char="à"/>
            </a:pPr>
            <a:endParaRPr lang="en-US" dirty="0"/>
          </a:p>
          <a:p>
            <a:pPr marL="285750" indent="-285750">
              <a:buFont typeface="Wingdings" pitchFamily="2" charset="2"/>
              <a:buChar char="à"/>
            </a:pPr>
            <a:endParaRPr lang="en-US" dirty="0"/>
          </a:p>
          <a:p>
            <a:pPr marL="285750" indent="-285750">
              <a:buFont typeface="Wingdings" pitchFamily="2" charset="2"/>
              <a:buChar char="à"/>
            </a:pPr>
            <a:endParaRPr lang="en-US" dirty="0"/>
          </a:p>
          <a:p>
            <a:pPr marL="285750" indent="-285750">
              <a:buFont typeface="Wingdings" pitchFamily="2" charset="2"/>
              <a:buChar char="à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D94CB08-4C8D-D333-2123-B594EB343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dirty="0"/>
              <a:t>Fungal biotrophs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69EB51-1340-0750-8D3D-5C35AB545B5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AB28774-C3E4-95B4-8C2A-78157380058B}"/>
              </a:ext>
            </a:extLst>
          </p:cNvPr>
          <p:cNvSpPr txBox="1"/>
          <p:nvPr/>
        </p:nvSpPr>
        <p:spPr>
          <a:xfrm>
            <a:off x="2198951" y="2738669"/>
            <a:ext cx="1596591" cy="81868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i="1" dirty="0" err="1"/>
              <a:t>G.orontii</a:t>
            </a:r>
            <a:endParaRPr lang="en-US" sz="1600" i="1" dirty="0"/>
          </a:p>
          <a:p>
            <a:pPr>
              <a:lnSpc>
                <a:spcPct val="114000"/>
              </a:lnSpc>
            </a:pPr>
            <a:r>
              <a:rPr lang="en-US" sz="1600" i="1" dirty="0" err="1"/>
              <a:t>E.cichoracearum</a:t>
            </a:r>
            <a:r>
              <a:rPr lang="en-US" sz="1600" i="1" dirty="0"/>
              <a:t> </a:t>
            </a:r>
          </a:p>
          <a:p>
            <a:pPr>
              <a:lnSpc>
                <a:spcPct val="114000"/>
              </a:lnSpc>
            </a:pPr>
            <a:r>
              <a:rPr lang="en-US" sz="1600" i="1" dirty="0" err="1"/>
              <a:t>E.cruciferarum</a:t>
            </a:r>
            <a:endParaRPr lang="en-US" sz="1600" i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850302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62B37-E811-E618-31ED-54A8657C5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3B4FF1-02FF-7B5A-7D37-388FE632235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D97AA77-01FF-14E3-E77D-C6E474D4E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2" y="113796"/>
            <a:ext cx="7092176" cy="5029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59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AD38BB4-7C65-679F-9438-4BBC37055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i="1" dirty="0" err="1"/>
              <a:t>Golovinomyces</a:t>
            </a:r>
            <a:r>
              <a:rPr lang="en-US" dirty="0"/>
              <a:t> </a:t>
            </a:r>
            <a:r>
              <a:rPr lang="en-US" i="1" dirty="0" err="1"/>
              <a:t>orontii</a:t>
            </a:r>
            <a:endParaRPr lang="en-US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04C667-E911-D78B-D44D-F052E507A0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9" name="Inhaltsplatzhalter 8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383531E7-55D3-CC0C-CD82-A2A7558F92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9905" y="2049731"/>
            <a:ext cx="3043064" cy="2108267"/>
          </a:xfr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502B89D4-A05A-8AE6-39A9-448976D28E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0742" y="532115"/>
            <a:ext cx="3712054" cy="257175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8FD0CB1-CD8D-CC44-FD05-99162C50AA5B}"/>
              </a:ext>
            </a:extLst>
          </p:cNvPr>
          <p:cNvSpPr txBox="1"/>
          <p:nvPr/>
        </p:nvSpPr>
        <p:spPr>
          <a:xfrm>
            <a:off x="4019692" y="3383756"/>
            <a:ext cx="4457652" cy="120738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400" dirty="0">
                <a:latin typeface="+mn-lt"/>
              </a:rPr>
              <a:t>enriched in flavonoid biosynthesis pathway, starch and sucrose metabolism, nicotinate and nicotinamide metabolism</a:t>
            </a:r>
          </a:p>
          <a:p>
            <a:pPr>
              <a:lnSpc>
                <a:spcPct val="114000"/>
              </a:lnSpc>
            </a:pPr>
            <a:r>
              <a:rPr lang="en-US" sz="1400" dirty="0">
                <a:latin typeface="+mn-lt"/>
                <a:sym typeface="Wingdings" pitchFamily="2" charset="2"/>
              </a:rPr>
              <a:t> Flavonoids as defense mechanism against biotrophic pathogens</a:t>
            </a:r>
            <a:endParaRPr lang="en-US" sz="1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213446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CAA7F92-E2FB-6954-5EE3-D90E2734D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9012" y="1600200"/>
            <a:ext cx="5529077" cy="3095625"/>
          </a:xfrm>
        </p:spPr>
        <p:txBody>
          <a:bodyPr/>
          <a:lstStyle/>
          <a:p>
            <a:pPr marL="285750" indent="-285750">
              <a:buFont typeface="Wingdings" pitchFamily="2" charset="2"/>
              <a:buChar char="à"/>
            </a:pPr>
            <a:endParaRPr lang="en-US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itchFamily="2" charset="2"/>
              </a:rPr>
              <a:t>Downregulation of protein export, protein localization to ER</a:t>
            </a:r>
          </a:p>
          <a:p>
            <a:pPr marL="285750" indent="-285750">
              <a:buFont typeface="Wingdings" pitchFamily="2" charset="2"/>
              <a:buChar char="à"/>
            </a:pPr>
            <a:endParaRPr lang="en-US" dirty="0">
              <a:sym typeface="Wingdings" pitchFamily="2" charset="2"/>
            </a:endParaRPr>
          </a:p>
          <a:p>
            <a:pPr marL="285750" indent="-285750">
              <a:buFont typeface="Wingdings" pitchFamily="2" charset="2"/>
              <a:buChar char="à"/>
            </a:pPr>
            <a:endParaRPr lang="en-US" dirty="0">
              <a:sym typeface="Wingdings" pitchFamily="2" charset="2"/>
            </a:endParaRPr>
          </a:p>
          <a:p>
            <a:pPr marL="285750" indent="-285750">
              <a:buFont typeface="Wingdings" pitchFamily="2" charset="2"/>
              <a:buChar char="à"/>
            </a:pPr>
            <a:endParaRPr lang="en-US" dirty="0">
              <a:sym typeface="Wingdings" pitchFamily="2" charset="2"/>
            </a:endParaRPr>
          </a:p>
          <a:p>
            <a:pPr marL="285750" indent="-285750">
              <a:buFont typeface="Wingdings" pitchFamily="2" charset="2"/>
              <a:buChar char="à"/>
            </a:pPr>
            <a:endParaRPr lang="en-US" dirty="0">
              <a:sym typeface="Wingdings" pitchFamily="2" charset="2"/>
            </a:endParaRPr>
          </a:p>
          <a:p>
            <a:pPr marL="285750" indent="-285750">
              <a:buFont typeface="Wingdings" pitchFamily="2" charset="2"/>
              <a:buChar char="à"/>
            </a:pPr>
            <a:endParaRPr lang="en-US" dirty="0">
              <a:sym typeface="Wingdings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Response to hypoxia and to carbohydrate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18BDD11-672F-3C9A-A363-3F73CC7D9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810"/>
          </a:xfrm>
        </p:spPr>
        <p:txBody>
          <a:bodyPr/>
          <a:lstStyle/>
          <a:p>
            <a:r>
              <a:rPr lang="en-US" i="1" dirty="0" err="1"/>
              <a:t>Golovinomyces</a:t>
            </a:r>
            <a:r>
              <a:rPr lang="en-US" dirty="0"/>
              <a:t> </a:t>
            </a:r>
            <a:r>
              <a:rPr lang="en-US" i="1" dirty="0" err="1"/>
              <a:t>orontii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4247CC-9F48-FAA3-BF7E-AA256A1415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913AFAD-204E-507B-D7CF-3030AE70D9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74" y="3249165"/>
            <a:ext cx="2734142" cy="1894335"/>
          </a:xfrm>
          <a:prstGeom prst="rect">
            <a:avLst/>
          </a:prstGeom>
        </p:spPr>
      </p:pic>
      <p:pic>
        <p:nvPicPr>
          <p:cNvPr id="7" name="Grafik 6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30EC7DF2-F564-0A84-D9AE-84E2B6B39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273" y="1433182"/>
            <a:ext cx="2632505" cy="1823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6210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74EE413-5555-FE16-166F-72872A11A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i="1" dirty="0"/>
              <a:t>Erysiphe </a:t>
            </a:r>
            <a:r>
              <a:rPr lang="en-US" i="1" dirty="0" err="1"/>
              <a:t>cichoracearum</a:t>
            </a:r>
            <a:endParaRPr lang="en-US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C58210-C246-537B-1C1A-69CCDDDA00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5" name="Grafik 4" descr="Ein Bild, das Tex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D8E84EDF-B7A5-6C2B-25DE-48DABF32A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992" y="1834199"/>
            <a:ext cx="3373651" cy="233730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C99A03D-23C7-296D-85B6-FE6F698E49FC}"/>
              </a:ext>
            </a:extLst>
          </p:cNvPr>
          <p:cNvSpPr txBox="1"/>
          <p:nvPr/>
        </p:nvSpPr>
        <p:spPr>
          <a:xfrm>
            <a:off x="4255008" y="1593471"/>
            <a:ext cx="4572000" cy="81868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latin typeface="+mn-lt"/>
              </a:rPr>
              <a:t>Darkgreen</a:t>
            </a:r>
            <a:r>
              <a:rPr lang="en-US" sz="1600" dirty="0">
                <a:latin typeface="+mn-lt"/>
              </a:rPr>
              <a:t> module: enriched in Translation (Ribosome)</a:t>
            </a:r>
          </a:p>
          <a:p>
            <a:pPr>
              <a:lnSpc>
                <a:spcPct val="114000"/>
              </a:lnSpc>
            </a:pPr>
            <a:r>
              <a:rPr lang="en-US" sz="1600" dirty="0">
                <a:latin typeface="+mn-lt"/>
                <a:sym typeface="Wingdings" pitchFamily="2" charset="2"/>
              </a:rPr>
              <a:t> downregulated during infection</a:t>
            </a:r>
            <a:endParaRPr lang="en-US" sz="16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654552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E949120-6565-9DB2-9B8E-921B75D64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i="1" dirty="0"/>
              <a:t>Erysiphe </a:t>
            </a:r>
            <a:r>
              <a:rPr lang="en-US" i="1" dirty="0" err="1"/>
              <a:t>cruciferarum</a:t>
            </a:r>
            <a:endParaRPr lang="en-US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0E0970-6782-93D4-0A9A-3882246352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97A83F5-4E54-DBF3-D2A6-2221BA500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160" y="3208362"/>
            <a:ext cx="3111157" cy="192046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02C3492-BC42-45A3-950C-1A569B2D9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1823" y="1095669"/>
            <a:ext cx="3499148" cy="211269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F3D0E3B-D052-AE64-5333-DCEDED946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360" y="3385497"/>
            <a:ext cx="3749824" cy="62890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8168BAA-430F-19A7-CA4C-68939FD483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090" y="1465983"/>
            <a:ext cx="2648164" cy="163788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BE981612-3B47-2D03-EE19-9A1A4F4FC29F}"/>
              </a:ext>
            </a:extLst>
          </p:cNvPr>
          <p:cNvSpPr txBox="1"/>
          <p:nvPr/>
        </p:nvSpPr>
        <p:spPr>
          <a:xfrm>
            <a:off x="4488934" y="4364713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unpublished dataset: </a:t>
            </a:r>
            <a:r>
              <a:rPr lang="en-US" sz="1400" i="1" dirty="0" err="1"/>
              <a:t>E.cruciferarum</a:t>
            </a:r>
            <a:endParaRPr lang="en-US" sz="1400" i="1" dirty="0">
              <a:latin typeface="+mn-lt"/>
            </a:endParaRPr>
          </a:p>
          <a:p>
            <a:r>
              <a:rPr lang="en-US" sz="1400" dirty="0">
                <a:sym typeface="Wingdings" pitchFamily="2" charset="2"/>
              </a:rPr>
              <a:t>  </a:t>
            </a:r>
            <a:r>
              <a:rPr lang="en-US" sz="1400" dirty="0"/>
              <a:t>Strongly upregulated in pink and orange module</a:t>
            </a:r>
          </a:p>
        </p:txBody>
      </p:sp>
    </p:spTree>
    <p:extLst>
      <p:ext uri="{BB962C8B-B14F-4D97-AF65-F5344CB8AC3E}">
        <p14:creationId xmlns:p14="http://schemas.microsoft.com/office/powerpoint/2010/main" val="10576294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BAF751B3-D2AC-B183-2B72-37320122F0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2931" y="1437570"/>
            <a:ext cx="3803330" cy="2634987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162B9C7-AF7C-669E-F087-EA7294C6D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972000"/>
            <a:ext cx="8508999" cy="380745"/>
          </a:xfrm>
        </p:spPr>
        <p:txBody>
          <a:bodyPr/>
          <a:lstStyle/>
          <a:p>
            <a:r>
              <a:rPr lang="en-US" i="1" dirty="0" err="1"/>
              <a:t>Erisyphe</a:t>
            </a:r>
            <a:r>
              <a:rPr lang="en-US" i="1" dirty="0"/>
              <a:t> </a:t>
            </a:r>
            <a:r>
              <a:rPr lang="en-US" i="1" dirty="0" err="1"/>
              <a:t>cruciferarum</a:t>
            </a:r>
            <a:endParaRPr lang="en-US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821B15-419E-4E87-53E2-9A57CFFC7C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9" name="Grafik 8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52244409-AED2-E454-8F26-3F0087FBB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437570"/>
            <a:ext cx="3803331" cy="2634987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A00CE0E1-7FC8-D8ED-25FB-A581835BBA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1" y="4140759"/>
            <a:ext cx="3803330" cy="85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2065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E7C54718-ABDC-E476-9DA4-47D5A5288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4111" y="652493"/>
            <a:ext cx="6215863" cy="3838513"/>
          </a:xfr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0F67CC1-8FE2-71C0-92DE-8FC82E5EA4C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4734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E781192-B826-EF75-7B36-7469E4A7F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biotroph seems to have its own strategy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Manipulation of plant’s metabolisms for nutrient uptake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Some biotrophs suppress plant defense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Some biotrophs actively use plant defense mechanisms to their advantage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lot of different modules could also result from the way the dataset is build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ym typeface="Wingdings" pitchFamily="2" charset="2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604BF49-945F-EC63-AD9F-57B9E5846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90" y="649926"/>
            <a:ext cx="8508999" cy="791114"/>
          </a:xfrm>
        </p:spPr>
        <p:txBody>
          <a:bodyPr/>
          <a:lstStyle/>
          <a:p>
            <a:r>
              <a:rPr lang="en-US" noProof="0" dirty="0"/>
              <a:t>Commonalities and Divergences in Biotrophic Plant-Microbe Interactions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179309-A352-0ABD-16B1-6D435AD489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801025"/>
      </p:ext>
    </p:extLst>
  </p:cSld>
  <p:clrMapOvr>
    <a:masterClrMapping/>
  </p:clrMapOvr>
</p:sld>
</file>

<file path=ppt/theme/theme1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71F9E29F-9B65-4C06-A32E-848D689232B9}" vid="{1E03A00F-5A34-475F-BA84-E2EBED434790}"/>
    </a:ext>
  </a:extLst>
</a:theme>
</file>

<file path=ppt/theme/theme2.xml><?xml version="1.0" encoding="utf-8"?>
<a:theme xmlns:a="http://schemas.openxmlformats.org/drawingml/2006/main" name="Titel 2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71F9E29F-9B65-4C06-A32E-848D689232B9}" vid="{008B5212-AD15-4DA8-AB6C-182350FFA4EA}"/>
    </a:ext>
  </a:extLst>
</a:theme>
</file>

<file path=ppt/theme/theme3.xml><?xml version="1.0" encoding="utf-8"?>
<a:theme xmlns:a="http://schemas.openxmlformats.org/drawingml/2006/main" name="Titel 3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71F9E29F-9B65-4C06-A32E-848D689232B9}" vid="{CFAC8027-78A3-4001-93FE-AE371D2D92B1}"/>
    </a:ext>
  </a:extLst>
</a:theme>
</file>

<file path=ppt/theme/theme4.xml><?xml version="1.0" encoding="utf-8"?>
<a:theme xmlns:a="http://schemas.openxmlformats.org/drawingml/2006/main" name="Inhalt">
  <a:themeElements>
    <a:clrScheme name="TUM">
      <a:dk1>
        <a:sysClr val="windowText" lastClr="000000"/>
      </a:dk1>
      <a:lt1>
        <a:sysClr val="window" lastClr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71F9E29F-9B65-4C06-A32E-848D689232B9}" vid="{94C99F27-547F-408F-8FEB-51CB360826DB}"/>
    </a:ext>
  </a:extLst>
</a:theme>
</file>

<file path=ppt/theme/theme5.xml><?xml version="1.0" encoding="utf-8"?>
<a:theme xmlns:a="http://schemas.openxmlformats.org/drawingml/2006/main" name="Kapiteltrenner blau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71F9E29F-9B65-4C06-A32E-848D689232B9}" vid="{D62E0DEB-27C1-4887-9BB6-4AC5FC555B75}"/>
    </a:ext>
  </a:extLst>
</a:theme>
</file>

<file path=ppt/theme/theme6.xml><?xml version="1.0" encoding="utf-8"?>
<a:theme xmlns:a="http://schemas.openxmlformats.org/drawingml/2006/main" name="Kapiteltrenner schwarz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71F9E29F-9B65-4C06-A32E-848D689232B9}" vid="{D4175650-7EAE-421A-870A-005CB3789E30}"/>
    </a:ext>
  </a:extLst>
</a:theme>
</file>

<file path=ppt/theme/theme7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Titel 1</Template>
  <TotalTime>0</TotalTime>
  <Words>2364</Words>
  <Application>Microsoft Macintosh PowerPoint</Application>
  <PresentationFormat>Bildschirmpräsentation (16:9)</PresentationFormat>
  <Paragraphs>296</Paragraphs>
  <Slides>38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6</vt:i4>
      </vt:variant>
      <vt:variant>
        <vt:lpstr>Folientitel</vt:lpstr>
      </vt:variant>
      <vt:variant>
        <vt:i4>38</vt:i4>
      </vt:variant>
    </vt:vector>
  </HeadingPairs>
  <TitlesOfParts>
    <vt:vector size="50" baseType="lpstr">
      <vt:lpstr>Arial</vt:lpstr>
      <vt:lpstr>Calibri</vt:lpstr>
      <vt:lpstr>Courier New</vt:lpstr>
      <vt:lpstr>Open Sans</vt:lpstr>
      <vt:lpstr>Symbol</vt:lpstr>
      <vt:lpstr>Wingdings</vt:lpstr>
      <vt:lpstr>Titel 1</vt:lpstr>
      <vt:lpstr>Titel 2</vt:lpstr>
      <vt:lpstr>Titel 3</vt:lpstr>
      <vt:lpstr>Inhalt</vt:lpstr>
      <vt:lpstr>Kapiteltrenner blau</vt:lpstr>
      <vt:lpstr>Kapiteltrenner schwarz</vt:lpstr>
      <vt:lpstr>Unveiling Commonalities and Divergences in Biotrophic Plant-Microbe Interactions using Gene Co-Expression Networks in Arabidopsis thaliana</vt:lpstr>
      <vt:lpstr>PowerPoint-Präsentation</vt:lpstr>
      <vt:lpstr>About the pathogens</vt:lpstr>
      <vt:lpstr>Fungal biotrophs</vt:lpstr>
      <vt:lpstr>Oomycete biotroph</vt:lpstr>
      <vt:lpstr>Protist biotroph</vt:lpstr>
      <vt:lpstr>Nematodes</vt:lpstr>
      <vt:lpstr>Viral biotrophs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Methods for analyzing modules</vt:lpstr>
      <vt:lpstr>Oomycete biotroph - Hyaloperonospora arabidopsidis </vt:lpstr>
      <vt:lpstr>Oomycete biotroph - Hyaloperonospora arabidopsidis</vt:lpstr>
      <vt:lpstr>Oomycete biotroph - Hyaloperonospora arabidopsidis</vt:lpstr>
      <vt:lpstr>Oomycete biotroph - Hyaloperonospora arabidopsidis</vt:lpstr>
      <vt:lpstr>Nematodes – M. javanica and H. schachtii</vt:lpstr>
      <vt:lpstr>PowerPoint-Präsentation</vt:lpstr>
      <vt:lpstr>Protist biotroph – P. brassicae</vt:lpstr>
      <vt:lpstr>Viral biotroph – Turnip mosaic virus</vt:lpstr>
      <vt:lpstr>Viral biotroph – Turnip mosaic virus</vt:lpstr>
      <vt:lpstr>Viral biotroph – Turnip mosaic virus</vt:lpstr>
      <vt:lpstr>Fungal biotrophs</vt:lpstr>
      <vt:lpstr>PowerPoint-Präsentation</vt:lpstr>
      <vt:lpstr>Golovinomyces orontii</vt:lpstr>
      <vt:lpstr>Golovinomyces orontii</vt:lpstr>
      <vt:lpstr>Erysiphe cichoracearum</vt:lpstr>
      <vt:lpstr>Erysiphe cruciferarum</vt:lpstr>
      <vt:lpstr>Erisyphe cruciferarum</vt:lpstr>
      <vt:lpstr>PowerPoint-Präsentation</vt:lpstr>
      <vt:lpstr>Commonalities and Divergences in Biotrophic Plant-Microbe Interactions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Katharina Bender</dc:creator>
  <cp:lastModifiedBy>Luisa Katharina Bender</cp:lastModifiedBy>
  <cp:revision>13</cp:revision>
  <cp:lastPrinted>2015-07-30T14:04:45Z</cp:lastPrinted>
  <dcterms:created xsi:type="dcterms:W3CDTF">2025-03-06T08:35:31Z</dcterms:created>
  <dcterms:modified xsi:type="dcterms:W3CDTF">2025-03-10T11:43:12Z</dcterms:modified>
</cp:coreProperties>
</file>