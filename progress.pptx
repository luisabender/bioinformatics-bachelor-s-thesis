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1" r:id="rId2"/>
    <p:sldId id="260" r:id="rId3"/>
    <p:sldId id="258" r:id="rId4"/>
    <p:sldId id="262" r:id="rId5"/>
    <p:sldId id="264" r:id="rId6"/>
    <p:sldId id="265" r:id="rId7"/>
    <p:sldId id="267" r:id="rId8"/>
    <p:sldId id="272" r:id="rId9"/>
    <p:sldId id="268" r:id="rId10"/>
    <p:sldId id="269" r:id="rId11"/>
    <p:sldId id="270" r:id="rId12"/>
    <p:sldId id="271" r:id="rId13"/>
    <p:sldId id="273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76"/>
    <p:restoredTop sz="94676"/>
  </p:normalViewPr>
  <p:slideViewPr>
    <p:cSldViewPr snapToGrid="0">
      <p:cViewPr varScale="1">
        <p:scale>
          <a:sx n="102" d="100"/>
          <a:sy n="102" d="100"/>
        </p:scale>
        <p:origin x="208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27.01.25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1357842" y="4555272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E4EE252-5143-1D16-D769-78A4776197A8}"/>
              </a:ext>
            </a:extLst>
          </p:cNvPr>
          <p:cNvSpPr txBox="1"/>
          <p:nvPr/>
        </p:nvSpPr>
        <p:spPr>
          <a:xfrm>
            <a:off x="620172" y="4627974"/>
            <a:ext cx="731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Next </a:t>
            </a:r>
            <a:r>
              <a:rPr lang="de-DE" dirty="0" err="1"/>
              <a:t>up</a:t>
            </a:r>
            <a:r>
              <a:rPr lang="de-DE" dirty="0"/>
              <a:t>:</a:t>
            </a:r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VST, PCA and </a:t>
            </a:r>
            <a:r>
              <a:rPr lang="de-DE" dirty="0" err="1"/>
              <a:t>filtering</a:t>
            </a:r>
            <a:endParaRPr lang="de-DE" dirty="0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03E46CF-77F2-A928-96F0-203BD875748C}"/>
              </a:ext>
            </a:extLst>
          </p:cNvPr>
          <p:cNvSpPr txBox="1">
            <a:spLocks/>
          </p:cNvSpPr>
          <p:nvPr/>
        </p:nvSpPr>
        <p:spPr>
          <a:xfrm>
            <a:off x="620486" y="481239"/>
            <a:ext cx="10515600" cy="61458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 err="1"/>
              <a:t>MultiQC</a:t>
            </a:r>
            <a:r>
              <a:rPr lang="de-DE" sz="2400" dirty="0"/>
              <a:t> after </a:t>
            </a:r>
            <a:r>
              <a:rPr lang="de-DE" sz="2400" dirty="0" err="1"/>
              <a:t>basic</a:t>
            </a:r>
            <a:r>
              <a:rPr lang="de-DE" sz="2400" dirty="0"/>
              <a:t> </a:t>
            </a:r>
            <a:r>
              <a:rPr lang="de-DE" sz="2400" dirty="0" err="1"/>
              <a:t>trimming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fastp</a:t>
            </a:r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27C9D9E-78EA-B095-5700-581E4FC9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42756"/>
            <a:ext cx="11669486" cy="543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8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D5149A9A-8D6A-0DD7-8746-BEBAFA7F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13" y="215652"/>
            <a:ext cx="10395645" cy="664234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555ED0D-C917-B49D-C5D3-5C1F412BD6F6}"/>
              </a:ext>
            </a:extLst>
          </p:cNvPr>
          <p:cNvSpPr txBox="1"/>
          <p:nvPr/>
        </p:nvSpPr>
        <p:spPr>
          <a:xfrm>
            <a:off x="79209" y="339979"/>
            <a:ext cx="115764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Count </a:t>
            </a:r>
            <a:r>
              <a:rPr lang="de-DE" sz="1600" dirty="0" err="1"/>
              <a:t>table</a:t>
            </a:r>
            <a:r>
              <a:rPr lang="de-DE" sz="1600" dirty="0"/>
              <a:t> via </a:t>
            </a:r>
            <a:r>
              <a:rPr lang="de-DE" sz="1600" dirty="0" err="1"/>
              <a:t>tximport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Extracted</a:t>
            </a:r>
            <a:r>
              <a:rPr lang="de-DE" sz="1600" dirty="0"/>
              <a:t> </a:t>
            </a:r>
            <a:r>
              <a:rPr lang="de-DE" sz="1600" dirty="0" err="1"/>
              <a:t>est_counts</a:t>
            </a:r>
            <a:r>
              <a:rPr lang="de-DE" sz="1600" dirty="0"/>
              <a:t> and </a:t>
            </a:r>
            <a:r>
              <a:rPr lang="de-DE" sz="1600" dirty="0" err="1"/>
              <a:t>tpm</a:t>
            </a:r>
            <a:r>
              <a:rPr lang="de-DE" sz="1600" dirty="0"/>
              <a:t> </a:t>
            </a:r>
            <a:r>
              <a:rPr lang="de-DE" sz="1600" dirty="0" err="1"/>
              <a:t>values</a:t>
            </a:r>
            <a:r>
              <a:rPr lang="de-DE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scaled</a:t>
            </a:r>
            <a:r>
              <a:rPr lang="de-DE" sz="1600" dirty="0"/>
              <a:t> </a:t>
            </a:r>
            <a:r>
              <a:rPr lang="de-DE" sz="1600" dirty="0" err="1"/>
              <a:t>counts</a:t>
            </a:r>
            <a:r>
              <a:rPr lang="de-DE" sz="1600" dirty="0"/>
              <a:t> </a:t>
            </a:r>
            <a:r>
              <a:rPr lang="de-DE" sz="1600" dirty="0" err="1"/>
              <a:t>with</a:t>
            </a:r>
            <a:r>
              <a:rPr lang="de-DE" sz="1600" dirty="0"/>
              <a:t> </a:t>
            </a:r>
            <a:r>
              <a:rPr lang="de-DE" sz="1600" i="1" dirty="0" err="1"/>
              <a:t>lengthScaledTPM</a:t>
            </a:r>
            <a:r>
              <a:rPr lang="de-DE" sz="1600" dirty="0"/>
              <a:t> (</a:t>
            </a:r>
            <a:r>
              <a:rPr lang="de-DE" sz="1600" dirty="0" err="1"/>
              <a:t>scaled</a:t>
            </a:r>
            <a:r>
              <a:rPr lang="de-DE" sz="1600" dirty="0"/>
              <a:t> </a:t>
            </a:r>
            <a:r>
              <a:rPr lang="de-DE" sz="1600" dirty="0" err="1"/>
              <a:t>using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average</a:t>
            </a:r>
            <a:r>
              <a:rPr lang="de-DE" sz="1600" dirty="0"/>
              <a:t> </a:t>
            </a:r>
            <a:r>
              <a:rPr lang="de-DE" sz="1600" dirty="0" err="1"/>
              <a:t>transcript</a:t>
            </a:r>
            <a:r>
              <a:rPr lang="de-DE" sz="1600" dirty="0"/>
              <a:t> </a:t>
            </a:r>
            <a:r>
              <a:rPr lang="de-DE" sz="1600" dirty="0" err="1"/>
              <a:t>length</a:t>
            </a:r>
            <a:r>
              <a:rPr lang="de-DE" sz="1600" dirty="0"/>
              <a:t>, </a:t>
            </a:r>
            <a:r>
              <a:rPr lang="de-DE" sz="1600" dirty="0" err="1"/>
              <a:t>averaged</a:t>
            </a:r>
            <a:r>
              <a:rPr lang="de-DE" sz="1600" dirty="0"/>
              <a:t> </a:t>
            </a:r>
            <a:r>
              <a:rPr lang="de-DE" sz="1600" dirty="0" err="1"/>
              <a:t>over</a:t>
            </a:r>
            <a:r>
              <a:rPr lang="de-DE" sz="1600" dirty="0"/>
              <a:t> </a:t>
            </a:r>
            <a:r>
              <a:rPr lang="de-DE" sz="1600" dirty="0" err="1"/>
              <a:t>samples</a:t>
            </a:r>
            <a:r>
              <a:rPr lang="de-DE" sz="1600" dirty="0"/>
              <a:t> and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dirty="0" err="1"/>
              <a:t>library</a:t>
            </a:r>
            <a:r>
              <a:rPr lang="de-DE" sz="1600" dirty="0"/>
              <a:t> </a:t>
            </a:r>
            <a:r>
              <a:rPr lang="de-DE" sz="1600" dirty="0" err="1"/>
              <a:t>size</a:t>
            </a:r>
            <a:r>
              <a:rPr lang="de-DE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Created</a:t>
            </a:r>
            <a:r>
              <a:rPr lang="de-DE" sz="1600" dirty="0"/>
              <a:t> </a:t>
            </a:r>
            <a:r>
              <a:rPr lang="de-DE" sz="1600" dirty="0" err="1"/>
              <a:t>DESeqDataset</a:t>
            </a:r>
            <a:r>
              <a:rPr lang="de-DE" sz="1600" dirty="0"/>
              <a:t> (design ~ Experiment + </a:t>
            </a:r>
            <a:r>
              <a:rPr lang="de-DE" sz="1600" dirty="0" err="1"/>
              <a:t>infected.control</a:t>
            </a:r>
            <a:r>
              <a:rPr lang="de-DE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VST (</a:t>
            </a:r>
            <a:r>
              <a:rPr lang="de-DE" sz="1600" dirty="0" err="1"/>
              <a:t>with</a:t>
            </a:r>
            <a:r>
              <a:rPr lang="de-DE" sz="1600" dirty="0"/>
              <a:t> blind </a:t>
            </a:r>
            <a:r>
              <a:rPr lang="de-DE" sz="1600" dirty="0" err="1"/>
              <a:t>dispersion</a:t>
            </a:r>
            <a:r>
              <a:rPr lang="de-DE" sz="1600" dirty="0"/>
              <a:t> </a:t>
            </a:r>
            <a:r>
              <a:rPr lang="de-DE" sz="1600" dirty="0" err="1"/>
              <a:t>estimation</a:t>
            </a:r>
            <a:r>
              <a:rPr lang="de-DE" sz="1600" dirty="0"/>
              <a:t>) on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estimated_counts</a:t>
            </a:r>
            <a:endParaRPr lang="de-DE" sz="16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15F6501-4861-3A65-F17F-92175DCF2160}"/>
              </a:ext>
            </a:extLst>
          </p:cNvPr>
          <p:cNvSpPr txBox="1"/>
          <p:nvPr/>
        </p:nvSpPr>
        <p:spPr>
          <a:xfrm>
            <a:off x="8697293" y="2897395"/>
            <a:ext cx="3494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not </a:t>
            </a:r>
            <a:r>
              <a:rPr lang="de-DE" sz="1600" dirty="0" err="1"/>
              <a:t>filtered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outlier</a:t>
            </a:r>
            <a:r>
              <a:rPr lang="de-DE" sz="1600" dirty="0"/>
              <a:t>: Hpa2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Already</a:t>
            </a:r>
            <a:r>
              <a:rPr lang="de-DE" sz="1600" dirty="0"/>
              <a:t> </a:t>
            </a:r>
            <a:r>
              <a:rPr lang="de-DE" sz="1600" dirty="0" err="1"/>
              <a:t>failed</a:t>
            </a:r>
            <a:r>
              <a:rPr lang="de-DE" sz="1600" dirty="0"/>
              <a:t> </a:t>
            </a:r>
            <a:r>
              <a:rPr lang="de-DE" sz="1600" dirty="0" err="1"/>
              <a:t>adapter</a:t>
            </a:r>
            <a:r>
              <a:rPr lang="de-DE" sz="1600" dirty="0"/>
              <a:t> </a:t>
            </a:r>
            <a:r>
              <a:rPr lang="de-DE" sz="1600" dirty="0" err="1"/>
              <a:t>content</a:t>
            </a:r>
            <a:r>
              <a:rPr lang="de-DE" sz="1600" dirty="0"/>
              <a:t> in </a:t>
            </a:r>
            <a:r>
              <a:rPr lang="de-DE" sz="1600" dirty="0" err="1"/>
              <a:t>multiqc</a:t>
            </a:r>
            <a:r>
              <a:rPr lang="de-DE" sz="1600" dirty="0"/>
              <a:t> after </a:t>
            </a:r>
            <a:r>
              <a:rPr lang="de-DE" sz="1600" dirty="0" err="1"/>
              <a:t>trimming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Low </a:t>
            </a:r>
            <a:r>
              <a:rPr lang="de-DE" sz="1600" dirty="0" err="1"/>
              <a:t>number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aligned</a:t>
            </a:r>
            <a:r>
              <a:rPr lang="de-DE" sz="1600" dirty="0"/>
              <a:t> </a:t>
            </a:r>
            <a:r>
              <a:rPr lang="de-DE" sz="1600" dirty="0" err="1"/>
              <a:t>reads</a:t>
            </a:r>
            <a:endParaRPr lang="de-DE" sz="1600" dirty="0"/>
          </a:p>
          <a:p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5019C57-633D-E1D3-DAD9-9E789589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37" y="1816753"/>
            <a:ext cx="7533891" cy="44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68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9B57C05-C966-3064-B605-C9845022FAB7}"/>
              </a:ext>
            </a:extLst>
          </p:cNvPr>
          <p:cNvSpPr txBox="1"/>
          <p:nvPr/>
        </p:nvSpPr>
        <p:spPr>
          <a:xfrm>
            <a:off x="678426" y="235974"/>
            <a:ext cx="210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Without Hpa2: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330D9E-A95C-0DAA-E255-03A891C60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37" y="773295"/>
            <a:ext cx="10302876" cy="584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6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589ED586-DA99-0573-B73F-1131F741D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51" y="418263"/>
            <a:ext cx="9540875" cy="602147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F85A0C58-7156-A820-9AA0-491831E82699}"/>
              </a:ext>
            </a:extLst>
          </p:cNvPr>
          <p:cNvSpPr txBox="1"/>
          <p:nvPr/>
        </p:nvSpPr>
        <p:spPr>
          <a:xfrm>
            <a:off x="10003962" y="209919"/>
            <a:ext cx="208000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After </a:t>
            </a:r>
            <a:r>
              <a:rPr lang="de-DE" sz="1400" dirty="0" err="1"/>
              <a:t>filtering</a:t>
            </a:r>
            <a:r>
              <a:rPr lang="de-DE" sz="1400" dirty="0"/>
              <a:t> </a:t>
            </a:r>
            <a:r>
              <a:rPr lang="de-DE" sz="1400" dirty="0" err="1"/>
              <a:t>low</a:t>
            </a:r>
            <a:r>
              <a:rPr lang="de-DE" sz="1400" dirty="0"/>
              <a:t> </a:t>
            </a:r>
            <a:r>
              <a:rPr lang="de-DE" sz="1400" dirty="0" err="1"/>
              <a:t>expressed</a:t>
            </a:r>
            <a:r>
              <a:rPr lang="de-DE" sz="1400" dirty="0"/>
              <a:t> genes:</a:t>
            </a:r>
          </a:p>
          <a:p>
            <a:r>
              <a:rPr lang="de-DE" sz="1400" dirty="0" err="1"/>
              <a:t>Result</a:t>
            </a:r>
            <a:r>
              <a:rPr lang="de-DE" sz="1400" dirty="0"/>
              <a:t>: </a:t>
            </a:r>
          </a:p>
          <a:p>
            <a:r>
              <a:rPr lang="de-DE" sz="1400" dirty="0"/>
              <a:t>- </a:t>
            </a:r>
            <a:r>
              <a:rPr lang="de-DE" sz="1400" dirty="0" err="1"/>
              <a:t>before</a:t>
            </a:r>
            <a:r>
              <a:rPr lang="de-DE" sz="1400" dirty="0"/>
              <a:t> </a:t>
            </a:r>
            <a:r>
              <a:rPr lang="de-DE" sz="1400" dirty="0" err="1"/>
              <a:t>filtering</a:t>
            </a:r>
            <a:r>
              <a:rPr lang="de-DE" sz="1400" dirty="0"/>
              <a:t>: 27321 genes</a:t>
            </a:r>
          </a:p>
          <a:p>
            <a:r>
              <a:rPr lang="de-DE" sz="1400" dirty="0"/>
              <a:t>- after </a:t>
            </a:r>
            <a:r>
              <a:rPr lang="de-DE" sz="1400" dirty="0" err="1"/>
              <a:t>filtering</a:t>
            </a:r>
            <a:r>
              <a:rPr lang="de-DE" sz="1400" dirty="0"/>
              <a:t>: 19017 genes</a:t>
            </a:r>
          </a:p>
          <a:p>
            <a:endParaRPr lang="de-DE" sz="1400" dirty="0"/>
          </a:p>
          <a:p>
            <a:r>
              <a:rPr lang="de-DE" sz="1400" dirty="0"/>
              <a:t>--&gt; </a:t>
            </a:r>
            <a:r>
              <a:rPr lang="de-DE" sz="1400" dirty="0" err="1"/>
              <a:t>keep</a:t>
            </a:r>
            <a:r>
              <a:rPr lang="de-DE" sz="1400" dirty="0"/>
              <a:t> genes </a:t>
            </a:r>
            <a:r>
              <a:rPr lang="de-DE" sz="1400" dirty="0" err="1"/>
              <a:t>that</a:t>
            </a:r>
            <a:r>
              <a:rPr lang="de-DE" sz="1400" dirty="0"/>
              <a:t> </a:t>
            </a:r>
            <a:r>
              <a:rPr lang="de-DE" sz="1400" dirty="0" err="1"/>
              <a:t>have</a:t>
            </a:r>
            <a:r>
              <a:rPr lang="de-DE" sz="1400" dirty="0"/>
              <a:t> at least a </a:t>
            </a:r>
            <a:r>
              <a:rPr lang="de-DE" sz="1400" dirty="0" err="1"/>
              <a:t>tpm</a:t>
            </a:r>
            <a:r>
              <a:rPr lang="de-DE" sz="1400" dirty="0"/>
              <a:t> </a:t>
            </a:r>
            <a:r>
              <a:rPr lang="de-DE" sz="1400" dirty="0" err="1"/>
              <a:t>value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0.5 per sample in at least 51%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samples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639192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55D78EA-8AAF-8B29-8ECE-3867B26ED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1" y="1607506"/>
            <a:ext cx="6077847" cy="3450269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BF5B1E1-ADE3-06F1-E023-D625B80DBFDD}"/>
              </a:ext>
            </a:extLst>
          </p:cNvPr>
          <p:cNvSpPr txBox="1"/>
          <p:nvPr/>
        </p:nvSpPr>
        <p:spPr>
          <a:xfrm>
            <a:off x="371475" y="142875"/>
            <a:ext cx="184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 3 and PC 4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B8312EF-A912-43DC-CC78-0ACB74AAE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1607506"/>
            <a:ext cx="5673113" cy="358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4366AFF-0868-A621-9ACE-BABA82BFA380}"/>
              </a:ext>
            </a:extLst>
          </p:cNvPr>
          <p:cNvSpPr txBox="1"/>
          <p:nvPr/>
        </p:nvSpPr>
        <p:spPr>
          <a:xfrm>
            <a:off x="371474" y="142875"/>
            <a:ext cx="4029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PCA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aligned</a:t>
            </a:r>
            <a:r>
              <a:rPr lang="de-DE" dirty="0"/>
              <a:t> </a:t>
            </a:r>
            <a:r>
              <a:rPr lang="de-DE" dirty="0" err="1"/>
              <a:t>reads</a:t>
            </a:r>
            <a:r>
              <a:rPr lang="de-DE" dirty="0"/>
              <a:t> per sample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270D5FE-6E3A-47BB-3898-64023D8AD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4" y="778950"/>
            <a:ext cx="8952958" cy="565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35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A7437989-47D2-57A5-EC89-6C2A24076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449823"/>
            <a:ext cx="9440862" cy="5958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6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DD35B781-7B6D-C28C-3991-30F98B353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89251"/>
            <a:ext cx="5883159" cy="333974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D2EE99-7B04-08F6-E8D0-672A73F2E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130" y="0"/>
            <a:ext cx="5725906" cy="3250479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AC0CDB0-B6D9-32D9-9A35-5C932F54E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64" y="3605221"/>
            <a:ext cx="5012531" cy="316352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04B7559-87AF-601A-0995-675FD88DD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111" y="3429000"/>
            <a:ext cx="5126525" cy="3235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87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6439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</Words>
  <Application>Microsoft Macintosh PowerPoint</Application>
  <PresentationFormat>Breitbild</PresentationFormat>
  <Paragraphs>59</Paragraphs>
  <Slides>13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Symbol</vt:lpstr>
      <vt:lpstr>Office</vt:lpstr>
      <vt:lpstr>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Bender</cp:lastModifiedBy>
  <cp:revision>11</cp:revision>
  <dcterms:created xsi:type="dcterms:W3CDTF">2025-01-16T09:38:10Z</dcterms:created>
  <dcterms:modified xsi:type="dcterms:W3CDTF">2025-01-27T20:06:23Z</dcterms:modified>
</cp:coreProperties>
</file>