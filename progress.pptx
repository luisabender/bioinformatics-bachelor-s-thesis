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61" r:id="rId2"/>
    <p:sldId id="260" r:id="rId3"/>
    <p:sldId id="262" r:id="rId4"/>
    <p:sldId id="264" r:id="rId5"/>
    <p:sldId id="272" r:id="rId6"/>
    <p:sldId id="268" r:id="rId7"/>
    <p:sldId id="269" r:id="rId8"/>
    <p:sldId id="270" r:id="rId9"/>
    <p:sldId id="271" r:id="rId10"/>
    <p:sldId id="273" r:id="rId11"/>
    <p:sldId id="282" r:id="rId12"/>
    <p:sldId id="274" r:id="rId13"/>
    <p:sldId id="277" r:id="rId14"/>
    <p:sldId id="275" r:id="rId15"/>
    <p:sldId id="276" r:id="rId16"/>
    <p:sldId id="285" r:id="rId17"/>
    <p:sldId id="286" r:id="rId18"/>
    <p:sldId id="279" r:id="rId19"/>
    <p:sldId id="288" r:id="rId20"/>
    <p:sldId id="291" r:id="rId21"/>
    <p:sldId id="283" r:id="rId22"/>
    <p:sldId id="284" r:id="rId23"/>
    <p:sldId id="289" r:id="rId24"/>
    <p:sldId id="290" r:id="rId2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85"/>
    <p:restoredTop sz="94630"/>
  </p:normalViewPr>
  <p:slideViewPr>
    <p:cSldViewPr snapToGrid="0">
      <p:cViewPr>
        <p:scale>
          <a:sx n="100" d="100"/>
          <a:sy n="100" d="100"/>
        </p:scale>
        <p:origin x="376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1F0B43-6B19-1044-8D4F-E46BB78FCD8B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D45610-1111-DE43-BB32-464D9E891A9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340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9837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67133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3550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1016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8C4B20-F5ED-5829-770C-89D552FFB3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5B065A8-3B8F-EAA1-3CA2-3DA29F5C8C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18E6C3-80EE-DB29-3499-4F3C02A3D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044186-C262-39D9-B876-5C4BC0573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D363515-A22A-9D71-77F3-8384393A2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55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D17705-F7D7-0C5B-EC5C-6DBD2CD95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7E2EF6-A35C-F3EA-A393-A4C82D49C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097948E-EE73-5377-0572-62E177883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2FC790-0ED7-2755-8EAA-56C33F63F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689717-3447-0831-6A7E-A213C7028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1487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147568-4CAB-2364-C09E-500D5E1C8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C133EC9-FCCD-F3C6-2761-A251B9035B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49B144-CBAC-0127-D279-3C77AB336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9B985B-E8E4-DB6E-487E-ADDD0FF20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B4F4CF-E3F7-AD70-9E52-306A063F0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0984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6B479E-A482-0BBF-CF2C-EA02BF68F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CD8BFF8-6B2A-1342-1CC8-5AFE4744F7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3868EE-5665-85E2-69F7-32B5D4096C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4D75A88-3F2D-83F4-D35E-CA47AD824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20ADD0F-01B8-0AF5-24B0-75DC00F31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0F69D39-9D1E-8BC5-5F9E-94220302D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6746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03E97C-A2CB-CE75-1695-C8F3852C3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E705987-BA79-73CF-B362-EE09E690B3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CCA9E21-89A2-6D94-408F-6A08E29342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7012240-B8CF-BAFC-731E-6924319181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D173A1D-4A77-A38D-A656-031CCA71A9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BF5093A-B398-7C54-896D-0D24078AD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87EC2B6-5E99-15D6-DFC5-3798D25B2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3FD4E6A-5684-43A4-D485-ED4068374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1862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50804A-F305-8270-0387-ED143DA24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946C8BC-72DC-0A10-28D7-18E10D49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8EB9B31-1081-83BF-9389-695346FEA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7B36480-7DE5-9505-8A29-EFE9EEDF0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2350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7D486EE-3425-0F3C-2A44-79C6CEF98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F0DFF20-D49C-DE81-87F2-4A24076EC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0DFB45-6D0A-68EB-DC10-8F08C6D8C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8818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E6930A-3E1A-5D8B-3DD4-2CA9F35A5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F37720-5F17-92C2-142D-5236E8E0CF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5B980D-4B6C-8A8E-B884-B8ED93052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755F78-DF00-ECE3-9D1C-9680E2189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33A732D-72FE-DF12-5C34-5CEB574A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7249EA-AF46-CA7B-6500-059133A0A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411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5AFD3-CBCB-D139-BEE6-D607AB555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A4D6B12-45DB-D681-F7B8-F62695FBA0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32F9DED-4DFD-A88D-F2BB-7E10E6A6EE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61963D-6B27-A254-2A3F-24ADAD0C1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467855A-A19B-46BA-AC6A-2CC8B8DD9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2C5539-4F44-C9D4-952E-5A3775F1C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5592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CE96EB-8024-6438-67C8-8FF6A8FC3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7FC229B-7EF1-D392-6083-DD1CA6DEB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FE39396-8DBE-B1F5-5D87-08DC15132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87D278E-9418-945A-EE28-0BD4246FB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168B27-AC5C-1375-7342-774CC0E72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0183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0F806B6-07C7-AAC3-505E-4F2C23CD15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88238A7-60A3-3D40-0EBD-49059BC73A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4459C40-7F0A-53F4-40A7-9FBF5551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2768F1-089A-177C-A60A-49A408302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8EE9580-186C-B696-216A-B5CFBA90C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7658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E7AFC7C-10F0-8682-0793-5343AEBB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2E2ABD3-527D-38FE-F1A3-0E368D6419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0AC2D0-F4A2-D04F-D3B1-BB5BC9FD6A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0AD465-2E42-BF43-6C09-4F607DA306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7DB3C32-4DD3-06C8-162A-AAF5D800E2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6951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emf"/><Relationship Id="rId4" Type="http://schemas.openxmlformats.org/officeDocument/2006/relationships/image" Target="../media/image23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emf"/><Relationship Id="rId5" Type="http://schemas.openxmlformats.org/officeDocument/2006/relationships/image" Target="../media/image28.emf"/><Relationship Id="rId4" Type="http://schemas.openxmlformats.org/officeDocument/2006/relationships/image" Target="../media/image27.e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E81741-1A0E-B91B-9133-08A7736A5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172" y="458304"/>
            <a:ext cx="10515600" cy="1325563"/>
          </a:xfrm>
        </p:spPr>
        <p:txBody>
          <a:bodyPr/>
          <a:lstStyle/>
          <a:p>
            <a:r>
              <a:rPr lang="de-DE"/>
              <a:t>Progress</a:t>
            </a:r>
            <a:endParaRPr lang="de-DE" dirty="0"/>
          </a:p>
        </p:txBody>
      </p: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4013182-8CC2-4EF3-7177-AAD99FAB02C9}"/>
              </a:ext>
            </a:extLst>
          </p:cNvPr>
          <p:cNvSpPr/>
          <p:nvPr/>
        </p:nvSpPr>
        <p:spPr>
          <a:xfrm>
            <a:off x="3062747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Downloading</a:t>
            </a:r>
            <a:r>
              <a:rPr lang="de-DE" dirty="0"/>
              <a:t> all </a:t>
            </a:r>
            <a:r>
              <a:rPr lang="de-DE" dirty="0" err="1"/>
              <a:t>samples</a:t>
            </a:r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188E6390-EC9E-481C-D249-E919FCE99C47}"/>
              </a:ext>
            </a:extLst>
          </p:cNvPr>
          <p:cNvSpPr/>
          <p:nvPr/>
        </p:nvSpPr>
        <p:spPr>
          <a:xfrm>
            <a:off x="5444779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Trimming</a:t>
            </a:r>
            <a:r>
              <a:rPr lang="de-DE" dirty="0"/>
              <a:t> (</a:t>
            </a:r>
            <a:r>
              <a:rPr lang="de-DE" dirty="0" err="1"/>
              <a:t>fastp</a:t>
            </a:r>
            <a:r>
              <a:rPr lang="de-DE" dirty="0"/>
              <a:t>)</a:t>
            </a:r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E3EFB548-AF06-6DA8-5A8A-D3616CE75288}"/>
              </a:ext>
            </a:extLst>
          </p:cNvPr>
          <p:cNvSpPr/>
          <p:nvPr/>
        </p:nvSpPr>
        <p:spPr>
          <a:xfrm>
            <a:off x="7924933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FastQC</a:t>
            </a:r>
            <a:r>
              <a:rPr lang="de-DE" dirty="0"/>
              <a:t> and </a:t>
            </a:r>
            <a:r>
              <a:rPr lang="de-DE" dirty="0" err="1"/>
              <a:t>MultiQC</a:t>
            </a:r>
            <a:endParaRPr lang="de-DE" dirty="0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1172C79E-977B-BBBB-DAD1-747312175707}"/>
              </a:ext>
            </a:extLst>
          </p:cNvPr>
          <p:cNvSpPr/>
          <p:nvPr/>
        </p:nvSpPr>
        <p:spPr>
          <a:xfrm>
            <a:off x="620172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Searching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Datasets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ED4C86D-85B3-257A-8DB5-F2E48D2E63A0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2486721" y="2180062"/>
            <a:ext cx="5760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2CE3DF8-623E-5B6B-EDD7-9B935E5BA3C9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4929296" y="2180061"/>
            <a:ext cx="51548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64AB0F95-67D2-34E9-DAA9-AFEE17BCDE84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7311328" y="2180061"/>
            <a:ext cx="61360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Gewinkelte Verbindung 16">
            <a:extLst>
              <a:ext uri="{FF2B5EF4-FFF2-40B4-BE49-F238E27FC236}">
                <a16:creationId xmlns:a16="http://schemas.microsoft.com/office/drawing/2014/main" id="{07318707-0360-A447-B2D8-97C32A7DF3D6}"/>
              </a:ext>
            </a:extLst>
          </p:cNvPr>
          <p:cNvCxnSpPr>
            <a:cxnSpLocks/>
            <a:stCxn id="5" idx="0"/>
            <a:endCxn id="4" idx="0"/>
          </p:cNvCxnSpPr>
          <p:nvPr/>
        </p:nvCxnSpPr>
        <p:spPr>
          <a:xfrm rot="16200000" flipV="1">
            <a:off x="7618131" y="544116"/>
            <a:ext cx="12700" cy="2480154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Abgerundetes Rechteck 17">
            <a:extLst>
              <a:ext uri="{FF2B5EF4-FFF2-40B4-BE49-F238E27FC236}">
                <a16:creationId xmlns:a16="http://schemas.microsoft.com/office/drawing/2014/main" id="{BA5F3359-45D7-D7FF-12CB-70855009A59C}"/>
              </a:ext>
            </a:extLst>
          </p:cNvPr>
          <p:cNvSpPr/>
          <p:nvPr/>
        </p:nvSpPr>
        <p:spPr>
          <a:xfrm>
            <a:off x="626570" y="2971799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Kallisto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and </a:t>
            </a:r>
            <a:r>
              <a:rPr lang="de-DE" dirty="0" err="1"/>
              <a:t>paired</a:t>
            </a:r>
            <a:endParaRPr lang="de-DE" dirty="0"/>
          </a:p>
        </p:txBody>
      </p:sp>
      <p:cxnSp>
        <p:nvCxnSpPr>
          <p:cNvPr id="19" name="Gewinkelte Verbindung 18">
            <a:extLst>
              <a:ext uri="{FF2B5EF4-FFF2-40B4-BE49-F238E27FC236}">
                <a16:creationId xmlns:a16="http://schemas.microsoft.com/office/drawing/2014/main" id="{BF224ADC-672D-A615-07F3-CA537AC86A4F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626570" y="2180062"/>
            <a:ext cx="9164912" cy="1187606"/>
          </a:xfrm>
          <a:prstGeom prst="bentConnector5">
            <a:avLst>
              <a:gd name="adj1" fmla="val -2494"/>
              <a:gd name="adj2" fmla="val 50000"/>
              <a:gd name="adj3" fmla="val 102494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Abgerundetes Rechteck 23">
            <a:extLst>
              <a:ext uri="{FF2B5EF4-FFF2-40B4-BE49-F238E27FC236}">
                <a16:creationId xmlns:a16="http://schemas.microsoft.com/office/drawing/2014/main" id="{8CEB41EC-5703-477B-4A6E-66A1BB5438D7}"/>
              </a:ext>
            </a:extLst>
          </p:cNvPr>
          <p:cNvSpPr/>
          <p:nvPr/>
        </p:nvSpPr>
        <p:spPr>
          <a:xfrm>
            <a:off x="3617907" y="2971800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tximport</a:t>
            </a:r>
            <a:endParaRPr lang="de-DE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BC1B8831-846D-D068-5AB1-0F21E3B891A0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2886635" y="3367667"/>
            <a:ext cx="731272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7" name="Abgerundetes Rechteck 26">
            <a:extLst>
              <a:ext uri="{FF2B5EF4-FFF2-40B4-BE49-F238E27FC236}">
                <a16:creationId xmlns:a16="http://schemas.microsoft.com/office/drawing/2014/main" id="{B35A079F-1729-7537-D16E-4317165D3EF0}"/>
              </a:ext>
            </a:extLst>
          </p:cNvPr>
          <p:cNvSpPr/>
          <p:nvPr/>
        </p:nvSpPr>
        <p:spPr>
          <a:xfrm>
            <a:off x="626570" y="4159404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WGCNA – network </a:t>
            </a:r>
            <a:r>
              <a:rPr lang="de-DE" dirty="0" err="1"/>
              <a:t>construction</a:t>
            </a:r>
            <a:endParaRPr lang="de-DE" dirty="0"/>
          </a:p>
        </p:txBody>
      </p:sp>
      <p:sp>
        <p:nvSpPr>
          <p:cNvPr id="29" name="Abgerundetes Rechteck 28">
            <a:extLst>
              <a:ext uri="{FF2B5EF4-FFF2-40B4-BE49-F238E27FC236}">
                <a16:creationId xmlns:a16="http://schemas.microsoft.com/office/drawing/2014/main" id="{22918352-13FD-D7F8-7AD0-2EF39073BEFA}"/>
              </a:ext>
            </a:extLst>
          </p:cNvPr>
          <p:cNvSpPr/>
          <p:nvPr/>
        </p:nvSpPr>
        <p:spPr>
          <a:xfrm>
            <a:off x="6314030" y="2965450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Gene </a:t>
            </a:r>
            <a:r>
              <a:rPr lang="de-DE" dirty="0" err="1"/>
              <a:t>filtering</a:t>
            </a:r>
            <a:r>
              <a:rPr lang="de-DE" dirty="0"/>
              <a:t>, VST and PCA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38D81E6A-EBA0-22C0-B68B-0B03CCE6D441}"/>
              </a:ext>
            </a:extLst>
          </p:cNvPr>
          <p:cNvCxnSpPr>
            <a:cxnSpLocks/>
            <a:stCxn id="24" idx="3"/>
            <a:endCxn id="29" idx="1"/>
          </p:cNvCxnSpPr>
          <p:nvPr/>
        </p:nvCxnSpPr>
        <p:spPr>
          <a:xfrm flipV="1">
            <a:off x="5877972" y="3361319"/>
            <a:ext cx="436058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Gewinkelte Verbindung 7">
            <a:extLst>
              <a:ext uri="{FF2B5EF4-FFF2-40B4-BE49-F238E27FC236}">
                <a16:creationId xmlns:a16="http://schemas.microsoft.com/office/drawing/2014/main" id="{CE3F798F-06B5-8FFB-90E7-84B9C70A1F6F}"/>
              </a:ext>
            </a:extLst>
          </p:cNvPr>
          <p:cNvCxnSpPr>
            <a:cxnSpLocks/>
            <a:stCxn id="29" idx="3"/>
            <a:endCxn id="27" idx="1"/>
          </p:cNvCxnSpPr>
          <p:nvPr/>
        </p:nvCxnSpPr>
        <p:spPr>
          <a:xfrm flipH="1">
            <a:off x="626570" y="3361319"/>
            <a:ext cx="7947525" cy="1193954"/>
          </a:xfrm>
          <a:prstGeom prst="bentConnector5">
            <a:avLst>
              <a:gd name="adj1" fmla="val -2876"/>
              <a:gd name="adj2" fmla="val 50000"/>
              <a:gd name="adj3" fmla="val 102876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" name="Abgerundetes Rechteck 13">
            <a:extLst>
              <a:ext uri="{FF2B5EF4-FFF2-40B4-BE49-F238E27FC236}">
                <a16:creationId xmlns:a16="http://schemas.microsoft.com/office/drawing/2014/main" id="{DCDF5ACC-E24B-E265-60E2-9997562A47F4}"/>
              </a:ext>
            </a:extLst>
          </p:cNvPr>
          <p:cNvSpPr/>
          <p:nvPr/>
        </p:nvSpPr>
        <p:spPr>
          <a:xfrm>
            <a:off x="3630385" y="4159406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WGCNA – </a:t>
            </a:r>
            <a:r>
              <a:rPr lang="de-DE" dirty="0" err="1"/>
              <a:t>trait</a:t>
            </a:r>
            <a:r>
              <a:rPr lang="de-DE" dirty="0"/>
              <a:t> </a:t>
            </a:r>
            <a:r>
              <a:rPr lang="de-DE" dirty="0" err="1"/>
              <a:t>matching</a:t>
            </a:r>
            <a:endParaRPr lang="de-DE" dirty="0"/>
          </a:p>
        </p:txBody>
      </p:sp>
      <p:sp>
        <p:nvSpPr>
          <p:cNvPr id="15" name="Abgerundetes Rechteck 14">
            <a:extLst>
              <a:ext uri="{FF2B5EF4-FFF2-40B4-BE49-F238E27FC236}">
                <a16:creationId xmlns:a16="http://schemas.microsoft.com/office/drawing/2014/main" id="{99FD9516-29AC-4A28-AADC-BD1AB1581669}"/>
              </a:ext>
            </a:extLst>
          </p:cNvPr>
          <p:cNvSpPr/>
          <p:nvPr/>
        </p:nvSpPr>
        <p:spPr>
          <a:xfrm>
            <a:off x="6646678" y="4159406"/>
            <a:ext cx="2620603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WGCNA – </a:t>
            </a:r>
            <a:r>
              <a:rPr lang="de-DE" dirty="0" err="1"/>
              <a:t>target</a:t>
            </a:r>
            <a:r>
              <a:rPr lang="de-DE" dirty="0"/>
              <a:t> </a:t>
            </a:r>
            <a:r>
              <a:rPr lang="de-DE" dirty="0" err="1"/>
              <a:t>gene</a:t>
            </a:r>
            <a:r>
              <a:rPr lang="de-DE" dirty="0"/>
              <a:t> </a:t>
            </a:r>
            <a:r>
              <a:rPr lang="de-DE" dirty="0" err="1"/>
              <a:t>identification</a:t>
            </a:r>
            <a:endParaRPr lang="de-DE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EC70B499-F723-8F04-E286-255AD6BBEEBF}"/>
              </a:ext>
            </a:extLst>
          </p:cNvPr>
          <p:cNvCxnSpPr>
            <a:cxnSpLocks/>
          </p:cNvCxnSpPr>
          <p:nvPr/>
        </p:nvCxnSpPr>
        <p:spPr>
          <a:xfrm>
            <a:off x="2886635" y="4555274"/>
            <a:ext cx="731272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256C7E2A-24A8-F00B-0148-43796DFDB446}"/>
              </a:ext>
            </a:extLst>
          </p:cNvPr>
          <p:cNvCxnSpPr>
            <a:cxnSpLocks/>
          </p:cNvCxnSpPr>
          <p:nvPr/>
        </p:nvCxnSpPr>
        <p:spPr>
          <a:xfrm>
            <a:off x="5902928" y="4542573"/>
            <a:ext cx="731272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Abgerundetes Rechteck 20">
            <a:extLst>
              <a:ext uri="{FF2B5EF4-FFF2-40B4-BE49-F238E27FC236}">
                <a16:creationId xmlns:a16="http://schemas.microsoft.com/office/drawing/2014/main" id="{ECD6064F-B80D-5D62-EC7F-DB5C10D95AC1}"/>
              </a:ext>
            </a:extLst>
          </p:cNvPr>
          <p:cNvSpPr/>
          <p:nvPr/>
        </p:nvSpPr>
        <p:spPr>
          <a:xfrm>
            <a:off x="631668" y="5340662"/>
            <a:ext cx="2620603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Functional</a:t>
            </a:r>
            <a:r>
              <a:rPr lang="de-DE" dirty="0"/>
              <a:t> </a:t>
            </a:r>
            <a:r>
              <a:rPr lang="de-DE" dirty="0" err="1"/>
              <a:t>enrichment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</p:txBody>
      </p:sp>
      <p:cxnSp>
        <p:nvCxnSpPr>
          <p:cNvPr id="22" name="Gewinkelte Verbindung 21">
            <a:extLst>
              <a:ext uri="{FF2B5EF4-FFF2-40B4-BE49-F238E27FC236}">
                <a16:creationId xmlns:a16="http://schemas.microsoft.com/office/drawing/2014/main" id="{107879B4-27E9-9797-AF36-3C9266D9AE9A}"/>
              </a:ext>
            </a:extLst>
          </p:cNvPr>
          <p:cNvCxnSpPr>
            <a:cxnSpLocks/>
            <a:stCxn id="15" idx="3"/>
            <a:endCxn id="21" idx="1"/>
          </p:cNvCxnSpPr>
          <p:nvPr/>
        </p:nvCxnSpPr>
        <p:spPr>
          <a:xfrm flipH="1">
            <a:off x="631668" y="4555275"/>
            <a:ext cx="8635613" cy="1181256"/>
          </a:xfrm>
          <a:prstGeom prst="bentConnector5">
            <a:avLst>
              <a:gd name="adj1" fmla="val -2647"/>
              <a:gd name="adj2" fmla="val 50000"/>
              <a:gd name="adj3" fmla="val 10264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73024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BD23D-89F3-BDE9-2AB5-CA05AEB7F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Datasets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919667-7CE4-E5F4-6D1E-7954313B9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11038" cy="435133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 err="1"/>
              <a:t>Biotrophic</a:t>
            </a:r>
            <a:r>
              <a:rPr lang="de-DE" sz="1600" dirty="0"/>
              <a:t> </a:t>
            </a:r>
            <a:r>
              <a:rPr lang="de-DE" sz="1600" dirty="0" err="1"/>
              <a:t>pathogens</a:t>
            </a:r>
            <a:r>
              <a:rPr lang="de-DE" sz="1600" dirty="0"/>
              <a:t>:	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Golovinomyces</a:t>
            </a:r>
            <a:r>
              <a:rPr lang="de-DE" sz="1600" dirty="0"/>
              <a:t> </a:t>
            </a:r>
            <a:r>
              <a:rPr lang="de-DE" sz="1600" dirty="0" err="1"/>
              <a:t>orontii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Erysiphe</a:t>
            </a:r>
            <a:r>
              <a:rPr lang="de-DE" sz="1600" dirty="0"/>
              <a:t> </a:t>
            </a:r>
            <a:r>
              <a:rPr lang="de-DE" sz="1600" dirty="0" err="1"/>
              <a:t>cichoracearum</a:t>
            </a:r>
            <a:r>
              <a:rPr lang="de-DE" sz="1600" dirty="0"/>
              <a:t> 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Hyaloperonospora</a:t>
            </a:r>
            <a:r>
              <a:rPr lang="de-DE" sz="1600" dirty="0"/>
              <a:t> </a:t>
            </a:r>
            <a:r>
              <a:rPr lang="de-DE" sz="1600" dirty="0" err="1"/>
              <a:t>arabidopsidis</a:t>
            </a:r>
            <a:r>
              <a:rPr lang="de-DE" sz="1600" dirty="0"/>
              <a:t> (2 Datasets)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Plasmodiophora</a:t>
            </a:r>
            <a:r>
              <a:rPr lang="de-DE" sz="1600" dirty="0"/>
              <a:t> </a:t>
            </a:r>
            <a:r>
              <a:rPr lang="de-DE" sz="1600" dirty="0" err="1"/>
              <a:t>brassicae</a:t>
            </a:r>
            <a:r>
              <a:rPr lang="de-DE" sz="1600" dirty="0"/>
              <a:t> (2 </a:t>
            </a:r>
            <a:r>
              <a:rPr lang="de-DE" sz="1600" dirty="0" err="1"/>
              <a:t>Datasetes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Turnip</a:t>
            </a:r>
            <a:r>
              <a:rPr lang="de-DE" sz="1600" dirty="0"/>
              <a:t> </a:t>
            </a:r>
            <a:r>
              <a:rPr lang="de-DE" sz="1600" dirty="0" err="1"/>
              <a:t>mosaic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TuMV</a:t>
            </a:r>
            <a:r>
              <a:rPr lang="de-DE" sz="1600" dirty="0"/>
              <a:t>) (2 </a:t>
            </a:r>
            <a:r>
              <a:rPr lang="de-DE" sz="1600" dirty="0" err="1"/>
              <a:t>Datasts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Heterodera</a:t>
            </a:r>
            <a:r>
              <a:rPr lang="de-DE" sz="1600" dirty="0"/>
              <a:t> </a:t>
            </a:r>
            <a:r>
              <a:rPr lang="de-DE" sz="1600" dirty="0" err="1"/>
              <a:t>schachtii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Turnip</a:t>
            </a:r>
            <a:r>
              <a:rPr lang="de-DE" sz="1600" dirty="0"/>
              <a:t> </a:t>
            </a:r>
            <a:r>
              <a:rPr lang="de-DE" sz="1600" dirty="0" err="1"/>
              <a:t>yellows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TuYV</a:t>
            </a:r>
            <a:r>
              <a:rPr lang="de-DE" sz="1600" dirty="0"/>
              <a:t>) 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Cauliflower</a:t>
            </a:r>
            <a:r>
              <a:rPr lang="de-DE" sz="1600" dirty="0"/>
              <a:t> </a:t>
            </a:r>
            <a:r>
              <a:rPr lang="de-DE" sz="1600" dirty="0" err="1"/>
              <a:t>mosaic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CaMV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Meloidogyne</a:t>
            </a:r>
            <a:r>
              <a:rPr lang="de-DE" sz="1600" dirty="0"/>
              <a:t> </a:t>
            </a:r>
            <a:r>
              <a:rPr lang="de-DE" sz="1600" dirty="0" err="1"/>
              <a:t>javanica</a:t>
            </a:r>
            <a:endParaRPr lang="de-DE" sz="1600" dirty="0"/>
          </a:p>
          <a:p>
            <a:endParaRPr lang="de-DE" dirty="0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F1A31B45-2AC3-12DC-650A-B8C1F5AE7571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481103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1600" dirty="0"/>
              <a:t>Control:	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Drought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/>
              <a:t>Botrytis cinerea (</a:t>
            </a:r>
            <a:r>
              <a:rPr lang="de-DE" sz="1600" dirty="0" err="1"/>
              <a:t>necrotrophic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/>
              <a:t>Alternaria </a:t>
            </a:r>
            <a:r>
              <a:rPr lang="de-DE" sz="1600" dirty="0" err="1"/>
              <a:t>brassicae</a:t>
            </a:r>
            <a:r>
              <a:rPr lang="de-DE" sz="1600" dirty="0"/>
              <a:t> (</a:t>
            </a:r>
            <a:r>
              <a:rPr lang="de-DE" sz="1600" dirty="0" err="1"/>
              <a:t>necrotrophic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pPr marL="0" indent="0">
              <a:buNone/>
            </a:pPr>
            <a:r>
              <a:rPr lang="de-DE" sz="1600" dirty="0" err="1"/>
              <a:t>Altogether</a:t>
            </a:r>
            <a:r>
              <a:rPr lang="de-DE" sz="1600" dirty="0"/>
              <a:t>:</a:t>
            </a:r>
          </a:p>
          <a:p>
            <a:pPr marL="0" indent="0">
              <a:buNone/>
            </a:pPr>
            <a:r>
              <a:rPr lang="de-DE" sz="1600" dirty="0"/>
              <a:t>283 </a:t>
            </a:r>
            <a:r>
              <a:rPr lang="de-DE" sz="1600" dirty="0" err="1"/>
              <a:t>samples</a:t>
            </a:r>
            <a:endParaRPr lang="de-DE" sz="1600" dirty="0"/>
          </a:p>
          <a:p>
            <a:pPr marL="0" indent="0">
              <a:buNone/>
            </a:pPr>
            <a:r>
              <a:rPr lang="de-DE" sz="1600" dirty="0"/>
              <a:t>141 single-end, 142 </a:t>
            </a:r>
            <a:r>
              <a:rPr lang="de-DE" sz="1600" dirty="0" err="1"/>
              <a:t>paired</a:t>
            </a:r>
            <a:r>
              <a:rPr lang="de-DE" sz="1600" dirty="0"/>
              <a:t>-end</a:t>
            </a:r>
          </a:p>
          <a:p>
            <a:pPr marL="0" indent="0">
              <a:buNone/>
            </a:pPr>
            <a:endParaRPr lang="de-DE" sz="1600" dirty="0"/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4890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09ED03F5-809D-5FAC-6E7D-8C8913683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6" y="769172"/>
            <a:ext cx="11672620" cy="544294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DBD7C152-02C3-EE73-5600-0D25C46E40A1}"/>
              </a:ext>
            </a:extLst>
          </p:cNvPr>
          <p:cNvSpPr txBox="1"/>
          <p:nvPr/>
        </p:nvSpPr>
        <p:spPr>
          <a:xfrm>
            <a:off x="391886" y="276555"/>
            <a:ext cx="10305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Harder </a:t>
            </a:r>
            <a:r>
              <a:rPr lang="de-DE" dirty="0" err="1"/>
              <a:t>trimming</a:t>
            </a:r>
            <a:r>
              <a:rPr lang="de-DE" dirty="0"/>
              <a:t> on </a:t>
            </a:r>
            <a:r>
              <a:rPr lang="de-DE" dirty="0" err="1"/>
              <a:t>P.brassicae</a:t>
            </a:r>
            <a:r>
              <a:rPr lang="de-DE" dirty="0"/>
              <a:t> </a:t>
            </a:r>
            <a:r>
              <a:rPr lang="de-DE" dirty="0" err="1"/>
              <a:t>samples</a:t>
            </a:r>
            <a:r>
              <a:rPr lang="de-DE" dirty="0"/>
              <a:t> -&gt;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quality</a:t>
            </a:r>
            <a:r>
              <a:rPr lang="de-DE" dirty="0"/>
              <a:t> </a:t>
            </a:r>
            <a:r>
              <a:rPr lang="de-DE" dirty="0" err="1"/>
              <a:t>threshold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</a:t>
            </a:r>
            <a:r>
              <a:rPr lang="de-DE" dirty="0" err="1"/>
              <a:t>quality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A7E771D-5ED0-9B16-DFB3-8A83181C5BBD}"/>
              </a:ext>
            </a:extLst>
          </p:cNvPr>
          <p:cNvSpPr txBox="1"/>
          <p:nvPr/>
        </p:nvSpPr>
        <p:spPr>
          <a:xfrm>
            <a:off x="9083842" y="3198167"/>
            <a:ext cx="17004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Failed</a:t>
            </a:r>
            <a:r>
              <a:rPr lang="de-DE" sz="1200" dirty="0"/>
              <a:t> </a:t>
            </a:r>
            <a:r>
              <a:rPr lang="de-DE" sz="1200" dirty="0" err="1"/>
              <a:t>adapter</a:t>
            </a:r>
            <a:r>
              <a:rPr lang="de-DE" sz="1200" dirty="0"/>
              <a:t> </a:t>
            </a:r>
            <a:r>
              <a:rPr lang="de-DE" sz="1200" dirty="0" err="1"/>
              <a:t>content</a:t>
            </a:r>
            <a:r>
              <a:rPr lang="de-DE" sz="1200" dirty="0"/>
              <a:t> in Hpa2 Experiment</a:t>
            </a:r>
          </a:p>
        </p:txBody>
      </p:sp>
      <p:cxnSp>
        <p:nvCxnSpPr>
          <p:cNvPr id="6" name="Gewinkelte Verbindung 5">
            <a:extLst>
              <a:ext uri="{FF2B5EF4-FFF2-40B4-BE49-F238E27FC236}">
                <a16:creationId xmlns:a16="http://schemas.microsoft.com/office/drawing/2014/main" id="{68F50DBE-DF1B-9188-BAD2-FA6A37B5E5A9}"/>
              </a:ext>
            </a:extLst>
          </p:cNvPr>
          <p:cNvCxnSpPr/>
          <p:nvPr/>
        </p:nvCxnSpPr>
        <p:spPr>
          <a:xfrm rot="16200000" flipV="1">
            <a:off x="10355180" y="2999874"/>
            <a:ext cx="673767" cy="18448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5414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B0A723A1-22AC-EAB3-8C5F-92818D4D2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559" y="200905"/>
            <a:ext cx="10614990" cy="665709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A2CC39E-79D0-E804-56EB-928F58D6AA8B}"/>
              </a:ext>
            </a:extLst>
          </p:cNvPr>
          <p:cNvSpPr txBox="1"/>
          <p:nvPr/>
        </p:nvSpPr>
        <p:spPr>
          <a:xfrm>
            <a:off x="4494218" y="463639"/>
            <a:ext cx="1803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A.Brassicae</a:t>
            </a:r>
            <a:r>
              <a:rPr lang="de-DE" sz="1200" dirty="0"/>
              <a:t> (</a:t>
            </a:r>
            <a:r>
              <a:rPr lang="de-DE" sz="1200" dirty="0" err="1"/>
              <a:t>necrotroph</a:t>
            </a:r>
            <a:r>
              <a:rPr lang="de-DE" sz="1200" dirty="0"/>
              <a:t>) - </a:t>
            </a:r>
            <a:r>
              <a:rPr lang="de-DE" sz="1200" dirty="0" err="1"/>
              <a:t>infected</a:t>
            </a:r>
            <a:endParaRPr lang="de-DE" sz="1200" dirty="0"/>
          </a:p>
        </p:txBody>
      </p:sp>
      <p:cxnSp>
        <p:nvCxnSpPr>
          <p:cNvPr id="9" name="Gerade Verbindung 8">
            <a:extLst>
              <a:ext uri="{FF2B5EF4-FFF2-40B4-BE49-F238E27FC236}">
                <a16:creationId xmlns:a16="http://schemas.microsoft.com/office/drawing/2014/main" id="{A951E18F-9FC2-A25E-9397-CA0A5CAB12E6}"/>
              </a:ext>
            </a:extLst>
          </p:cNvPr>
          <p:cNvCxnSpPr/>
          <p:nvPr/>
        </p:nvCxnSpPr>
        <p:spPr>
          <a:xfrm>
            <a:off x="4494218" y="925304"/>
            <a:ext cx="669702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98E89C41-325B-D79B-A242-D92222218F3B}"/>
              </a:ext>
            </a:extLst>
          </p:cNvPr>
          <p:cNvSpPr txBox="1"/>
          <p:nvPr/>
        </p:nvSpPr>
        <p:spPr>
          <a:xfrm>
            <a:off x="8852005" y="4136313"/>
            <a:ext cx="12164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G.orontii</a:t>
            </a:r>
            <a:endParaRPr lang="de-DE" sz="1200" dirty="0"/>
          </a:p>
        </p:txBody>
      </p:sp>
      <p:cxnSp>
        <p:nvCxnSpPr>
          <p:cNvPr id="12" name="Gerade Verbindung 11">
            <a:extLst>
              <a:ext uri="{FF2B5EF4-FFF2-40B4-BE49-F238E27FC236}">
                <a16:creationId xmlns:a16="http://schemas.microsoft.com/office/drawing/2014/main" id="{D15EEB13-2723-3A16-00DC-30EC1695786A}"/>
              </a:ext>
            </a:extLst>
          </p:cNvPr>
          <p:cNvCxnSpPr>
            <a:cxnSpLocks/>
          </p:cNvCxnSpPr>
          <p:nvPr/>
        </p:nvCxnSpPr>
        <p:spPr>
          <a:xfrm>
            <a:off x="9291786" y="4413312"/>
            <a:ext cx="0" cy="56498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8B974317-D563-5B67-0C46-F3DBA0455C6F}"/>
              </a:ext>
            </a:extLst>
          </p:cNvPr>
          <p:cNvSpPr txBox="1"/>
          <p:nvPr/>
        </p:nvSpPr>
        <p:spPr>
          <a:xfrm>
            <a:off x="2111794" y="5301895"/>
            <a:ext cx="1803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Hpa3 - </a:t>
            </a:r>
            <a:r>
              <a:rPr lang="de-DE" sz="1200" dirty="0" err="1"/>
              <a:t>very</a:t>
            </a:r>
            <a:r>
              <a:rPr lang="de-DE" sz="1200" dirty="0"/>
              <a:t> </a:t>
            </a:r>
            <a:r>
              <a:rPr lang="de-DE" sz="1200" dirty="0" err="1"/>
              <a:t>few</a:t>
            </a:r>
            <a:r>
              <a:rPr lang="de-DE" sz="1200" dirty="0"/>
              <a:t> </a:t>
            </a:r>
            <a:r>
              <a:rPr lang="de-DE" sz="1200" dirty="0" err="1"/>
              <a:t>reads</a:t>
            </a:r>
            <a:endParaRPr lang="de-DE" sz="1200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BDC97E1-D013-569E-9912-D0C5DC40B8E4}"/>
              </a:ext>
            </a:extLst>
          </p:cNvPr>
          <p:cNvSpPr txBox="1"/>
          <p:nvPr/>
        </p:nvSpPr>
        <p:spPr>
          <a:xfrm>
            <a:off x="4584698" y="3767659"/>
            <a:ext cx="669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Hpa2</a:t>
            </a:r>
          </a:p>
        </p:txBody>
      </p:sp>
      <p:cxnSp>
        <p:nvCxnSpPr>
          <p:cNvPr id="19" name="Gerade Verbindung 18">
            <a:extLst>
              <a:ext uri="{FF2B5EF4-FFF2-40B4-BE49-F238E27FC236}">
                <a16:creationId xmlns:a16="http://schemas.microsoft.com/office/drawing/2014/main" id="{DAFCDD8D-F314-712B-8D58-2686406C66C9}"/>
              </a:ext>
            </a:extLst>
          </p:cNvPr>
          <p:cNvCxnSpPr>
            <a:cxnSpLocks/>
          </p:cNvCxnSpPr>
          <p:nvPr/>
        </p:nvCxnSpPr>
        <p:spPr>
          <a:xfrm>
            <a:off x="4753535" y="4136313"/>
            <a:ext cx="0" cy="94101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1420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85A0C58-7156-A820-9AA0-491831E82699}"/>
              </a:ext>
            </a:extLst>
          </p:cNvPr>
          <p:cNvSpPr txBox="1"/>
          <p:nvPr/>
        </p:nvSpPr>
        <p:spPr>
          <a:xfrm>
            <a:off x="10003962" y="209919"/>
            <a:ext cx="208000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/>
              <a:t>filtering</a:t>
            </a:r>
            <a:r>
              <a:rPr lang="de-DE" sz="1400" dirty="0"/>
              <a:t> </a:t>
            </a:r>
            <a:r>
              <a:rPr lang="de-DE" sz="1400" dirty="0" err="1"/>
              <a:t>low</a:t>
            </a:r>
            <a:r>
              <a:rPr lang="de-DE" sz="1400" dirty="0"/>
              <a:t> </a:t>
            </a:r>
            <a:r>
              <a:rPr lang="de-DE" sz="1400" dirty="0" err="1"/>
              <a:t>expressed</a:t>
            </a:r>
            <a:r>
              <a:rPr lang="de-DE" sz="1400" dirty="0"/>
              <a:t> genes:</a:t>
            </a:r>
          </a:p>
          <a:p>
            <a:r>
              <a:rPr lang="de-DE" sz="1400" dirty="0" err="1"/>
              <a:t>Result</a:t>
            </a:r>
            <a:r>
              <a:rPr lang="de-DE" sz="1400" dirty="0"/>
              <a:t>: </a:t>
            </a:r>
          </a:p>
          <a:p>
            <a:r>
              <a:rPr lang="de-DE" sz="1400" dirty="0"/>
              <a:t>- </a:t>
            </a:r>
            <a:r>
              <a:rPr lang="de-DE" sz="1400" dirty="0" err="1"/>
              <a:t>before</a:t>
            </a:r>
            <a:r>
              <a:rPr lang="de-DE" sz="1400" dirty="0"/>
              <a:t> </a:t>
            </a:r>
            <a:r>
              <a:rPr lang="de-DE" sz="1400" dirty="0" err="1"/>
              <a:t>filtering</a:t>
            </a:r>
            <a:r>
              <a:rPr lang="de-DE" sz="1400" dirty="0"/>
              <a:t>: 27321 genes</a:t>
            </a:r>
          </a:p>
          <a:p>
            <a:r>
              <a:rPr lang="de-DE" sz="1400" dirty="0"/>
              <a:t>- after </a:t>
            </a:r>
            <a:r>
              <a:rPr lang="de-DE" sz="1400" dirty="0" err="1"/>
              <a:t>filtering</a:t>
            </a:r>
            <a:r>
              <a:rPr lang="de-DE" sz="1400" dirty="0"/>
              <a:t>: 24991 genes</a:t>
            </a:r>
          </a:p>
          <a:p>
            <a:endParaRPr lang="de-DE" sz="1400" dirty="0"/>
          </a:p>
          <a:p>
            <a:r>
              <a:rPr lang="de-DE" sz="1400" dirty="0"/>
              <a:t>--&gt; </a:t>
            </a:r>
            <a:r>
              <a:rPr lang="de-DE" sz="1400" dirty="0" err="1"/>
              <a:t>keep</a:t>
            </a:r>
            <a:r>
              <a:rPr lang="de-DE" sz="1400" dirty="0"/>
              <a:t> genes </a:t>
            </a:r>
            <a:r>
              <a:rPr lang="de-DE" sz="1400" dirty="0" err="1"/>
              <a:t>that</a:t>
            </a:r>
            <a:r>
              <a:rPr lang="de-DE" sz="1400" dirty="0"/>
              <a:t> </a:t>
            </a:r>
            <a:r>
              <a:rPr lang="de-DE" sz="1400" dirty="0" err="1"/>
              <a:t>have</a:t>
            </a:r>
            <a:r>
              <a:rPr lang="de-DE" sz="1400" dirty="0"/>
              <a:t> at least a </a:t>
            </a:r>
            <a:r>
              <a:rPr lang="de-DE" sz="1400" dirty="0" err="1"/>
              <a:t>tpm</a:t>
            </a:r>
            <a:r>
              <a:rPr lang="de-DE" sz="1400" dirty="0"/>
              <a:t> </a:t>
            </a:r>
            <a:r>
              <a:rPr lang="de-DE" sz="1400" dirty="0" err="1"/>
              <a:t>value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0.5 per sample in at least 3 </a:t>
            </a:r>
            <a:r>
              <a:rPr lang="de-DE" sz="1400" dirty="0" err="1"/>
              <a:t>of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samples</a:t>
            </a:r>
            <a:endParaRPr lang="de-DE" sz="14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5E4831F-B61E-07A5-1B66-534D1EF6F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107" y="352071"/>
            <a:ext cx="8842938" cy="6153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1920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CBF5B1E1-ADE3-06F1-E023-D625B80DBFDD}"/>
              </a:ext>
            </a:extLst>
          </p:cNvPr>
          <p:cNvSpPr txBox="1"/>
          <p:nvPr/>
        </p:nvSpPr>
        <p:spPr>
          <a:xfrm>
            <a:off x="371475" y="142875"/>
            <a:ext cx="1843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PC 3 and PC 4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F68AC43-9921-C060-5421-EF8A24DC4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599" y="512207"/>
            <a:ext cx="8443823" cy="5876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071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54366AFF-0868-A621-9ACE-BABA82BFA380}"/>
              </a:ext>
            </a:extLst>
          </p:cNvPr>
          <p:cNvSpPr txBox="1"/>
          <p:nvPr/>
        </p:nvSpPr>
        <p:spPr>
          <a:xfrm>
            <a:off x="371474" y="142875"/>
            <a:ext cx="40290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PCA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aligned</a:t>
            </a:r>
            <a:r>
              <a:rPr lang="de-DE" dirty="0"/>
              <a:t> </a:t>
            </a:r>
            <a:r>
              <a:rPr lang="de-DE" dirty="0" err="1"/>
              <a:t>reads</a:t>
            </a:r>
            <a:r>
              <a:rPr lang="de-DE" dirty="0"/>
              <a:t> per sample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619F72C-09A9-FC38-FCB3-72F4E54F1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853" y="724568"/>
            <a:ext cx="7772400" cy="540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5351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C234BC9-DF64-2527-822F-1B14D63DAD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600" y="406400"/>
            <a:ext cx="7772400" cy="540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6666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C9455300-0D32-47BE-EA2C-BAABBE75D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4056"/>
            <a:ext cx="6308157" cy="4389887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5A78343-1CA1-F8E2-6F76-1717B1DE3B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3442" y="1397454"/>
            <a:ext cx="5838558" cy="4063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487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67D3E4D8-D516-59A2-7C9C-1599E063EB6F}"/>
              </a:ext>
            </a:extLst>
          </p:cNvPr>
          <p:cNvSpPr txBox="1"/>
          <p:nvPr/>
        </p:nvSpPr>
        <p:spPr>
          <a:xfrm>
            <a:off x="0" y="120770"/>
            <a:ext cx="5382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Starting</a:t>
            </a:r>
            <a:r>
              <a:rPr lang="de-DE" dirty="0"/>
              <a:t> WGCNA: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A22CD34-B8CC-8602-BEAB-1C4F1C86A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7" y="773778"/>
            <a:ext cx="10895169" cy="579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439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43431059-721A-4BCA-29B7-A0E4C7EB2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541" y="161413"/>
            <a:ext cx="8730195" cy="6535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765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DA719E4A-D938-C0E7-42EA-205042C79906}"/>
              </a:ext>
            </a:extLst>
          </p:cNvPr>
          <p:cNvSpPr txBox="1"/>
          <p:nvPr/>
        </p:nvSpPr>
        <p:spPr>
          <a:xfrm>
            <a:off x="0" y="120770"/>
            <a:ext cx="5382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Network </a:t>
            </a:r>
            <a:r>
              <a:rPr lang="de-DE" dirty="0" err="1"/>
              <a:t>construction</a:t>
            </a:r>
            <a:r>
              <a:rPr lang="de-DE" dirty="0"/>
              <a:t>: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22F77D2-040A-8F1F-7B7B-6A977C64DE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418" y="490102"/>
            <a:ext cx="9857117" cy="610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7999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6EFE977F-C51F-A246-8F87-447C49CA1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48" y="228600"/>
            <a:ext cx="6617110" cy="6617110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61A10C2D-C889-93C4-4B0C-E4AA525293E9}"/>
              </a:ext>
            </a:extLst>
          </p:cNvPr>
          <p:cNvSpPr txBox="1"/>
          <p:nvPr/>
        </p:nvSpPr>
        <p:spPr>
          <a:xfrm>
            <a:off x="7359445" y="457200"/>
            <a:ext cx="34216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Soft power: 5</a:t>
            </a:r>
          </a:p>
          <a:p>
            <a:endParaRPr lang="de-DE" dirty="0"/>
          </a:p>
          <a:p>
            <a:r>
              <a:rPr lang="de-DE" dirty="0"/>
              <a:t># Modules after </a:t>
            </a:r>
            <a:r>
              <a:rPr lang="de-DE" dirty="0" err="1"/>
              <a:t>merging</a:t>
            </a:r>
            <a:r>
              <a:rPr lang="de-DE" dirty="0"/>
              <a:t>: 18</a:t>
            </a:r>
          </a:p>
          <a:p>
            <a:r>
              <a:rPr lang="de-DE" dirty="0"/>
              <a:t># Genes in </a:t>
            </a:r>
            <a:r>
              <a:rPr lang="de-DE" dirty="0" err="1"/>
              <a:t>grey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: 25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6B74E0A-5A60-4AD4-D3DB-470F9C221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0475" y="3537155"/>
            <a:ext cx="7772400" cy="1239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3105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63C42725-E3D8-DC76-BE8F-05E9A9BFBB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47" y="23004"/>
            <a:ext cx="6834996" cy="6834996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4596A240-B40B-F9E6-B18B-ED741751578D}"/>
              </a:ext>
            </a:extLst>
          </p:cNvPr>
          <p:cNvSpPr txBox="1"/>
          <p:nvPr/>
        </p:nvSpPr>
        <p:spPr>
          <a:xfrm>
            <a:off x="7919883" y="412955"/>
            <a:ext cx="333313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soft power: 6</a:t>
            </a:r>
          </a:p>
          <a:p>
            <a:endParaRPr lang="de-DE" dirty="0"/>
          </a:p>
          <a:p>
            <a:r>
              <a:rPr lang="de-DE" dirty="0"/>
              <a:t># Modules after </a:t>
            </a:r>
            <a:r>
              <a:rPr lang="de-DE" dirty="0" err="1"/>
              <a:t>merging</a:t>
            </a:r>
            <a:r>
              <a:rPr lang="de-DE" dirty="0"/>
              <a:t>: 19</a:t>
            </a:r>
          </a:p>
          <a:p>
            <a:r>
              <a:rPr lang="de-DE" dirty="0"/>
              <a:t># Genes in </a:t>
            </a:r>
            <a:r>
              <a:rPr lang="de-DE" dirty="0" err="1"/>
              <a:t>grey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: 131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1C3C471-8A11-DE0E-97DA-AB250AC142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0618" y="3429000"/>
            <a:ext cx="7772400" cy="1122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1298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E412451E-E860-DA3C-DF6C-504A97DFC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7987"/>
            <a:ext cx="6740013" cy="6740013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5AB58388-C389-BCF4-953D-E3655C12522C}"/>
              </a:ext>
            </a:extLst>
          </p:cNvPr>
          <p:cNvSpPr txBox="1"/>
          <p:nvPr/>
        </p:nvSpPr>
        <p:spPr>
          <a:xfrm>
            <a:off x="7919883" y="412955"/>
            <a:ext cx="333313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soft power: 7</a:t>
            </a:r>
          </a:p>
          <a:p>
            <a:endParaRPr lang="de-DE" dirty="0"/>
          </a:p>
          <a:p>
            <a:r>
              <a:rPr lang="de-DE" dirty="0"/>
              <a:t># Modules after </a:t>
            </a:r>
            <a:r>
              <a:rPr lang="de-DE" dirty="0" err="1"/>
              <a:t>merging</a:t>
            </a:r>
            <a:r>
              <a:rPr lang="de-DE" dirty="0"/>
              <a:t>: 19</a:t>
            </a:r>
          </a:p>
          <a:p>
            <a:r>
              <a:rPr lang="de-DE" dirty="0"/>
              <a:t># Genes in </a:t>
            </a:r>
            <a:r>
              <a:rPr lang="de-DE" dirty="0" err="1"/>
              <a:t>grey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: 314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33572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98B990F9-BD11-2B43-E0CE-CF382014E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0" y="153161"/>
            <a:ext cx="9204960" cy="6551678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50A00226-D57E-D6BA-1A66-697E58CF1B71}"/>
              </a:ext>
            </a:extLst>
          </p:cNvPr>
          <p:cNvSpPr txBox="1"/>
          <p:nvPr/>
        </p:nvSpPr>
        <p:spPr>
          <a:xfrm>
            <a:off x="220717" y="315310"/>
            <a:ext cx="1970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Soft power: 5</a:t>
            </a:r>
          </a:p>
        </p:txBody>
      </p:sp>
    </p:spTree>
    <p:extLst>
      <p:ext uri="{BB962C8B-B14F-4D97-AF65-F5344CB8AC3E}">
        <p14:creationId xmlns:p14="http://schemas.microsoft.com/office/powerpoint/2010/main" val="30314653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05ED8717-3BC0-86FB-248E-F8EBE5CF2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626" y="256592"/>
            <a:ext cx="7921071" cy="6466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664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8C2C73CD-F512-4D67-2E1C-53056D7837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393" y="233769"/>
            <a:ext cx="8808841" cy="6390462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2971CAA4-6CC5-AABF-4A83-C26C4D140E9C}"/>
              </a:ext>
            </a:extLst>
          </p:cNvPr>
          <p:cNvSpPr txBox="1"/>
          <p:nvPr/>
        </p:nvSpPr>
        <p:spPr>
          <a:xfrm>
            <a:off x="220717" y="315310"/>
            <a:ext cx="1970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Soft power: 6</a:t>
            </a:r>
          </a:p>
        </p:txBody>
      </p:sp>
    </p:spTree>
    <p:extLst>
      <p:ext uri="{BB962C8B-B14F-4D97-AF65-F5344CB8AC3E}">
        <p14:creationId xmlns:p14="http://schemas.microsoft.com/office/powerpoint/2010/main" val="1187388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5DB95B39-4C32-6773-2FA1-AA118F75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75" y="571499"/>
            <a:ext cx="8084927" cy="5944799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6568F259-F4EF-7259-89E7-D956F8CA7DFA}"/>
              </a:ext>
            </a:extLst>
          </p:cNvPr>
          <p:cNvSpPr txBox="1"/>
          <p:nvPr/>
        </p:nvSpPr>
        <p:spPr>
          <a:xfrm>
            <a:off x="8654602" y="1029587"/>
            <a:ext cx="332274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Hierarchical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clustering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dendrogram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of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module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eigengenes (and all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pathogens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)</a:t>
            </a:r>
          </a:p>
          <a:p>
            <a:r>
              <a:rPr lang="de-DE" dirty="0">
                <a:solidFill>
                  <a:srgbClr val="333333"/>
                </a:solidFill>
                <a:sym typeface="Wingdings" pitchFamily="2" charset="2"/>
              </a:rPr>
              <a:t> Group </a:t>
            </a:r>
            <a:r>
              <a:rPr lang="de-DE" dirty="0" err="1">
                <a:solidFill>
                  <a:srgbClr val="333333"/>
                </a:solidFill>
                <a:sym typeface="Wingdings" pitchFamily="2" charset="2"/>
              </a:rPr>
              <a:t>together</a:t>
            </a:r>
            <a:r>
              <a:rPr lang="de-DE" dirty="0">
                <a:solidFill>
                  <a:srgbClr val="333333"/>
                </a:solidFill>
                <a:sym typeface="Wingdings" pitchFamily="2" charset="2"/>
              </a:rPr>
              <a:t> eigengenes </a:t>
            </a:r>
            <a:r>
              <a:rPr lang="de-DE" dirty="0" err="1">
                <a:solidFill>
                  <a:srgbClr val="333333"/>
                </a:solidFill>
                <a:sym typeface="Wingdings" pitchFamily="2" charset="2"/>
              </a:rPr>
              <a:t>that</a:t>
            </a:r>
            <a:r>
              <a:rPr lang="de-DE" dirty="0">
                <a:solidFill>
                  <a:srgbClr val="333333"/>
                </a:solidFill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333333"/>
                </a:solidFill>
                <a:sym typeface="Wingdings" pitchFamily="2" charset="2"/>
              </a:rPr>
              <a:t>are</a:t>
            </a:r>
            <a:r>
              <a:rPr lang="de-DE" dirty="0">
                <a:solidFill>
                  <a:srgbClr val="333333"/>
                </a:solidFill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333333"/>
                </a:solidFill>
                <a:sym typeface="Wingdings" pitchFamily="2" charset="2"/>
              </a:rPr>
              <a:t>positively</a:t>
            </a:r>
            <a:r>
              <a:rPr lang="de-DE" dirty="0">
                <a:solidFill>
                  <a:srgbClr val="333333"/>
                </a:solidFill>
                <a:sym typeface="Wingdings" pitchFamily="2" charset="2"/>
              </a:rPr>
              <a:t> </a:t>
            </a:r>
            <a:r>
              <a:rPr lang="de-DE" dirty="0" err="1">
                <a:solidFill>
                  <a:srgbClr val="333333"/>
                </a:solidFill>
                <a:sym typeface="Wingdings" pitchFamily="2" charset="2"/>
              </a:rPr>
              <a:t>correlated</a:t>
            </a:r>
            <a:endParaRPr lang="de-DE" b="0" i="0" u="none" strike="noStrike" dirty="0">
              <a:solidFill>
                <a:srgbClr val="333333"/>
              </a:solidFill>
              <a:effectLst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1007F23-7D8C-A6C6-7FC5-0795EA852161}"/>
              </a:ext>
            </a:extLst>
          </p:cNvPr>
          <p:cNvSpPr txBox="1"/>
          <p:nvPr/>
        </p:nvSpPr>
        <p:spPr>
          <a:xfrm>
            <a:off x="9144001" y="3889420"/>
            <a:ext cx="2691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Heatmap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of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the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adjacencies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in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the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eigengene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network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including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 all </a:t>
            </a:r>
            <a:r>
              <a:rPr lang="de-DE" b="0" i="0" u="none" strike="noStrike" dirty="0" err="1">
                <a:solidFill>
                  <a:srgbClr val="333333"/>
                </a:solidFill>
                <a:effectLst/>
              </a:rPr>
              <a:t>pathognes</a:t>
            </a:r>
            <a:r>
              <a:rPr lang="de-DE" b="0" i="0" u="none" strike="noStrike" dirty="0">
                <a:solidFill>
                  <a:srgbClr val="333333"/>
                </a:solidFill>
                <a:effectLst/>
              </a:rPr>
              <a:t>. 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789504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AED6C121-2D15-5CE4-9EA2-0CF18256A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94" y="1229968"/>
            <a:ext cx="6286500" cy="46101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C6F0246A-48A0-B4B3-CF9E-9F9D3D281C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16002"/>
            <a:ext cx="2745031" cy="274503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E05B76BA-EC62-52FE-F800-714DAB4BFE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5673" y="3430990"/>
            <a:ext cx="3092050" cy="309205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1DCDA98-7CF7-C2B8-0535-3134567DE5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6251" y="1306863"/>
            <a:ext cx="3336503" cy="2446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8312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0789FEC3-AF0B-CC32-6900-98EDD6A7F0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451538" cy="345153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CF9EC3E5-6FD7-A31A-1BA3-505CF5002F28}"/>
              </a:ext>
            </a:extLst>
          </p:cNvPr>
          <p:cNvSpPr txBox="1"/>
          <p:nvPr/>
        </p:nvSpPr>
        <p:spPr>
          <a:xfrm>
            <a:off x="7738055" y="746975"/>
            <a:ext cx="414378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è"/>
            </a:pPr>
            <a:r>
              <a:rPr lang="de-DE" dirty="0" err="1"/>
              <a:t>Identify</a:t>
            </a:r>
            <a:r>
              <a:rPr lang="de-DE" dirty="0"/>
              <a:t> genes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a high </a:t>
            </a:r>
            <a:r>
              <a:rPr lang="de-DE" dirty="0" err="1"/>
              <a:t>significance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respective</a:t>
            </a:r>
            <a:r>
              <a:rPr lang="de-DE" dirty="0"/>
              <a:t> pathogen AND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de-DE" dirty="0"/>
              <a:t>High </a:t>
            </a:r>
            <a:r>
              <a:rPr lang="de-DE" dirty="0" err="1"/>
              <a:t>membership</a:t>
            </a:r>
            <a:r>
              <a:rPr lang="de-DE" dirty="0"/>
              <a:t> in </a:t>
            </a:r>
            <a:r>
              <a:rPr lang="de-DE" dirty="0" err="1"/>
              <a:t>interesting</a:t>
            </a:r>
            <a:r>
              <a:rPr lang="de-DE" dirty="0"/>
              <a:t> </a:t>
            </a:r>
            <a:r>
              <a:rPr lang="de-DE" dirty="0" err="1"/>
              <a:t>modules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9E5010C-BAA4-48EA-47EC-5A5B6D01AB0C}"/>
              </a:ext>
            </a:extLst>
          </p:cNvPr>
          <p:cNvSpPr txBox="1"/>
          <p:nvPr/>
        </p:nvSpPr>
        <p:spPr>
          <a:xfrm>
            <a:off x="7374230" y="231820"/>
            <a:ext cx="4507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Gene </a:t>
            </a:r>
            <a:r>
              <a:rPr lang="de-DE" dirty="0" err="1"/>
              <a:t>significance</a:t>
            </a:r>
            <a:r>
              <a:rPr lang="de-DE" dirty="0"/>
              <a:t> and Module Membership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985B1795-DACE-8FF3-5CFC-904230682E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17" y="3429000"/>
            <a:ext cx="3356021" cy="3356021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1A4FF0D-55CB-2418-D7B6-C9FB3C251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1538" y="0"/>
            <a:ext cx="3451538" cy="3451538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340116E9-DB1B-47AD-EFFE-A17105032E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1538" y="3429000"/>
            <a:ext cx="3429000" cy="3429000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6EF00EA6-5062-DB44-7F7A-05828B19CF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076" y="3523221"/>
            <a:ext cx="3624451" cy="333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080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324E59A3-5514-5DFF-C067-8D8F314CF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425"/>
            <a:ext cx="6776357" cy="426434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4A8E073-56AA-A9E6-46F7-AF0FD5F62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9464" y="1295825"/>
            <a:ext cx="5142216" cy="3455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6644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BF278B40-0863-139B-7797-39C6F90E04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295400"/>
            <a:ext cx="6751805" cy="4124739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D4B1767-E9B2-C2AE-5EEA-1BDA283D2F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1804" y="1706217"/>
            <a:ext cx="5406866" cy="3303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60559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C802A1EC-C417-8DEE-B797-A48AD96B9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145" y="728871"/>
            <a:ext cx="8740063" cy="5339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5864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324</Words>
  <Application>Microsoft Macintosh PowerPoint</Application>
  <PresentationFormat>Breitbild</PresentationFormat>
  <Paragraphs>73</Paragraphs>
  <Slides>24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Symbol</vt:lpstr>
      <vt:lpstr>Wingdings</vt:lpstr>
      <vt:lpstr>Office</vt:lpstr>
      <vt:lpstr>Progress</vt:lpstr>
      <vt:lpstr>Datasets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Luisa Bender</dc:creator>
  <cp:lastModifiedBy>Luisa Katharina Bender</cp:lastModifiedBy>
  <cp:revision>13</cp:revision>
  <dcterms:created xsi:type="dcterms:W3CDTF">2025-01-16T09:38:10Z</dcterms:created>
  <dcterms:modified xsi:type="dcterms:W3CDTF">2025-02-09T13:21:35Z</dcterms:modified>
</cp:coreProperties>
</file>