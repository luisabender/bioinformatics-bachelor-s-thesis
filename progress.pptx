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1" r:id="rId2"/>
    <p:sldId id="260" r:id="rId3"/>
    <p:sldId id="258" r:id="rId4"/>
    <p:sldId id="262" r:id="rId5"/>
    <p:sldId id="264" r:id="rId6"/>
    <p:sldId id="265" r:id="rId7"/>
    <p:sldId id="267" r:id="rId8"/>
    <p:sldId id="272" r:id="rId9"/>
    <p:sldId id="268" r:id="rId10"/>
    <p:sldId id="269" r:id="rId11"/>
    <p:sldId id="270" r:id="rId12"/>
    <p:sldId id="271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2"/>
    <p:restoredTop sz="94676"/>
  </p:normalViewPr>
  <p:slideViewPr>
    <p:cSldViewPr snapToGrid="0">
      <p:cViewPr varScale="1">
        <p:scale>
          <a:sx n="110" d="100"/>
          <a:sy n="110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F0B43-6B19-1044-8D4F-E46BB78FCD8B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45610-1111-DE43-BB32-464D9E891A9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340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837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13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355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8C4B20-F5ED-5829-770C-89D552FFB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B065A8-3B8F-EAA1-3CA2-3DA29F5C8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18E6C3-80EE-DB29-3499-4F3C02A3D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044186-C262-39D9-B876-5C4BC057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63515-A22A-9D71-77F3-8384393A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55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17705-F7D7-0C5B-EC5C-6DBD2CD9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E2EF6-A35C-F3EA-A393-A4C82D49C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7948E-EE73-5377-0572-62E17788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2FC790-0ED7-2755-8EAA-56C33F63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89717-3447-0831-6A7E-A213C702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7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147568-4CAB-2364-C09E-500D5E1C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133EC9-FCCD-F3C6-2761-A251B9035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49B144-CBAC-0127-D279-3C77AB33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9B985B-E8E4-DB6E-487E-ADDD0FF2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B4F4CF-E3F7-AD70-9E52-306A063F0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98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6B479E-A482-0BBF-CF2C-EA02BF68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D8BFF8-6B2A-1342-1CC8-5AFE4744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3868EE-5665-85E2-69F7-32B5D4096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D75A88-3F2D-83F4-D35E-CA47AD82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0ADD0F-01B8-0AF5-24B0-75DC00F3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F69D39-9D1E-8BC5-5F9E-94220302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746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03E97C-A2CB-CE75-1695-C8F3852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705987-BA79-73CF-B362-EE09E690B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CA9E21-89A2-6D94-408F-6A08E2934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012240-B8CF-BAFC-731E-6924319181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173A1D-4A77-A38D-A656-031CCA71A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F5093A-B398-7C54-896D-0D24078A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7EC2B6-5E99-15D6-DFC5-3798D25B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FD4E6A-5684-43A4-D485-ED406837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862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23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D486EE-3425-0F3C-2A44-79C6CEF9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DFF20-D49C-DE81-87F2-4A24076EC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0DFB45-6D0A-68EB-DC10-8F08C6D8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81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6930A-3E1A-5D8B-3DD4-2CA9F35A5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F37720-5F17-92C2-142D-5236E8E0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5B980D-4B6C-8A8E-B884-B8ED9305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755F78-DF00-ECE3-9D1C-9680E2189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33A732D-72FE-DF12-5C34-5CEB574A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7249EA-AF46-CA7B-6500-059133A0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11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AFD3-CBCB-D139-BEE6-D607AB55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4D6B12-45DB-D681-F7B8-F62695FBA0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2F9DED-4DFD-A88D-F2BB-7E10E6A6E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61963D-6B27-A254-2A3F-24ADAD0C1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7855A-A19B-46BA-AC6A-2CC8B8DD9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2C5539-4F44-C9D4-952E-5A3775F1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5592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96EB-8024-6438-67C8-8FF6A8FC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FC229B-7EF1-D392-6083-DD1CA6DE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39396-8DBE-B1F5-5D87-08DC1513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D278E-9418-945A-EE28-0BD4246F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68B27-AC5C-1375-7342-774CC0E72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183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F806B6-07C7-AAC3-505E-4F2C23CD1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8238A7-60A3-3D40-0EBD-49059BC73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459C40-7F0A-53F4-40A7-9FBF5551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768F1-089A-177C-A60A-49A40830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EE9580-186C-B696-216A-B5CFBA90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58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7AFC7C-10F0-8682-0793-5343AEBB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E2ABD3-527D-38FE-F1A3-0E368D641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AC2D0-F4A2-D04F-D3B1-BB5BC9FD6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AD465-2E42-BF43-6C09-4F607DA30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DB3C32-4DD3-06C8-162A-AAF5D800E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9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81741-1A0E-B91B-9133-08A7736A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72" y="458304"/>
            <a:ext cx="10515600" cy="1325563"/>
          </a:xfrm>
        </p:spPr>
        <p:txBody>
          <a:bodyPr/>
          <a:lstStyle/>
          <a:p>
            <a:r>
              <a:rPr lang="de-DE"/>
              <a:t>Progress</a:t>
            </a:r>
            <a:endParaRPr lang="de-DE" dirty="0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4013182-8CC2-4EF3-7177-AAD99FAB02C9}"/>
              </a:ext>
            </a:extLst>
          </p:cNvPr>
          <p:cNvSpPr/>
          <p:nvPr/>
        </p:nvSpPr>
        <p:spPr>
          <a:xfrm>
            <a:off x="3062747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Downloading</a:t>
            </a:r>
            <a:r>
              <a:rPr lang="de-DE" dirty="0"/>
              <a:t> all </a:t>
            </a:r>
            <a:r>
              <a:rPr lang="de-DE" dirty="0" err="1"/>
              <a:t>samples</a:t>
            </a:r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188E6390-EC9E-481C-D249-E919FCE99C47}"/>
              </a:ext>
            </a:extLst>
          </p:cNvPr>
          <p:cNvSpPr/>
          <p:nvPr/>
        </p:nvSpPr>
        <p:spPr>
          <a:xfrm>
            <a:off x="5444779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Trimming</a:t>
            </a:r>
            <a:r>
              <a:rPr lang="de-DE" dirty="0"/>
              <a:t> (</a:t>
            </a:r>
            <a:r>
              <a:rPr lang="de-DE" dirty="0" err="1"/>
              <a:t>fastp</a:t>
            </a:r>
            <a:r>
              <a:rPr lang="de-DE" dirty="0"/>
              <a:t>)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3EFB548-AF06-6DA8-5A8A-D3616CE75288}"/>
              </a:ext>
            </a:extLst>
          </p:cNvPr>
          <p:cNvSpPr/>
          <p:nvPr/>
        </p:nvSpPr>
        <p:spPr>
          <a:xfrm>
            <a:off x="7924933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FastQC</a:t>
            </a:r>
            <a:r>
              <a:rPr lang="de-DE" dirty="0"/>
              <a:t> and </a:t>
            </a:r>
            <a:r>
              <a:rPr lang="de-DE" dirty="0" err="1"/>
              <a:t>MultiQC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172C79E-977B-BBBB-DAD1-747312175707}"/>
              </a:ext>
            </a:extLst>
          </p:cNvPr>
          <p:cNvSpPr/>
          <p:nvPr/>
        </p:nvSpPr>
        <p:spPr>
          <a:xfrm>
            <a:off x="620172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Searching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Datasets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ED4C86D-85B3-257A-8DB5-F2E48D2E63A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486721" y="2180062"/>
            <a:ext cx="576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2CE3DF8-623E-5B6B-EDD7-9B935E5BA3C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29296" y="2180061"/>
            <a:ext cx="51548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4AB0F95-67D2-34E9-DAA9-AFEE17BCDE8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7311328" y="2180061"/>
            <a:ext cx="61360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Gewinkelte Verbindung 16">
            <a:extLst>
              <a:ext uri="{FF2B5EF4-FFF2-40B4-BE49-F238E27FC236}">
                <a16:creationId xmlns:a16="http://schemas.microsoft.com/office/drawing/2014/main" id="{07318707-0360-A447-B2D8-97C32A7DF3D6}"/>
              </a:ext>
            </a:extLst>
          </p:cNvPr>
          <p:cNvCxnSpPr>
            <a:cxnSpLocks/>
            <a:stCxn id="5" idx="0"/>
            <a:endCxn id="4" idx="0"/>
          </p:cNvCxnSpPr>
          <p:nvPr/>
        </p:nvCxnSpPr>
        <p:spPr>
          <a:xfrm rot="16200000" flipV="1">
            <a:off x="7618131" y="544116"/>
            <a:ext cx="12700" cy="24801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BA5F3359-45D7-D7FF-12CB-70855009A59C}"/>
              </a:ext>
            </a:extLst>
          </p:cNvPr>
          <p:cNvSpPr/>
          <p:nvPr/>
        </p:nvSpPr>
        <p:spPr>
          <a:xfrm>
            <a:off x="626570" y="2971799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Kallisto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and </a:t>
            </a:r>
            <a:r>
              <a:rPr lang="de-DE" dirty="0" err="1"/>
              <a:t>paired</a:t>
            </a:r>
            <a:endParaRPr lang="de-DE" dirty="0"/>
          </a:p>
        </p:txBody>
      </p: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BF224ADC-672D-A615-07F3-CA537AC86A4F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626570" y="2180062"/>
            <a:ext cx="9164912" cy="1187606"/>
          </a:xfrm>
          <a:prstGeom prst="bentConnector5">
            <a:avLst>
              <a:gd name="adj1" fmla="val -2494"/>
              <a:gd name="adj2" fmla="val 50000"/>
              <a:gd name="adj3" fmla="val 10249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Abgerundetes Rechteck 23">
            <a:extLst>
              <a:ext uri="{FF2B5EF4-FFF2-40B4-BE49-F238E27FC236}">
                <a16:creationId xmlns:a16="http://schemas.microsoft.com/office/drawing/2014/main" id="{8CEB41EC-5703-477B-4A6E-66A1BB5438D7}"/>
              </a:ext>
            </a:extLst>
          </p:cNvPr>
          <p:cNvSpPr/>
          <p:nvPr/>
        </p:nvSpPr>
        <p:spPr>
          <a:xfrm>
            <a:off x="3617907" y="297180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tximport</a:t>
            </a:r>
            <a:endParaRPr lang="de-DE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C1B8831-846D-D068-5AB1-0F21E3B891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886635" y="3367667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B35A079F-1729-7537-D16E-4317165D3EF0}"/>
              </a:ext>
            </a:extLst>
          </p:cNvPr>
          <p:cNvSpPr/>
          <p:nvPr/>
        </p:nvSpPr>
        <p:spPr>
          <a:xfrm>
            <a:off x="1357842" y="4555272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CE4EE252-5143-1D16-D769-78A4776197A8}"/>
              </a:ext>
            </a:extLst>
          </p:cNvPr>
          <p:cNvSpPr txBox="1"/>
          <p:nvPr/>
        </p:nvSpPr>
        <p:spPr>
          <a:xfrm>
            <a:off x="620172" y="4627974"/>
            <a:ext cx="731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Next </a:t>
            </a:r>
            <a:r>
              <a:rPr lang="de-DE" dirty="0" err="1"/>
              <a:t>up</a:t>
            </a:r>
            <a:r>
              <a:rPr lang="de-DE" dirty="0"/>
              <a:t>:</a:t>
            </a:r>
          </a:p>
        </p:txBody>
      </p: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22918352-13FD-D7F8-7AD0-2EF39073BEFA}"/>
              </a:ext>
            </a:extLst>
          </p:cNvPr>
          <p:cNvSpPr/>
          <p:nvPr/>
        </p:nvSpPr>
        <p:spPr>
          <a:xfrm>
            <a:off x="6314030" y="296545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VST, PCA and </a:t>
            </a:r>
            <a:r>
              <a:rPr lang="de-DE" dirty="0" err="1"/>
              <a:t>filtering</a:t>
            </a:r>
            <a:endParaRPr lang="de-DE" dirty="0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8D81E6A-EBA0-22C0-B68B-0B03CCE6D44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 flipV="1">
            <a:off x="5877972" y="3361319"/>
            <a:ext cx="436058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30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BD23D-89F3-BDE9-2AB5-CA05AEB7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19667-7CE4-E5F4-6D1E-7954313B9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1038" cy="435133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 err="1"/>
              <a:t>Biotrophic</a:t>
            </a:r>
            <a:r>
              <a:rPr lang="de-DE" sz="1600" dirty="0"/>
              <a:t> </a:t>
            </a:r>
            <a:r>
              <a:rPr lang="de-DE" sz="1600" dirty="0" err="1"/>
              <a:t>pathogens</a:t>
            </a:r>
            <a:r>
              <a:rPr lang="de-DE" sz="1600" dirty="0"/>
              <a:t>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Golovinomyces</a:t>
            </a:r>
            <a:r>
              <a:rPr lang="de-DE" sz="1600" dirty="0"/>
              <a:t> </a:t>
            </a:r>
            <a:r>
              <a:rPr lang="de-DE" sz="1600" dirty="0" err="1"/>
              <a:t>orontii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cichoracearum</a:t>
            </a:r>
            <a:r>
              <a:rPr lang="de-DE" sz="1600" dirty="0"/>
              <a:t>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Hyaloperonospora</a:t>
            </a:r>
            <a:r>
              <a:rPr lang="de-DE" sz="1600" dirty="0"/>
              <a:t> </a:t>
            </a:r>
            <a:r>
              <a:rPr lang="de-DE" sz="1600" dirty="0" err="1"/>
              <a:t>arabidopsidis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Plasmodiophora</a:t>
            </a:r>
            <a:r>
              <a:rPr lang="de-DE" sz="1600" dirty="0"/>
              <a:t> </a:t>
            </a:r>
            <a:r>
              <a:rPr lang="de-DE" sz="1600" dirty="0" err="1"/>
              <a:t>brassicae</a:t>
            </a:r>
            <a:r>
              <a:rPr lang="de-DE" sz="1600" dirty="0"/>
              <a:t> (2 </a:t>
            </a:r>
            <a:r>
              <a:rPr lang="de-DE" sz="1600" dirty="0" err="1"/>
              <a:t>Datasetes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TuMV</a:t>
            </a:r>
            <a:r>
              <a:rPr lang="de-DE" sz="1600" dirty="0"/>
              <a:t>) (2 </a:t>
            </a:r>
            <a:r>
              <a:rPr lang="de-DE" sz="1600" dirty="0" err="1"/>
              <a:t>Datasts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Heterodera</a:t>
            </a:r>
            <a:r>
              <a:rPr lang="de-DE" sz="1600" dirty="0"/>
              <a:t> </a:t>
            </a:r>
            <a:r>
              <a:rPr lang="de-DE" sz="1600" dirty="0" err="1"/>
              <a:t>schachtii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yellows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TuYV</a:t>
            </a:r>
            <a:r>
              <a:rPr lang="de-DE" sz="1600" dirty="0"/>
              <a:t>)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Cauliflower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CaMV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Meloidogyne</a:t>
            </a:r>
            <a:r>
              <a:rPr lang="de-DE" sz="1600" dirty="0"/>
              <a:t> </a:t>
            </a:r>
            <a:r>
              <a:rPr lang="de-DE" sz="1600" dirty="0" err="1"/>
              <a:t>javanica</a:t>
            </a:r>
            <a:endParaRPr lang="de-DE" sz="1600" dirty="0"/>
          </a:p>
          <a:p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F1A31B45-2AC3-12DC-650A-B8C1F5AE757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8110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1600" dirty="0"/>
              <a:t>Control: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Drought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/>
              <a:t>Botrytis cinerea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/>
              <a:t>Alternaria </a:t>
            </a:r>
            <a:r>
              <a:rPr lang="de-DE" sz="1600" dirty="0" err="1"/>
              <a:t>brassicae</a:t>
            </a:r>
            <a:r>
              <a:rPr lang="de-DE" sz="1600" dirty="0"/>
              <a:t>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 marL="0" indent="0">
              <a:buNone/>
            </a:pPr>
            <a:r>
              <a:rPr lang="de-DE" sz="1600" dirty="0" err="1"/>
              <a:t>Altogether</a:t>
            </a:r>
            <a:r>
              <a:rPr lang="de-DE" sz="1600" dirty="0"/>
              <a:t>:</a:t>
            </a:r>
          </a:p>
          <a:p>
            <a:pPr marL="0" indent="0">
              <a:buNone/>
            </a:pPr>
            <a:r>
              <a:rPr lang="de-DE" sz="1600" dirty="0"/>
              <a:t>283 </a:t>
            </a:r>
            <a:r>
              <a:rPr lang="de-DE" sz="1600" dirty="0" err="1"/>
              <a:t>samples</a:t>
            </a:r>
            <a:endParaRPr lang="de-DE" sz="1600" dirty="0"/>
          </a:p>
          <a:p>
            <a:pPr marL="0" indent="0">
              <a:buNone/>
            </a:pPr>
            <a:r>
              <a:rPr lang="de-DE" sz="1600" dirty="0"/>
              <a:t>141 single-end, 142 </a:t>
            </a:r>
            <a:r>
              <a:rPr lang="de-DE" sz="1600" dirty="0" err="1"/>
              <a:t>paired</a:t>
            </a:r>
            <a:r>
              <a:rPr lang="de-DE" sz="1600" dirty="0"/>
              <a:t>-end</a:t>
            </a:r>
          </a:p>
          <a:p>
            <a:pPr marL="0" indent="0">
              <a:buNone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489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03E46CF-77F2-A928-96F0-203BD875748C}"/>
              </a:ext>
            </a:extLst>
          </p:cNvPr>
          <p:cNvSpPr txBox="1">
            <a:spLocks/>
          </p:cNvSpPr>
          <p:nvPr/>
        </p:nvSpPr>
        <p:spPr>
          <a:xfrm>
            <a:off x="620486" y="481239"/>
            <a:ext cx="10515600" cy="61458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 err="1"/>
              <a:t>MultiQC</a:t>
            </a:r>
            <a:r>
              <a:rPr lang="de-DE" sz="2400" dirty="0"/>
              <a:t> after </a:t>
            </a:r>
            <a:r>
              <a:rPr lang="de-DE" sz="2400" dirty="0" err="1"/>
              <a:t>basic</a:t>
            </a:r>
            <a:r>
              <a:rPr lang="de-DE" sz="2400" dirty="0"/>
              <a:t> </a:t>
            </a:r>
            <a:r>
              <a:rPr lang="de-DE" sz="2400" dirty="0" err="1"/>
              <a:t>trimming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fastp</a:t>
            </a:r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27C9D9E-78EA-B095-5700-581E4FC9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" y="942756"/>
            <a:ext cx="11669486" cy="543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482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9ED03F5-809D-5FAC-6E7D-8C8913683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69172"/>
            <a:ext cx="11672620" cy="544294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BD7C152-02C3-EE73-5600-0D25C46E40A1}"/>
              </a:ext>
            </a:extLst>
          </p:cNvPr>
          <p:cNvSpPr txBox="1"/>
          <p:nvPr/>
        </p:nvSpPr>
        <p:spPr>
          <a:xfrm>
            <a:off x="391886" y="276555"/>
            <a:ext cx="10305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Harder </a:t>
            </a:r>
            <a:r>
              <a:rPr lang="de-DE" dirty="0" err="1"/>
              <a:t>trimming</a:t>
            </a:r>
            <a:r>
              <a:rPr lang="de-DE" dirty="0"/>
              <a:t> on </a:t>
            </a:r>
            <a:r>
              <a:rPr lang="de-DE" dirty="0" err="1"/>
              <a:t>P.brassicae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-&gt;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quality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7E771D-5ED0-9B16-DFB3-8A83181C5BBD}"/>
              </a:ext>
            </a:extLst>
          </p:cNvPr>
          <p:cNvSpPr txBox="1"/>
          <p:nvPr/>
        </p:nvSpPr>
        <p:spPr>
          <a:xfrm>
            <a:off x="9083842" y="3198167"/>
            <a:ext cx="1700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Failed</a:t>
            </a:r>
            <a:r>
              <a:rPr lang="de-DE" sz="1200" dirty="0"/>
              <a:t> </a:t>
            </a:r>
            <a:r>
              <a:rPr lang="de-DE" sz="1200" dirty="0" err="1"/>
              <a:t>adapter</a:t>
            </a:r>
            <a:r>
              <a:rPr lang="de-DE" sz="1200" dirty="0"/>
              <a:t> </a:t>
            </a:r>
            <a:r>
              <a:rPr lang="de-DE" sz="1200" dirty="0" err="1"/>
              <a:t>content</a:t>
            </a:r>
            <a:r>
              <a:rPr lang="de-DE" sz="1200" dirty="0"/>
              <a:t> in Hpa2 Experiment</a:t>
            </a: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68F50DBE-DF1B-9188-BAD2-FA6A37B5E5A9}"/>
              </a:ext>
            </a:extLst>
          </p:cNvPr>
          <p:cNvCxnSpPr/>
          <p:nvPr/>
        </p:nvCxnSpPr>
        <p:spPr>
          <a:xfrm rot="16200000" flipV="1">
            <a:off x="10355180" y="2999874"/>
            <a:ext cx="673767" cy="1844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41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D5149A9A-8D6A-0DD7-8746-BEBAFA7F0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13" y="215652"/>
            <a:ext cx="10395645" cy="664234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A2CC39E-79D0-E804-56EB-928F58D6AA8B}"/>
              </a:ext>
            </a:extLst>
          </p:cNvPr>
          <p:cNvSpPr txBox="1"/>
          <p:nvPr/>
        </p:nvSpPr>
        <p:spPr>
          <a:xfrm>
            <a:off x="4494218" y="463639"/>
            <a:ext cx="180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A.Brassicae</a:t>
            </a:r>
            <a:r>
              <a:rPr lang="de-DE" sz="1200" dirty="0"/>
              <a:t> (</a:t>
            </a:r>
            <a:r>
              <a:rPr lang="de-DE" sz="1200" dirty="0" err="1"/>
              <a:t>necrotroph</a:t>
            </a:r>
            <a:r>
              <a:rPr lang="de-DE" sz="1200" dirty="0"/>
              <a:t>) - </a:t>
            </a:r>
            <a:r>
              <a:rPr lang="de-DE" sz="1200" dirty="0" err="1"/>
              <a:t>infected</a:t>
            </a:r>
            <a:endParaRPr lang="de-DE" sz="1200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951E18F-9FC2-A25E-9397-CA0A5CAB12E6}"/>
              </a:ext>
            </a:extLst>
          </p:cNvPr>
          <p:cNvCxnSpPr/>
          <p:nvPr/>
        </p:nvCxnSpPr>
        <p:spPr>
          <a:xfrm>
            <a:off x="4494218" y="925304"/>
            <a:ext cx="66970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8E89C41-325B-D79B-A242-D92222218F3B}"/>
              </a:ext>
            </a:extLst>
          </p:cNvPr>
          <p:cNvSpPr txBox="1"/>
          <p:nvPr/>
        </p:nvSpPr>
        <p:spPr>
          <a:xfrm>
            <a:off x="8852005" y="4136313"/>
            <a:ext cx="1216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G.orontii</a:t>
            </a:r>
            <a:endParaRPr lang="de-DE" sz="1200" dirty="0"/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D15EEB13-2723-3A16-00DC-30EC1695786A}"/>
              </a:ext>
            </a:extLst>
          </p:cNvPr>
          <p:cNvCxnSpPr>
            <a:cxnSpLocks/>
          </p:cNvCxnSpPr>
          <p:nvPr/>
        </p:nvCxnSpPr>
        <p:spPr>
          <a:xfrm>
            <a:off x="9291786" y="4413312"/>
            <a:ext cx="0" cy="56498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B974317-D563-5B67-0C46-F3DBA0455C6F}"/>
              </a:ext>
            </a:extLst>
          </p:cNvPr>
          <p:cNvSpPr txBox="1"/>
          <p:nvPr/>
        </p:nvSpPr>
        <p:spPr>
          <a:xfrm>
            <a:off x="2111794" y="5301895"/>
            <a:ext cx="18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Hpa3 - </a:t>
            </a:r>
            <a:r>
              <a:rPr lang="de-DE" sz="1200" dirty="0" err="1"/>
              <a:t>very</a:t>
            </a:r>
            <a:r>
              <a:rPr lang="de-DE" sz="1200" dirty="0"/>
              <a:t> </a:t>
            </a:r>
            <a:r>
              <a:rPr lang="de-DE" sz="1200" dirty="0" err="1"/>
              <a:t>few</a:t>
            </a:r>
            <a:r>
              <a:rPr lang="de-DE" sz="1200" dirty="0"/>
              <a:t> </a:t>
            </a:r>
            <a:r>
              <a:rPr lang="de-DE" sz="1200" dirty="0" err="1"/>
              <a:t>reads</a:t>
            </a:r>
            <a:endParaRPr lang="de-DE" sz="12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BDC97E1-D013-569E-9912-D0C5DC40B8E4}"/>
              </a:ext>
            </a:extLst>
          </p:cNvPr>
          <p:cNvSpPr txBox="1"/>
          <p:nvPr/>
        </p:nvSpPr>
        <p:spPr>
          <a:xfrm>
            <a:off x="4584698" y="3767659"/>
            <a:ext cx="669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Hpa2</a:t>
            </a:r>
          </a:p>
        </p:txBody>
      </p: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DAFCDD8D-F314-712B-8D58-2686406C66C9}"/>
              </a:ext>
            </a:extLst>
          </p:cNvPr>
          <p:cNvCxnSpPr>
            <a:cxnSpLocks/>
          </p:cNvCxnSpPr>
          <p:nvPr/>
        </p:nvCxnSpPr>
        <p:spPr>
          <a:xfrm>
            <a:off x="4753535" y="4136313"/>
            <a:ext cx="0" cy="9410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420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555ED0D-C917-B49D-C5D3-5C1F412BD6F6}"/>
              </a:ext>
            </a:extLst>
          </p:cNvPr>
          <p:cNvSpPr txBox="1"/>
          <p:nvPr/>
        </p:nvSpPr>
        <p:spPr>
          <a:xfrm>
            <a:off x="79209" y="339979"/>
            <a:ext cx="1157649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Count </a:t>
            </a:r>
            <a:r>
              <a:rPr lang="de-DE" sz="1600" dirty="0" err="1"/>
              <a:t>table</a:t>
            </a:r>
            <a:r>
              <a:rPr lang="de-DE" sz="1600" dirty="0"/>
              <a:t> via </a:t>
            </a:r>
            <a:r>
              <a:rPr lang="de-DE" sz="1600" dirty="0" err="1"/>
              <a:t>tximport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Extracted</a:t>
            </a:r>
            <a:r>
              <a:rPr lang="de-DE" sz="1600" dirty="0"/>
              <a:t> </a:t>
            </a:r>
            <a:r>
              <a:rPr lang="de-DE" sz="1600" dirty="0" err="1"/>
              <a:t>est_counts</a:t>
            </a:r>
            <a:r>
              <a:rPr lang="de-DE" sz="1600" dirty="0"/>
              <a:t> and </a:t>
            </a:r>
            <a:r>
              <a:rPr lang="de-DE" sz="1600" dirty="0" err="1"/>
              <a:t>tpm</a:t>
            </a:r>
            <a:r>
              <a:rPr lang="de-DE" sz="1600" dirty="0"/>
              <a:t> </a:t>
            </a:r>
            <a:r>
              <a:rPr lang="de-DE" sz="1600" dirty="0" err="1"/>
              <a:t>values</a:t>
            </a:r>
            <a:r>
              <a:rPr lang="de-DE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scaled</a:t>
            </a:r>
            <a:r>
              <a:rPr lang="de-DE" sz="1600" dirty="0"/>
              <a:t> </a:t>
            </a:r>
            <a:r>
              <a:rPr lang="de-DE" sz="1600" dirty="0" err="1"/>
              <a:t>counts</a:t>
            </a:r>
            <a:r>
              <a:rPr lang="de-DE" sz="1600" dirty="0"/>
              <a:t> </a:t>
            </a:r>
            <a:r>
              <a:rPr lang="de-DE" sz="1600" dirty="0" err="1"/>
              <a:t>with</a:t>
            </a:r>
            <a:r>
              <a:rPr lang="de-DE" sz="1600" dirty="0"/>
              <a:t> </a:t>
            </a:r>
            <a:r>
              <a:rPr lang="de-DE" sz="1600" i="1" dirty="0" err="1"/>
              <a:t>lengthScaledTPM</a:t>
            </a:r>
            <a:r>
              <a:rPr lang="de-DE" sz="1600" dirty="0"/>
              <a:t> (</a:t>
            </a:r>
            <a:r>
              <a:rPr lang="de-DE" sz="1600" dirty="0" err="1"/>
              <a:t>scaled</a:t>
            </a:r>
            <a:r>
              <a:rPr lang="de-DE" sz="1600" dirty="0"/>
              <a:t> </a:t>
            </a:r>
            <a:r>
              <a:rPr lang="de-DE" sz="1600" dirty="0" err="1"/>
              <a:t>using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average</a:t>
            </a:r>
            <a:r>
              <a:rPr lang="de-DE" sz="1600" dirty="0"/>
              <a:t> </a:t>
            </a:r>
            <a:r>
              <a:rPr lang="de-DE" sz="1600" dirty="0" err="1"/>
              <a:t>transcript</a:t>
            </a:r>
            <a:r>
              <a:rPr lang="de-DE" sz="1600" dirty="0"/>
              <a:t> </a:t>
            </a:r>
            <a:r>
              <a:rPr lang="de-DE" sz="1600" dirty="0" err="1"/>
              <a:t>length</a:t>
            </a:r>
            <a:r>
              <a:rPr lang="de-DE" sz="1600" dirty="0"/>
              <a:t>, </a:t>
            </a:r>
            <a:r>
              <a:rPr lang="de-DE" sz="1600" dirty="0" err="1"/>
              <a:t>averaged</a:t>
            </a:r>
            <a:r>
              <a:rPr lang="de-DE" sz="1600" dirty="0"/>
              <a:t> </a:t>
            </a:r>
            <a:r>
              <a:rPr lang="de-DE" sz="1600" dirty="0" err="1"/>
              <a:t>over</a:t>
            </a:r>
            <a:r>
              <a:rPr lang="de-DE" sz="1600" dirty="0"/>
              <a:t> </a:t>
            </a:r>
            <a:r>
              <a:rPr lang="de-DE" sz="1600" dirty="0" err="1"/>
              <a:t>samples</a:t>
            </a:r>
            <a:r>
              <a:rPr lang="de-DE" sz="1600" dirty="0"/>
              <a:t> and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dirty="0" err="1"/>
              <a:t>library</a:t>
            </a:r>
            <a:r>
              <a:rPr lang="de-DE" sz="1600" dirty="0"/>
              <a:t> </a:t>
            </a:r>
            <a:r>
              <a:rPr lang="de-DE" sz="1600" dirty="0" err="1"/>
              <a:t>size</a:t>
            </a:r>
            <a:r>
              <a:rPr lang="de-DE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Created</a:t>
            </a:r>
            <a:r>
              <a:rPr lang="de-DE" sz="1600" dirty="0"/>
              <a:t> </a:t>
            </a:r>
            <a:r>
              <a:rPr lang="de-DE" sz="1600" dirty="0" err="1"/>
              <a:t>DESeqDataset</a:t>
            </a:r>
            <a:r>
              <a:rPr lang="de-DE" sz="1600" dirty="0"/>
              <a:t> (design ~ Experiment + </a:t>
            </a:r>
            <a:r>
              <a:rPr lang="de-DE" sz="1600" dirty="0" err="1"/>
              <a:t>infected.control</a:t>
            </a:r>
            <a:r>
              <a:rPr lang="de-DE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VST (</a:t>
            </a:r>
            <a:r>
              <a:rPr lang="de-DE" sz="1600" dirty="0" err="1"/>
              <a:t>with</a:t>
            </a:r>
            <a:r>
              <a:rPr lang="de-DE" sz="1600" dirty="0"/>
              <a:t> blind </a:t>
            </a:r>
            <a:r>
              <a:rPr lang="de-DE" sz="1600" dirty="0" err="1"/>
              <a:t>dispersion</a:t>
            </a:r>
            <a:r>
              <a:rPr lang="de-DE" sz="1600" dirty="0"/>
              <a:t> </a:t>
            </a:r>
            <a:r>
              <a:rPr lang="de-DE" sz="1600" dirty="0" err="1"/>
              <a:t>estimation</a:t>
            </a:r>
            <a:r>
              <a:rPr lang="de-DE" sz="1600" dirty="0"/>
              <a:t>) on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estimated_counts</a:t>
            </a:r>
            <a:endParaRPr lang="de-DE" sz="16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15F6501-4861-3A65-F17F-92175DCF2160}"/>
              </a:ext>
            </a:extLst>
          </p:cNvPr>
          <p:cNvSpPr txBox="1"/>
          <p:nvPr/>
        </p:nvSpPr>
        <p:spPr>
          <a:xfrm>
            <a:off x="8697293" y="2897395"/>
            <a:ext cx="3494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not </a:t>
            </a:r>
            <a:r>
              <a:rPr lang="de-DE" sz="1600" dirty="0" err="1"/>
              <a:t>filtered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outlier</a:t>
            </a:r>
            <a:r>
              <a:rPr lang="de-DE" sz="1600" dirty="0"/>
              <a:t>: Hpa2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Already</a:t>
            </a:r>
            <a:r>
              <a:rPr lang="de-DE" sz="1600" dirty="0"/>
              <a:t> </a:t>
            </a:r>
            <a:r>
              <a:rPr lang="de-DE" sz="1600" dirty="0" err="1"/>
              <a:t>failed</a:t>
            </a:r>
            <a:r>
              <a:rPr lang="de-DE" sz="1600" dirty="0"/>
              <a:t> </a:t>
            </a:r>
            <a:r>
              <a:rPr lang="de-DE" sz="1600" dirty="0" err="1"/>
              <a:t>adapter</a:t>
            </a:r>
            <a:r>
              <a:rPr lang="de-DE" sz="1600" dirty="0"/>
              <a:t> </a:t>
            </a:r>
            <a:r>
              <a:rPr lang="de-DE" sz="1600" dirty="0" err="1"/>
              <a:t>content</a:t>
            </a:r>
            <a:r>
              <a:rPr lang="de-DE" sz="1600" dirty="0"/>
              <a:t> in </a:t>
            </a:r>
            <a:r>
              <a:rPr lang="de-DE" sz="1600" dirty="0" err="1"/>
              <a:t>multiqc</a:t>
            </a:r>
            <a:r>
              <a:rPr lang="de-DE" sz="1600" dirty="0"/>
              <a:t> after </a:t>
            </a:r>
            <a:r>
              <a:rPr lang="de-DE" sz="1600" dirty="0" err="1"/>
              <a:t>trimming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Low </a:t>
            </a:r>
            <a:r>
              <a:rPr lang="de-DE" sz="1600" dirty="0" err="1"/>
              <a:t>number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</a:t>
            </a:r>
            <a:r>
              <a:rPr lang="de-DE" sz="1600" dirty="0" err="1"/>
              <a:t>aligned</a:t>
            </a:r>
            <a:r>
              <a:rPr lang="de-DE" sz="1600" dirty="0"/>
              <a:t> </a:t>
            </a:r>
            <a:r>
              <a:rPr lang="de-DE" sz="1600" dirty="0" err="1"/>
              <a:t>reads</a:t>
            </a:r>
            <a:endParaRPr lang="de-DE" sz="1600" dirty="0"/>
          </a:p>
          <a:p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6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5019C57-633D-E1D3-DAD9-9E789589B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37" y="1816753"/>
            <a:ext cx="7533891" cy="44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68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9B57C05-C966-3064-B605-C9845022FAB7}"/>
              </a:ext>
            </a:extLst>
          </p:cNvPr>
          <p:cNvSpPr txBox="1"/>
          <p:nvPr/>
        </p:nvSpPr>
        <p:spPr>
          <a:xfrm>
            <a:off x="678426" y="235974"/>
            <a:ext cx="210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Without Hpa2:</a:t>
            </a:r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1330D9E-A95C-0DAA-E255-03A891C60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37" y="773295"/>
            <a:ext cx="10302876" cy="584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6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589ED586-DA99-0573-B73F-1131F741D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51" y="418263"/>
            <a:ext cx="9540875" cy="602147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F85A0C58-7156-A820-9AA0-491831E82699}"/>
              </a:ext>
            </a:extLst>
          </p:cNvPr>
          <p:cNvSpPr txBox="1"/>
          <p:nvPr/>
        </p:nvSpPr>
        <p:spPr>
          <a:xfrm>
            <a:off x="10003962" y="209919"/>
            <a:ext cx="208000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After </a:t>
            </a:r>
            <a:r>
              <a:rPr lang="de-DE" sz="1400" dirty="0" err="1"/>
              <a:t>filtering</a:t>
            </a:r>
            <a:r>
              <a:rPr lang="de-DE" sz="1400" dirty="0"/>
              <a:t> </a:t>
            </a:r>
            <a:r>
              <a:rPr lang="de-DE" sz="1400" dirty="0" err="1"/>
              <a:t>low</a:t>
            </a:r>
            <a:r>
              <a:rPr lang="de-DE" sz="1400" dirty="0"/>
              <a:t> </a:t>
            </a:r>
            <a:r>
              <a:rPr lang="de-DE" sz="1400" dirty="0" err="1"/>
              <a:t>expressed</a:t>
            </a:r>
            <a:r>
              <a:rPr lang="de-DE" sz="1400" dirty="0"/>
              <a:t> genes:</a:t>
            </a:r>
          </a:p>
          <a:p>
            <a:r>
              <a:rPr lang="de-DE" sz="1400" dirty="0" err="1"/>
              <a:t>Result</a:t>
            </a:r>
            <a:r>
              <a:rPr lang="de-DE" sz="1400" dirty="0"/>
              <a:t>: </a:t>
            </a:r>
          </a:p>
          <a:p>
            <a:r>
              <a:rPr lang="de-DE" sz="1400" dirty="0"/>
              <a:t>- </a:t>
            </a:r>
            <a:r>
              <a:rPr lang="de-DE" sz="1400" dirty="0" err="1"/>
              <a:t>before</a:t>
            </a:r>
            <a:r>
              <a:rPr lang="de-DE" sz="1400" dirty="0"/>
              <a:t> </a:t>
            </a:r>
            <a:r>
              <a:rPr lang="de-DE" sz="1400" dirty="0" err="1"/>
              <a:t>filtering</a:t>
            </a:r>
            <a:r>
              <a:rPr lang="de-DE" sz="1400" dirty="0"/>
              <a:t>: 27321 genes</a:t>
            </a:r>
          </a:p>
          <a:p>
            <a:r>
              <a:rPr lang="de-DE" sz="1400" dirty="0"/>
              <a:t>- after </a:t>
            </a:r>
            <a:r>
              <a:rPr lang="de-DE" sz="1400" dirty="0" err="1"/>
              <a:t>filtering</a:t>
            </a:r>
            <a:r>
              <a:rPr lang="de-DE" sz="1400" dirty="0"/>
              <a:t>: 19017 genes</a:t>
            </a:r>
          </a:p>
          <a:p>
            <a:endParaRPr lang="de-DE" sz="1400" dirty="0"/>
          </a:p>
          <a:p>
            <a:r>
              <a:rPr lang="de-DE" sz="1400" dirty="0"/>
              <a:t>--&gt; </a:t>
            </a:r>
            <a:r>
              <a:rPr lang="de-DE" sz="1400" dirty="0" err="1"/>
              <a:t>keep</a:t>
            </a:r>
            <a:r>
              <a:rPr lang="de-DE" sz="1400" dirty="0"/>
              <a:t> genes </a:t>
            </a:r>
            <a:r>
              <a:rPr lang="de-DE" sz="1400" dirty="0" err="1"/>
              <a:t>that</a:t>
            </a:r>
            <a:r>
              <a:rPr lang="de-DE" sz="1400" dirty="0"/>
              <a:t> </a:t>
            </a:r>
            <a:r>
              <a:rPr lang="de-DE" sz="1400" dirty="0" err="1"/>
              <a:t>have</a:t>
            </a:r>
            <a:r>
              <a:rPr lang="de-DE" sz="1400" dirty="0"/>
              <a:t> at least a </a:t>
            </a:r>
            <a:r>
              <a:rPr lang="de-DE" sz="1400" dirty="0" err="1"/>
              <a:t>tpm</a:t>
            </a:r>
            <a:r>
              <a:rPr lang="de-DE" sz="1400" dirty="0"/>
              <a:t> </a:t>
            </a:r>
            <a:r>
              <a:rPr lang="de-DE" sz="1400" dirty="0" err="1"/>
              <a:t>value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0.5 per sample in at least 51%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samples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639192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55D78EA-8AAF-8B29-8ECE-3867B26ED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1" y="1607506"/>
            <a:ext cx="6077847" cy="3450269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CBF5B1E1-ADE3-06F1-E023-D625B80DBFDD}"/>
              </a:ext>
            </a:extLst>
          </p:cNvPr>
          <p:cNvSpPr txBox="1"/>
          <p:nvPr/>
        </p:nvSpPr>
        <p:spPr>
          <a:xfrm>
            <a:off x="371475" y="142875"/>
            <a:ext cx="184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 3 and PC 4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B8312EF-A912-43DC-CC78-0ACB74AAE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1607506"/>
            <a:ext cx="5673113" cy="358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071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4366AFF-0868-A621-9ACE-BABA82BFA380}"/>
              </a:ext>
            </a:extLst>
          </p:cNvPr>
          <p:cNvSpPr txBox="1"/>
          <p:nvPr/>
        </p:nvSpPr>
        <p:spPr>
          <a:xfrm>
            <a:off x="371474" y="142875"/>
            <a:ext cx="4029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PCA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aligned</a:t>
            </a:r>
            <a:r>
              <a:rPr lang="de-DE" dirty="0"/>
              <a:t> </a:t>
            </a:r>
            <a:r>
              <a:rPr lang="de-DE" dirty="0" err="1"/>
              <a:t>reads</a:t>
            </a:r>
            <a:r>
              <a:rPr lang="de-DE" dirty="0"/>
              <a:t> per sample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270D5FE-6E3A-47BB-3898-64023D8AD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4" y="778950"/>
            <a:ext cx="8952958" cy="565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535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A7437989-47D2-57A5-EC89-6C2A24076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449823"/>
            <a:ext cx="9440862" cy="5958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66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DD35B781-7B6D-C28C-3991-30F98B353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89251"/>
            <a:ext cx="5883159" cy="333974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D2EE99-7B04-08F6-E8D0-672A73F2E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130" y="0"/>
            <a:ext cx="5725906" cy="3250479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AC0CDB0-B6D9-32D9-9A35-5C932F54E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64" y="3605221"/>
            <a:ext cx="5012531" cy="316352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04B7559-87AF-601A-0995-675FD88DDB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111" y="3429000"/>
            <a:ext cx="5126525" cy="3235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87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</Words>
  <Application>Microsoft Macintosh PowerPoint</Application>
  <PresentationFormat>Breitbild</PresentationFormat>
  <Paragraphs>59</Paragraphs>
  <Slides>12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Symbol</vt:lpstr>
      <vt:lpstr>Office</vt:lpstr>
      <vt:lpstr>Progress</vt:lpstr>
      <vt:lpstr>Datasets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Bender</dc:creator>
  <cp:lastModifiedBy>Luisa Bender</cp:lastModifiedBy>
  <cp:revision>10</cp:revision>
  <dcterms:created xsi:type="dcterms:W3CDTF">2025-01-16T09:38:10Z</dcterms:created>
  <dcterms:modified xsi:type="dcterms:W3CDTF">2025-01-23T13:58:34Z</dcterms:modified>
</cp:coreProperties>
</file>