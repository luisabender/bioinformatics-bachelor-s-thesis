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45"/>
  </p:notesMasterIdLst>
  <p:handoutMasterIdLst>
    <p:handoutMasterId r:id="rId46"/>
  </p:handoutMasterIdLst>
  <p:sldIdLst>
    <p:sldId id="369" r:id="rId7"/>
    <p:sldId id="333" r:id="rId8"/>
    <p:sldId id="392" r:id="rId9"/>
    <p:sldId id="393" r:id="rId10"/>
    <p:sldId id="394" r:id="rId11"/>
    <p:sldId id="395" r:id="rId12"/>
    <p:sldId id="397" r:id="rId13"/>
    <p:sldId id="396" r:id="rId14"/>
    <p:sldId id="398" r:id="rId15"/>
    <p:sldId id="427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19" r:id="rId25"/>
    <p:sldId id="412" r:id="rId26"/>
    <p:sldId id="421" r:id="rId27"/>
    <p:sldId id="422" r:id="rId28"/>
    <p:sldId id="424" r:id="rId29"/>
    <p:sldId id="413" r:id="rId30"/>
    <p:sldId id="417" r:id="rId31"/>
    <p:sldId id="414" r:id="rId32"/>
    <p:sldId id="415" r:id="rId33"/>
    <p:sldId id="420" r:id="rId34"/>
    <p:sldId id="418" r:id="rId35"/>
    <p:sldId id="407" r:id="rId36"/>
    <p:sldId id="428" r:id="rId37"/>
    <p:sldId id="411" r:id="rId38"/>
    <p:sldId id="423" r:id="rId39"/>
    <p:sldId id="409" r:id="rId40"/>
    <p:sldId id="408" r:id="rId41"/>
    <p:sldId id="416" r:id="rId42"/>
    <p:sldId id="426" r:id="rId43"/>
    <p:sldId id="425" r:id="rId44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5" autoAdjust="0"/>
    <p:restoredTop sz="78678" autoAdjust="0"/>
  </p:normalViewPr>
  <p:slideViewPr>
    <p:cSldViewPr snapToGrid="0">
      <p:cViewPr varScale="1">
        <p:scale>
          <a:sx n="98" d="100"/>
          <a:sy n="98" d="100"/>
        </p:scale>
        <p:origin x="200" y="440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28/03/2025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28/03/2025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789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18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145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778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22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17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075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510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676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42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349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520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135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304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600200"/>
            <a:ext cx="8508999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143125"/>
            <a:ext cx="8508999" cy="25431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50530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602000"/>
            <a:ext cx="4180910" cy="3095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48752"/>
            <a:ext cx="4188333" cy="25470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8840"/>
            <a:ext cx="4180392" cy="2546911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152650"/>
            <a:ext cx="4197858" cy="255270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2143125"/>
            <a:ext cx="4180392" cy="2543176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133600"/>
            <a:ext cx="9144000" cy="30099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600200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00200"/>
            <a:ext cx="9144000" cy="3543299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0804A-F305-8270-0387-ED143DA2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46C8BC-72DC-0A10-28D7-18E10D49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28.03.25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EB9B31-1081-83BF-9389-695346FEA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B36480-7DE5-9505-8A29-EFE9EEDF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0077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1.wmf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‹Nr.›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Mustertechnik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School </a:t>
            </a:r>
            <a:r>
              <a:rPr lang="de-DE" sz="800" baseline="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Musterverfahren</a:t>
            </a:r>
          </a:p>
          <a:p>
            <a:pPr>
              <a:lnSpc>
                <a:spcPts val="900"/>
              </a:lnSpc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  <p:sldLayoutId id="2147483712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campuspress.yale.edu/claylab/" TargetMode="Externa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io-protocol.org/en/bpdetail?id=3661&amp;type=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i.org/10.1186/s12864-017-4426-7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mib.2018.09.00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8436E9E6-728D-1625-5442-CEB8848E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Unveiling Commonalities and Divergences in Biotrophic Plant-Microbe Interactions using Gene Co-Expression Networks in Arabidopsis thaliana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8D791E12-468D-9557-39F3-A9F3E4069A3E}"/>
              </a:ext>
            </a:extLst>
          </p:cNvPr>
          <p:cNvSpPr txBox="1">
            <a:spLocks/>
          </p:cNvSpPr>
          <p:nvPr/>
        </p:nvSpPr>
        <p:spPr>
          <a:xfrm>
            <a:off x="211025" y="3169147"/>
            <a:ext cx="8508999" cy="95559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noProof="0" dirty="0"/>
              <a:t>Luisa Bender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Freising, 10. März 2025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1A3F3EF7-5F08-FEF9-1A42-6244F5D1C360}"/>
              </a:ext>
            </a:extLst>
          </p:cNvPr>
          <p:cNvSpPr txBox="1">
            <a:spLocks/>
          </p:cNvSpPr>
          <p:nvPr/>
        </p:nvSpPr>
        <p:spPr>
          <a:xfrm>
            <a:off x="319090" y="2252848"/>
            <a:ext cx="8508999" cy="5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de-DE" sz="16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Bachelor thesis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DCDF5BD-4F16-3E15-89F1-AC54E2B7BE99}"/>
              </a:ext>
            </a:extLst>
          </p:cNvPr>
          <p:cNvSpPr txBox="1"/>
          <p:nvPr/>
        </p:nvSpPr>
        <p:spPr>
          <a:xfrm>
            <a:off x="319090" y="241756"/>
            <a:ext cx="211974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noProof="0" dirty="0">
                <a:solidFill>
                  <a:schemeClr val="bg2"/>
                </a:solidFill>
                <a:latin typeface="+mn-lt"/>
              </a:rPr>
              <a:t>Professorship for Computational Plant Biology</a:t>
            </a:r>
          </a:p>
          <a:p>
            <a:r>
              <a:rPr lang="en-US" sz="800" noProof="0" dirty="0">
                <a:solidFill>
                  <a:schemeClr val="bg2"/>
                </a:solidFill>
                <a:latin typeface="+mn-lt"/>
              </a:rPr>
              <a:t>TUM School of Life Sciences</a:t>
            </a:r>
          </a:p>
          <a:p>
            <a:r>
              <a:rPr lang="en-US" sz="800" noProof="0" dirty="0">
                <a:solidFill>
                  <a:schemeClr val="bg2"/>
                </a:solidFill>
                <a:latin typeface="+mn-lt"/>
              </a:rPr>
              <a:t>Technical University of Munich</a:t>
            </a:r>
          </a:p>
          <a:p>
            <a:endParaRPr lang="en-US" sz="800" noProof="0" dirty="0">
              <a:solidFill>
                <a:schemeClr val="bg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D61B6A3-708D-20A4-5D80-5E209470B3D7}"/>
              </a:ext>
            </a:extLst>
          </p:cNvPr>
          <p:cNvSpPr txBox="1"/>
          <p:nvPr/>
        </p:nvSpPr>
        <p:spPr>
          <a:xfrm>
            <a:off x="2088349" y="146420"/>
            <a:ext cx="4967288" cy="2539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Collecting RNA-Seq datasets on</a:t>
            </a:r>
            <a:r>
              <a:rPr lang="en-US" sz="1050" i="1" dirty="0"/>
              <a:t> A. thaliana </a:t>
            </a:r>
            <a:r>
              <a:rPr lang="en-US" sz="1050" dirty="0"/>
              <a:t>infection with biotrophic pathogens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4827D2C-93F2-8C28-B2A6-72ED39B64206}"/>
              </a:ext>
            </a:extLst>
          </p:cNvPr>
          <p:cNvSpPr txBox="1"/>
          <p:nvPr/>
        </p:nvSpPr>
        <p:spPr>
          <a:xfrm>
            <a:off x="3225395" y="527939"/>
            <a:ext cx="2693195" cy="2539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Downloading samples with </a:t>
            </a:r>
            <a:r>
              <a:rPr lang="en-US" sz="1050" b="1" dirty="0" err="1"/>
              <a:t>sratoolkit</a:t>
            </a:r>
            <a:r>
              <a:rPr lang="en-US" sz="1050" dirty="0"/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3CE8E66-6D5E-0AA1-BF2A-F1553222319F}"/>
              </a:ext>
            </a:extLst>
          </p:cNvPr>
          <p:cNvSpPr txBox="1"/>
          <p:nvPr/>
        </p:nvSpPr>
        <p:spPr>
          <a:xfrm>
            <a:off x="3552993" y="875924"/>
            <a:ext cx="2038010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Basic quality trimming with </a:t>
            </a:r>
            <a:r>
              <a:rPr lang="en-US" sz="1050" b="1" dirty="0" err="1"/>
              <a:t>fastp</a:t>
            </a:r>
            <a:r>
              <a:rPr lang="en-US" sz="1050" dirty="0"/>
              <a:t>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3776C06-9326-FF23-AEE1-9AD2E09EB4CD}"/>
              </a:ext>
            </a:extLst>
          </p:cNvPr>
          <p:cNvSpPr txBox="1"/>
          <p:nvPr/>
        </p:nvSpPr>
        <p:spPr>
          <a:xfrm>
            <a:off x="3095699" y="1363383"/>
            <a:ext cx="2952584" cy="2539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Quality control with </a:t>
            </a:r>
            <a:r>
              <a:rPr lang="en-US" sz="1050" b="1" dirty="0" err="1"/>
              <a:t>FastQC</a:t>
            </a:r>
            <a:r>
              <a:rPr lang="en-US" sz="1050" dirty="0"/>
              <a:t> and </a:t>
            </a:r>
            <a:r>
              <a:rPr lang="en-US" sz="1050" dirty="0" err="1"/>
              <a:t>MultiQC</a:t>
            </a:r>
            <a:endParaRPr lang="en-US" sz="105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9F75B7C-354A-4E4E-081F-F210988DEA7B}"/>
              </a:ext>
            </a:extLst>
          </p:cNvPr>
          <p:cNvSpPr txBox="1"/>
          <p:nvPr/>
        </p:nvSpPr>
        <p:spPr>
          <a:xfrm>
            <a:off x="2952826" y="1701485"/>
            <a:ext cx="3238334" cy="2539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Mapping reads with </a:t>
            </a:r>
            <a:r>
              <a:rPr lang="en-US" sz="1050" b="1" dirty="0" err="1"/>
              <a:t>kallisto</a:t>
            </a:r>
            <a:endParaRPr lang="en-US" sz="1050" b="1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10D22C4-944A-1C54-46C7-D2DE771A223D}"/>
              </a:ext>
            </a:extLst>
          </p:cNvPr>
          <p:cNvSpPr txBox="1"/>
          <p:nvPr/>
        </p:nvSpPr>
        <p:spPr>
          <a:xfrm>
            <a:off x="2439198" y="2102418"/>
            <a:ext cx="4265590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Importing raw gene counts and abundance (</a:t>
            </a:r>
            <a:r>
              <a:rPr lang="en-US" sz="1050" dirty="0" err="1"/>
              <a:t>tpm</a:t>
            </a:r>
            <a:r>
              <a:rPr lang="en-US" sz="1050" dirty="0"/>
              <a:t>) counts with </a:t>
            </a:r>
            <a:r>
              <a:rPr lang="en-US" sz="1050" dirty="0" err="1"/>
              <a:t>tximport</a:t>
            </a:r>
            <a:endParaRPr lang="en-US" sz="105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17C972D-FC5E-B51B-1AC4-1B2650D8A94C}"/>
              </a:ext>
            </a:extLst>
          </p:cNvPr>
          <p:cNvSpPr txBox="1"/>
          <p:nvPr/>
        </p:nvSpPr>
        <p:spPr>
          <a:xfrm>
            <a:off x="1801669" y="2984944"/>
            <a:ext cx="2038010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Filtering low expressed genes with </a:t>
            </a:r>
            <a:r>
              <a:rPr lang="en-US" sz="1050" dirty="0" err="1"/>
              <a:t>tpm</a:t>
            </a:r>
            <a:r>
              <a:rPr lang="en-US" sz="1050" dirty="0"/>
              <a:t> counts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5F3AC4D-70CA-111C-E2F2-B0E14A1A7624}"/>
              </a:ext>
            </a:extLst>
          </p:cNvPr>
          <p:cNvSpPr txBox="1"/>
          <p:nvPr/>
        </p:nvSpPr>
        <p:spPr>
          <a:xfrm>
            <a:off x="4953469" y="2905061"/>
            <a:ext cx="2038010" cy="5770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Variance </a:t>
            </a:r>
            <a:r>
              <a:rPr lang="en-US" sz="1050" b="1" dirty="0" err="1"/>
              <a:t>stabilzation</a:t>
            </a:r>
            <a:r>
              <a:rPr lang="en-US" sz="1050" b="1" dirty="0"/>
              <a:t> transformation </a:t>
            </a:r>
            <a:r>
              <a:rPr lang="en-US" sz="1050" dirty="0"/>
              <a:t>on raw counts with DESeq2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D97D6B9-2FDC-7D08-2FCE-0971555704F7}"/>
              </a:ext>
            </a:extLst>
          </p:cNvPr>
          <p:cNvSpPr txBox="1"/>
          <p:nvPr/>
        </p:nvSpPr>
        <p:spPr>
          <a:xfrm>
            <a:off x="2820674" y="3638193"/>
            <a:ext cx="3502647" cy="2539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WGCNA</a:t>
            </a:r>
            <a:r>
              <a:rPr lang="en-US" sz="1050" dirty="0"/>
              <a:t> – network construction and module detection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D687986-B624-F5CA-4893-CE604ABB5018}"/>
              </a:ext>
            </a:extLst>
          </p:cNvPr>
          <p:cNvSpPr txBox="1"/>
          <p:nvPr/>
        </p:nvSpPr>
        <p:spPr>
          <a:xfrm>
            <a:off x="3186827" y="4032292"/>
            <a:ext cx="2770329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Module trait matching and hub gene selection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2EF2052-A0A4-9193-A556-2DBEC70936B9}"/>
              </a:ext>
            </a:extLst>
          </p:cNvPr>
          <p:cNvSpPr txBox="1"/>
          <p:nvPr/>
        </p:nvSpPr>
        <p:spPr>
          <a:xfrm>
            <a:off x="3073331" y="4581582"/>
            <a:ext cx="2997321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Functional annotation and enrichment analysis of module genes with </a:t>
            </a:r>
            <a:r>
              <a:rPr lang="en-US" sz="1050" b="1" dirty="0" err="1"/>
              <a:t>clusterProfiler</a:t>
            </a:r>
            <a:endParaRPr lang="en-US" sz="1050" b="1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1F6F7BF-757F-0780-168E-7E7AD57A8F54}"/>
              </a:ext>
            </a:extLst>
          </p:cNvPr>
          <p:cNvSpPr txBox="1"/>
          <p:nvPr/>
        </p:nvSpPr>
        <p:spPr>
          <a:xfrm>
            <a:off x="7293557" y="2695173"/>
            <a:ext cx="1433853" cy="5770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PCA</a:t>
            </a:r>
            <a:r>
              <a:rPr lang="en-US" sz="1050" dirty="0"/>
              <a:t> to identify potential outliers using stats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9C76D93-8722-DA7C-BAAC-0671C164F05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571993" y="400336"/>
            <a:ext cx="0" cy="127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0F144E35-CA76-0E7D-B05F-EEE0C875D9F8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571993" y="781855"/>
            <a:ext cx="5" cy="94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316723E-077A-757F-9F2F-FCD118332557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571991" y="1291422"/>
            <a:ext cx="7" cy="7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614682F-687C-E1ED-7647-38459AED892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571991" y="1617299"/>
            <a:ext cx="2" cy="84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D19DE7B3-1BF0-C255-B1FE-EBE399DD9AE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571993" y="1955401"/>
            <a:ext cx="0" cy="147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37770901-2705-400D-FF5D-400290F65AE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2820674" y="2517916"/>
            <a:ext cx="1751319" cy="46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601EA409-191B-515C-6BE1-ADEC7E25034B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839679" y="3192693"/>
            <a:ext cx="1113790" cy="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E95997BE-D70C-3173-8230-F1EF0B07ED72}"/>
              </a:ext>
            </a:extLst>
          </p:cNvPr>
          <p:cNvCxnSpPr>
            <a:stCxn id="11" idx="3"/>
            <a:endCxn id="15" idx="1"/>
          </p:cNvCxnSpPr>
          <p:nvPr/>
        </p:nvCxnSpPr>
        <p:spPr>
          <a:xfrm flipV="1">
            <a:off x="6991479" y="2983714"/>
            <a:ext cx="302078" cy="209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3DCE2EE1-62E1-A6CC-FB21-66073F44533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4571998" y="3482142"/>
            <a:ext cx="1400476" cy="156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479B533-F59C-CCB2-567D-6812C3CFDE7C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4571993" y="2517916"/>
            <a:ext cx="1400481" cy="3871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F064BCA7-2E11-46BC-EAF0-4C0F3F20BDE0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4571992" y="3892109"/>
            <a:ext cx="6" cy="140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3F78EA72-A3C4-9140-9209-8E77101103DB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571992" y="4447790"/>
            <a:ext cx="0" cy="133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A2DCABF0-FACC-4888-08E7-DB19F6E98485}"/>
              </a:ext>
            </a:extLst>
          </p:cNvPr>
          <p:cNvSpPr txBox="1"/>
          <p:nvPr/>
        </p:nvSpPr>
        <p:spPr>
          <a:xfrm>
            <a:off x="50339" y="1998543"/>
            <a:ext cx="2038010" cy="4154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Including gene counts from unpublished dataset</a:t>
            </a:r>
          </a:p>
        </p:txBody>
      </p:sp>
      <p:cxnSp>
        <p:nvCxnSpPr>
          <p:cNvPr id="59" name="Gewinkelte Verbindung 58">
            <a:extLst>
              <a:ext uri="{FF2B5EF4-FFF2-40B4-BE49-F238E27FC236}">
                <a16:creationId xmlns:a16="http://schemas.microsoft.com/office/drawing/2014/main" id="{5EC4EA52-E6F7-7BA3-216D-D839793524CD}"/>
              </a:ext>
            </a:extLst>
          </p:cNvPr>
          <p:cNvCxnSpPr>
            <a:stCxn id="55" idx="2"/>
            <a:endCxn id="11" idx="0"/>
          </p:cNvCxnSpPr>
          <p:nvPr/>
        </p:nvCxnSpPr>
        <p:spPr>
          <a:xfrm rot="16200000" flipH="1">
            <a:off x="3275399" y="207986"/>
            <a:ext cx="491020" cy="49031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winkelte Verbindung 66">
            <a:extLst>
              <a:ext uri="{FF2B5EF4-FFF2-40B4-BE49-F238E27FC236}">
                <a16:creationId xmlns:a16="http://schemas.microsoft.com/office/drawing/2014/main" id="{4CDC11E0-E2AB-34B1-3F50-413537A58D3F}"/>
              </a:ext>
            </a:extLst>
          </p:cNvPr>
          <p:cNvCxnSpPr>
            <a:stCxn id="55" idx="2"/>
            <a:endCxn id="10" idx="0"/>
          </p:cNvCxnSpPr>
          <p:nvPr/>
        </p:nvCxnSpPr>
        <p:spPr>
          <a:xfrm rot="16200000" flipH="1">
            <a:off x="1659558" y="1823827"/>
            <a:ext cx="570903" cy="17513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oliennummernplatzhalter 3">
            <a:extLst>
              <a:ext uri="{FF2B5EF4-FFF2-40B4-BE49-F238E27FC236}">
                <a16:creationId xmlns:a16="http://schemas.microsoft.com/office/drawing/2014/main" id="{B1069919-8B84-3B10-4BFF-61434CE5570B}"/>
              </a:ext>
            </a:extLst>
          </p:cNvPr>
          <p:cNvSpPr txBox="1">
            <a:spLocks/>
          </p:cNvSpPr>
          <p:nvPr/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r"/>
            <a:fld id="{CE58CB1E-F828-4F11-99E0-327109AF9DA4}" type="slidenum">
              <a:rPr lang="en-US" smtClean="0"/>
              <a:pPr algn="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82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319090" y="1847850"/>
            <a:ext cx="8508999" cy="299847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Fungal biotrophs (powdery mildew disease)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Oomycete biotroph (downy mildew)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Root and cyst nematodes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Protist biotroph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Viral biotrophs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Control samples: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Necrotrophic pathogens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Drought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9090" y="904500"/>
            <a:ext cx="8508999" cy="380745"/>
          </a:xfrm>
        </p:spPr>
        <p:txBody>
          <a:bodyPr/>
          <a:lstStyle/>
          <a:p>
            <a:r>
              <a:rPr lang="en-US" noProof="0" dirty="0"/>
              <a:t>About the pathogens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F95922A-08CD-291B-0CE0-283E6A085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595919"/>
            <a:ext cx="4729987" cy="30956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/>
              <a:t>Golovinomyces</a:t>
            </a:r>
            <a:r>
              <a:rPr lang="en-US" i="1" dirty="0"/>
              <a:t> </a:t>
            </a:r>
            <a:r>
              <a:rPr lang="en-US" i="1" dirty="0" err="1"/>
              <a:t>orontii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Erysiphe </a:t>
            </a:r>
            <a:r>
              <a:rPr lang="en-US" i="1" dirty="0" err="1"/>
              <a:t>cichoracearum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Erysiphe </a:t>
            </a:r>
            <a:r>
              <a:rPr lang="en-US" i="1" dirty="0" err="1"/>
              <a:t>cruciferarum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Causing foliar </a:t>
            </a:r>
            <a:r>
              <a:rPr lang="en-US" b="1" dirty="0"/>
              <a:t>powdery mildew 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Powdery mildews rely on living plant tissue for growth and reproduction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Life cycle begins with landing of a </a:t>
            </a:r>
            <a:r>
              <a:rPr lang="en-US" dirty="0" err="1"/>
              <a:t>condiospore</a:t>
            </a:r>
            <a:r>
              <a:rPr lang="en-US" dirty="0"/>
              <a:t> on the leaf surface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Formation of a </a:t>
            </a:r>
            <a:r>
              <a:rPr lang="en-US" b="1" dirty="0"/>
              <a:t>haustorium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serves as „feeding“ organ for nutrient uptake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94FFA3F-77F8-E42A-6C5D-43FFE4E79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Fungal biotrophs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8763C2-DEF4-EF13-DE8B-E0C115FE4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8" name="Picture 4" descr="Arabidopsis thaliana infected with Golovinomyces orontii (powdery mildew)">
            <a:extLst>
              <a:ext uri="{FF2B5EF4-FFF2-40B4-BE49-F238E27FC236}">
                <a16:creationId xmlns:a16="http://schemas.microsoft.com/office/drawing/2014/main" id="{46BF1895-EA8C-2072-CD7C-39C23CF23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41" y="496642"/>
            <a:ext cx="1775279" cy="133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tails are in the caption following the image">
            <a:extLst>
              <a:ext uri="{FF2B5EF4-FFF2-40B4-BE49-F238E27FC236}">
                <a16:creationId xmlns:a16="http://schemas.microsoft.com/office/drawing/2014/main" id="{969BDDC0-FABC-DB9F-74AD-1F0A5DFD2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387" y="282927"/>
            <a:ext cx="1662561" cy="417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7CDBD3F-B822-94F9-2066-49CFAFE331EB}"/>
              </a:ext>
            </a:extLst>
          </p:cNvPr>
          <p:cNvSpPr txBox="1"/>
          <p:nvPr/>
        </p:nvSpPr>
        <p:spPr>
          <a:xfrm>
            <a:off x="0" y="4836078"/>
            <a:ext cx="8508999" cy="3392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1.) 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https://campuspress.yale.edu/claylab/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, 2.) Koh et. Al (2005), </a:t>
            </a:r>
            <a:r>
              <a:rPr lang="en-US" sz="100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Arabidopsis thaliana</a:t>
            </a:r>
            <a:r>
              <a:rPr lang="en-US" sz="100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 subcellular responses to compatible </a:t>
            </a:r>
            <a:r>
              <a:rPr lang="en-US" sz="100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Erysiphe </a:t>
            </a:r>
            <a:r>
              <a:rPr lang="en-US" sz="1000" i="1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cichoracearum</a:t>
            </a:r>
            <a:r>
              <a:rPr lang="en-US" sz="1000" i="1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00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Open Sans" panose="020B0606030504020204" pitchFamily="34" charset="0"/>
              </a:rPr>
              <a:t>infections</a:t>
            </a:r>
            <a:endParaRPr lang="en-US" sz="1000" i="0" u="none" strike="noStrike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9C5A4CB-1D95-E798-638D-D682A9932A50}"/>
              </a:ext>
            </a:extLst>
          </p:cNvPr>
          <p:cNvSpPr txBox="1"/>
          <p:nvPr/>
        </p:nvSpPr>
        <p:spPr>
          <a:xfrm>
            <a:off x="5467117" y="1850505"/>
            <a:ext cx="1602603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Arabidopsis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infected with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G.orontii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4B0DB1-2D12-6AB8-FE80-6B8D734D9168}"/>
              </a:ext>
            </a:extLst>
          </p:cNvPr>
          <p:cNvSpPr txBox="1"/>
          <p:nvPr/>
        </p:nvSpPr>
        <p:spPr>
          <a:xfrm>
            <a:off x="5135415" y="3986545"/>
            <a:ext cx="2093330" cy="3699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Infection stages of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E.cichoracearum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 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on 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Arabidopsis</a:t>
            </a:r>
          </a:p>
        </p:txBody>
      </p:sp>
    </p:spTree>
    <p:extLst>
      <p:ext uri="{BB962C8B-B14F-4D97-AF65-F5344CB8AC3E}">
        <p14:creationId xmlns:p14="http://schemas.microsoft.com/office/powerpoint/2010/main" val="44354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143E45A-9778-00EC-88F9-7F9D253FD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600200"/>
            <a:ext cx="6310806" cy="30956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Hyaloperonospora</a:t>
            </a:r>
            <a:r>
              <a:rPr lang="en-US" b="0" i="1" u="none" strike="noStrike" dirty="0">
                <a:solidFill>
                  <a:srgbClr val="1B1B1B"/>
                </a:solidFill>
                <a:effectLst/>
              </a:rPr>
              <a:t>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arabidopsidis</a:t>
            </a:r>
            <a:endParaRPr lang="en-US" b="0" i="1" u="none" strike="noStrike" dirty="0">
              <a:solidFill>
                <a:srgbClr val="1B1B1B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>
              <a:solidFill>
                <a:srgbClr val="1B1B1B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causing </a:t>
            </a:r>
            <a:r>
              <a:rPr lang="en-US" b="1" dirty="0"/>
              <a:t>downy mildew </a:t>
            </a:r>
            <a:r>
              <a:rPr lang="en-US" dirty="0"/>
              <a:t>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shares common infection process with fungi causing powdery mildew disease </a:t>
            </a:r>
          </a:p>
          <a:p>
            <a:pPr marL="461963" lvl="1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form</a:t>
            </a:r>
            <a:r>
              <a:rPr lang="en-US" dirty="0"/>
              <a:t>ation of haustoria</a:t>
            </a:r>
          </a:p>
          <a:p>
            <a:pPr lvl="1" indent="0">
              <a:buNone/>
            </a:pPr>
            <a:endParaRPr lang="en-US" dirty="0"/>
          </a:p>
          <a:p>
            <a:pPr marL="317500" lvl="1" indent="-301625"/>
            <a:r>
              <a:rPr lang="en-US" dirty="0"/>
              <a:t>Oomycetes are phylogenetically close brown algae (distinct from true fungi)</a:t>
            </a:r>
          </a:p>
          <a:p>
            <a:pPr marL="317500" lvl="1" indent="-301625"/>
            <a:r>
              <a:rPr lang="en-US" dirty="0"/>
              <a:t>Obligate biotrophs </a:t>
            </a:r>
            <a:r>
              <a:rPr lang="en-US" dirty="0">
                <a:sym typeface="Wingdings" pitchFamily="2" charset="2"/>
              </a:rPr>
              <a:t> cannot live without their host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4E87EF4-595A-CD13-ABEB-1E54A15FB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Oomycete biotroph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C8DAD6-235B-6044-E424-EF4F5C4B2D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7F3F0-DBF9-1E7A-BD10-94D9E348AD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1161" y="4854985"/>
            <a:ext cx="8367617" cy="273844"/>
          </a:xfrm>
        </p:spPr>
        <p:txBody>
          <a:bodyPr/>
          <a:lstStyle/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Hwu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et. Al (2020), Maintenance and Quantitative Phenotyping of the Oomycete-plant Model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Pathosystem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Hyaloperonospora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arabidopsidis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–Arabidopsis,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https://bio-protocol.org/en/bpdetail?id=3661&amp;type=0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052" name="Picture 4" descr="Large image">
            <a:extLst>
              <a:ext uri="{FF2B5EF4-FFF2-40B4-BE49-F238E27FC236}">
                <a16:creationId xmlns:a16="http://schemas.microsoft.com/office/drawing/2014/main" id="{05DF77B0-AB1C-FCB6-ED8A-84B1021F9A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23"/>
          <a:stretch/>
        </p:blipFill>
        <p:spPr bwMode="auto">
          <a:xfrm>
            <a:off x="6629896" y="972000"/>
            <a:ext cx="2342149" cy="178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57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0D766A8-EDD2-4AE0-3F47-89CDD09AC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600200"/>
            <a:ext cx="5749579" cy="30956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 err="1"/>
              <a:t>Plasmodiophora</a:t>
            </a:r>
            <a:r>
              <a:rPr lang="en-US" i="1" dirty="0"/>
              <a:t> brassicae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Clubroot pathogen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Modulates host root development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Initiating formation of nutrient-replete </a:t>
            </a:r>
            <a:r>
              <a:rPr lang="en-US" b="1" dirty="0"/>
              <a:t>galls</a:t>
            </a:r>
            <a:r>
              <a:rPr lang="en-US" dirty="0"/>
              <a:t> within the root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Root infection negatively affects the uptake of water and nutrients in host plants</a:t>
            </a:r>
          </a:p>
          <a:p>
            <a:r>
              <a:rPr lang="en-US" dirty="0">
                <a:sym typeface="Wingdings" pitchFamily="2" charset="2"/>
              </a:rPr>
              <a:t>  </a:t>
            </a:r>
            <a:r>
              <a:rPr lang="en-US" dirty="0"/>
              <a:t>Reducing growth and productivity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A1EDA04-19C0-B350-C0F8-5B265257E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Protist biotroph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2454F17-C1A1-3430-6664-C3951121A8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ED7F4D-8C2B-C90D-E467-476804E81A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083" y="4695825"/>
            <a:ext cx="8694822" cy="604955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Irani et al. “Transcriptome Analysis of Response to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Plasmodiophora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Brassicae Infection in the Arabidopsis Shoot and Root.”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BMC Genomics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19 (January 5, 2018): 23.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https://doi.org/10.1186/s12864-017-4426-7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076" name="Picture 4" descr="figure 1">
            <a:extLst>
              <a:ext uri="{FF2B5EF4-FFF2-40B4-BE49-F238E27FC236}">
                <a16:creationId xmlns:a16="http://schemas.microsoft.com/office/drawing/2014/main" id="{49122515-E390-1FA0-5BE1-23DF22DA68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91" b="26300"/>
          <a:stretch/>
        </p:blipFill>
        <p:spPr bwMode="auto">
          <a:xfrm>
            <a:off x="6168772" y="905069"/>
            <a:ext cx="2656138" cy="379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564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7489487-41B0-741B-9F9B-620D2C1D1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1" y="1600200"/>
            <a:ext cx="5314794" cy="30956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endoparasitic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Cyst nematode (CN): </a:t>
            </a:r>
            <a:r>
              <a:rPr lang="en-US" i="1" dirty="0" err="1"/>
              <a:t>Heterodora</a:t>
            </a:r>
            <a:r>
              <a:rPr lang="en-US" i="1" dirty="0"/>
              <a:t> </a:t>
            </a:r>
            <a:r>
              <a:rPr lang="en-US" i="1" dirty="0" err="1"/>
              <a:t>schachtii</a:t>
            </a: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Root-knot nematode (RKN): </a:t>
            </a:r>
            <a:r>
              <a:rPr lang="en-US" i="1" dirty="0"/>
              <a:t>Meloidogyne javanica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Invasion of plant root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Move through different tissue layers to reach vascular cylinder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Formation of feedings sides: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US" dirty="0"/>
              <a:t>CN: syncytium (fusion of cells)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US" dirty="0"/>
              <a:t>RKN: several giant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uptake nutrients from the plant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Induce pathologically disturbed allocation of photosynthetic products that reduces plant growth and yield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E46D76D-2BCE-F57D-46D7-6AE1F3CF5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Nematodes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CE3910-8830-1135-F7C1-F3AD8BFB4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BA6841-4D76-B34A-2F51-2B1B5046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6992" y="4795986"/>
            <a:ext cx="8363777" cy="27384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Siddique, Shahid, and Florian Mw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Grundler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 “Parasitic Nematodes Manipulate Plant Development to Establish Feeding Sites.” 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Current Opinion in Microbiology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46 (December 2018): 102–8.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https://doi.org/10.1016/j.mib.2018.09.004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.</a:t>
            </a:r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78A867CE-EF98-367B-B533-ADC272EF3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636" y="1346006"/>
            <a:ext cx="3257550" cy="24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41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58EC1D1-FC13-5A08-C346-CCD41EB71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Turnip mosaic virus (</a:t>
            </a:r>
            <a:r>
              <a:rPr lang="en-US" i="1" dirty="0" err="1"/>
              <a:t>TuMV</a:t>
            </a:r>
            <a:r>
              <a:rPr lang="en-US" i="1" dirty="0"/>
              <a:t>) – </a:t>
            </a:r>
            <a:r>
              <a:rPr lang="en-US" dirty="0"/>
              <a:t>potyvirus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Enters cells and begins replication in the cytoplasm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forming viral replication complexes on the 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host translation machinery to produce viral proteins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Moves intracellularly to reach plasmodesmata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Eventually reaching the phloem allowing systemic infection throughout the plant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Turnip yellows virus (</a:t>
            </a:r>
            <a:r>
              <a:rPr lang="en-US" i="1" dirty="0" err="1"/>
              <a:t>TuYV</a:t>
            </a:r>
            <a:r>
              <a:rPr lang="en-US" i="1" dirty="0"/>
              <a:t>) – </a:t>
            </a:r>
            <a:r>
              <a:rPr lang="en-US" dirty="0" err="1"/>
              <a:t>polerovirus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Replicates only in phloem companion cells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specialized than </a:t>
            </a:r>
            <a:r>
              <a:rPr lang="en-US" dirty="0" err="1"/>
              <a:t>TuMV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9AC6C31-7557-0D74-AFA7-93771C1B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Viral biotrophs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70A11B-E60B-1A3B-A7EB-46A14EEBC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25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BB78F3-23C5-DFDC-367A-5F65565DD1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63E625-5182-C37B-C709-DAFA4B881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4" y="1051678"/>
            <a:ext cx="4577430" cy="2910465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F3EFC34-5786-BB88-CBB1-22E5C9B15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615" y="1051678"/>
            <a:ext cx="4466385" cy="304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15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DAF434-E458-066A-0797-88DE426BB0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3901451-E15B-641B-7AB2-035E9BB5D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8" y="958645"/>
            <a:ext cx="4708689" cy="299392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DCCB880-46D3-DD61-D9AB-81489490C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517" y="1085005"/>
            <a:ext cx="4152639" cy="282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4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0889BD-202E-8995-4E2C-DDB481CEC9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248FF9-5799-80BF-1D18-7C6885681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40" y="407955"/>
            <a:ext cx="6806211" cy="432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892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349337-7A7D-258B-88C4-0C4BB9660C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25508E3-FC36-3633-51A5-AA01C9CA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" y="266549"/>
            <a:ext cx="7783623" cy="458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06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DCB6A7-1299-8DC4-2EBB-2BC3D08D03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F439AC3-1BD3-A329-EE05-99ACB08B6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3" y="319211"/>
            <a:ext cx="8036837" cy="450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8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766E46-7D34-BA6D-6807-386E0819B2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8EDE27A-684B-B061-C8A2-3AA6A01D5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9" y="304378"/>
            <a:ext cx="7368988" cy="455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47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121AA2-3AC8-A042-7AA8-B0214113D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DEB510A-F139-C883-AAB7-0E4655420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204"/>
            <a:ext cx="7171765" cy="462109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B262764-C9E0-C74A-7951-07010A10B5E4}"/>
              </a:ext>
            </a:extLst>
          </p:cNvPr>
          <p:cNvSpPr txBox="1"/>
          <p:nvPr/>
        </p:nvSpPr>
        <p:spPr>
          <a:xfrm>
            <a:off x="7171765" y="1936376"/>
            <a:ext cx="1655243" cy="5379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dirty="0">
                <a:latin typeface="+mn-lt"/>
              </a:rPr>
              <a:t>25 Modules</a:t>
            </a:r>
          </a:p>
          <a:p>
            <a:pPr>
              <a:lnSpc>
                <a:spcPct val="114000"/>
              </a:lnSpc>
            </a:pPr>
            <a:r>
              <a:rPr lang="en-US" sz="1600" dirty="0">
                <a:latin typeface="+mn-lt"/>
              </a:rPr>
              <a:t>No grey module</a:t>
            </a:r>
          </a:p>
        </p:txBody>
      </p:sp>
    </p:spTree>
    <p:extLst>
      <p:ext uri="{BB962C8B-B14F-4D97-AF65-F5344CB8AC3E}">
        <p14:creationId xmlns:p14="http://schemas.microsoft.com/office/powerpoint/2010/main" val="3149678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EA34BD-3AF5-7023-B6F4-039D873FA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D937675-60DB-0296-2138-5391A8697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231" y="1351313"/>
            <a:ext cx="3758769" cy="18426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6982662-8598-2B46-ED62-447E8C675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7" y="625783"/>
            <a:ext cx="5487853" cy="389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8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9D133D-7215-D93E-AF23-27CD97D468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5EB0B2-4D35-6C70-BAF4-42AB83012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" y="113796"/>
            <a:ext cx="7092176" cy="502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51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7DA6CA-DAC2-3190-F591-A2699E908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161BFD2-3BC0-2CAE-1059-24AC19D3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83" y="14671"/>
            <a:ext cx="7251188" cy="514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16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DF40A87-4C63-67C7-E01E-B92208008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Module Membership (MM) / </a:t>
            </a:r>
            <a:r>
              <a:rPr lang="en-US" dirty="0" err="1"/>
              <a:t>kME</a:t>
            </a:r>
            <a:r>
              <a:rPr lang="en-US" dirty="0"/>
              <a:t> (</a:t>
            </a:r>
            <a:r>
              <a:rPr lang="en-US" dirty="0" err="1"/>
              <a:t>signedKME</a:t>
            </a:r>
            <a:r>
              <a:rPr lang="en-US" dirty="0"/>
              <a:t>()): correlation between each gene and each module eigengene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describes the connectivity of a gene inside a module</a:t>
            </a:r>
          </a:p>
          <a:p>
            <a:endParaRPr lang="en-US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Gene Significance (GS): correlation between each gene and a given trait</a:t>
            </a:r>
          </a:p>
          <a:p>
            <a:pPr marL="461963" lvl="1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Helps identify genes with a high significance for a pathogen infection</a:t>
            </a:r>
          </a:p>
          <a:p>
            <a:pPr marL="461963" lvl="1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Hub gene: important gene that has a high connectivity inside a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Genes with </a:t>
            </a:r>
            <a:r>
              <a:rPr lang="en-US" b="1" dirty="0" err="1">
                <a:sym typeface="Wingdings" pitchFamily="2" charset="2"/>
              </a:rPr>
              <a:t>kME</a:t>
            </a:r>
            <a:r>
              <a:rPr lang="en-US" b="1" dirty="0">
                <a:sym typeface="Wingdings" pitchFamily="2" charset="2"/>
              </a:rPr>
              <a:t> &gt; 0.8 </a:t>
            </a:r>
            <a:r>
              <a:rPr lang="en-US" dirty="0">
                <a:sym typeface="Wingdings" pitchFamily="2" charset="2"/>
              </a:rPr>
              <a:t>considered as hub genes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Functional enrichment of modules and hub genes with </a:t>
            </a:r>
            <a:r>
              <a:rPr lang="en-US" dirty="0" err="1">
                <a:sym typeface="Wingdings" pitchFamily="2" charset="2"/>
              </a:rPr>
              <a:t>clusterProfiler</a:t>
            </a:r>
            <a:endParaRPr lang="en-US" dirty="0">
              <a:sym typeface="Wingdings" pitchFamily="2" charset="2"/>
            </a:endParaRP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Gene Ontology (GO) overrepresentation analysis, mostly biological processes</a:t>
            </a:r>
          </a:p>
          <a:p>
            <a:pPr marL="461963" lvl="1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KEGG pathway enrichment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9532214-8092-A10B-EF68-B7A0975C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Methods for analyzing modules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6EF36C-658E-CC81-B81C-B992BBE0C5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755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A0E27D1-7D5D-19B2-F938-DC1E289B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791114"/>
          </a:xfrm>
        </p:spPr>
        <p:txBody>
          <a:bodyPr/>
          <a:lstStyle/>
          <a:p>
            <a:r>
              <a:rPr lang="en-US" dirty="0"/>
              <a:t>Oomycete biotroph -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Hyaloperonospora</a:t>
            </a:r>
            <a:r>
              <a:rPr lang="en-US" b="0" i="1" u="none" strike="noStrike" dirty="0">
                <a:solidFill>
                  <a:srgbClr val="1B1B1B"/>
                </a:solidFill>
                <a:effectLst/>
              </a:rPr>
              <a:t>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arabidopsidis</a:t>
            </a:r>
            <a:br>
              <a:rPr lang="en-US" b="0" i="1" u="none" strike="noStrike" dirty="0">
                <a:solidFill>
                  <a:srgbClr val="1B1B1B"/>
                </a:solidFill>
                <a:effectLst/>
              </a:rPr>
            </a:b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9BF7E5-3502-2A03-4CF1-9E3AFF6A2A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9" name="Grafik 8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7B12D3B1-040B-3FE6-4B8E-7B5800FB2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1" y="1926314"/>
            <a:ext cx="3008475" cy="2084304"/>
          </a:xfrm>
          <a:prstGeom prst="rect">
            <a:avLst/>
          </a:prstGeom>
        </p:spPr>
      </p:pic>
      <p:pic>
        <p:nvPicPr>
          <p:cNvPr id="14" name="Grafik 1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C0AB81E6-EB66-9797-8249-11F5E56AE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427" y="1644231"/>
            <a:ext cx="4367341" cy="302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68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F53DCF2-0AC3-8C66-7153-C8239F45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810"/>
          </a:xfrm>
        </p:spPr>
        <p:txBody>
          <a:bodyPr/>
          <a:lstStyle/>
          <a:p>
            <a:r>
              <a:rPr lang="en-US" dirty="0"/>
              <a:t>Oomycete biotroph -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Hyaloperonospora</a:t>
            </a:r>
            <a:r>
              <a:rPr lang="en-US" b="0" i="1" u="none" strike="noStrike" dirty="0">
                <a:solidFill>
                  <a:srgbClr val="1B1B1B"/>
                </a:solidFill>
                <a:effectLst/>
              </a:rPr>
              <a:t>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arabidopsidis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BFE61C-2ADE-8295-08B4-33855438F2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" name="Grafik 5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D89CB29-9E06-F3F5-B68F-088FF9BF7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5627"/>
            <a:ext cx="3154314" cy="2185342"/>
          </a:xfrm>
          <a:prstGeom prst="rect">
            <a:avLst/>
          </a:prstGeom>
        </p:spPr>
      </p:pic>
      <p:pic>
        <p:nvPicPr>
          <p:cNvPr id="8" name="Grafik 7" descr="Ein Bild, das Tex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2600E40D-BDB4-9A93-BEE0-3F8A0E429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487" y="1584357"/>
            <a:ext cx="2963024" cy="2052814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DBC8A96-593F-758C-D559-5A8D36D930C1}"/>
              </a:ext>
            </a:extLst>
          </p:cNvPr>
          <p:cNvSpPr txBox="1"/>
          <p:nvPr/>
        </p:nvSpPr>
        <p:spPr>
          <a:xfrm>
            <a:off x="3154314" y="3790691"/>
            <a:ext cx="5138928" cy="14529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b="1" dirty="0" err="1">
                <a:latin typeface="+mn-lt"/>
              </a:rPr>
              <a:t>darkred</a:t>
            </a:r>
            <a:r>
              <a:rPr lang="en-US" sz="1400" dirty="0">
                <a:latin typeface="+mn-lt"/>
              </a:rPr>
              <a:t>: enriched in plant-pathogen interaction, MAPK signaling pathway, </a:t>
            </a:r>
            <a:r>
              <a:rPr lang="en-US" sz="1400" dirty="0" err="1">
                <a:latin typeface="+mn-lt"/>
              </a:rPr>
              <a:t>Glycerolipid</a:t>
            </a:r>
            <a:r>
              <a:rPr lang="en-US" sz="1400" dirty="0">
                <a:latin typeface="+mn-lt"/>
              </a:rPr>
              <a:t> metabolism</a:t>
            </a:r>
          </a:p>
          <a:p>
            <a:pPr>
              <a:lnSpc>
                <a:spcPct val="114000"/>
              </a:lnSpc>
            </a:pPr>
            <a:endParaRPr lang="en-US" sz="1400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Single-gene </a:t>
            </a:r>
            <a:r>
              <a:rPr lang="en-US" sz="1400" dirty="0" err="1">
                <a:latin typeface="+mn-lt"/>
              </a:rPr>
              <a:t>multifunctions</a:t>
            </a:r>
            <a:r>
              <a:rPr lang="en-US" sz="1400" dirty="0">
                <a:latin typeface="+mn-lt"/>
              </a:rPr>
              <a:t>: genes could play roles in hypoxia or pathogen responses at the corresponding stress </a:t>
            </a:r>
            <a:r>
              <a:rPr lang="en-US" sz="1400" dirty="0">
                <a:latin typeface="+mn-lt"/>
                <a:sym typeface="Wingdings" pitchFamily="2" charset="2"/>
              </a:rPr>
              <a:t> WRKYs</a:t>
            </a:r>
            <a:endParaRPr lang="en-US" sz="1400" dirty="0">
              <a:latin typeface="+mn-lt"/>
            </a:endParaRPr>
          </a:p>
          <a:p>
            <a:pPr>
              <a:lnSpc>
                <a:spcPct val="114000"/>
              </a:lnSpc>
            </a:pPr>
            <a:endParaRPr lang="en-US" sz="1400" dirty="0">
              <a:latin typeface="+mn-lt"/>
            </a:endParaRPr>
          </a:p>
        </p:txBody>
      </p:sp>
      <p:pic>
        <p:nvPicPr>
          <p:cNvPr id="13" name="Grafik 12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6E430E3D-774B-24D7-0CA4-9BC90497B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302" y="1506331"/>
            <a:ext cx="3075644" cy="213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4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C09A931-59BF-EC11-8EF5-856C54E4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810"/>
          </a:xfrm>
        </p:spPr>
        <p:txBody>
          <a:bodyPr/>
          <a:lstStyle/>
          <a:p>
            <a:r>
              <a:rPr lang="en-US" dirty="0"/>
              <a:t>Oomycete biotroph -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Hyaloperonospora</a:t>
            </a:r>
            <a:r>
              <a:rPr lang="en-US" b="0" i="1" u="none" strike="noStrike" dirty="0">
                <a:solidFill>
                  <a:srgbClr val="1B1B1B"/>
                </a:solidFill>
                <a:effectLst/>
              </a:rPr>
              <a:t>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arabidopsidis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9C44DE-8AE8-5AA6-9561-DD5332DDDA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Grafik 5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38A42B2A-8511-1425-2C75-D54CDB1BF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99" y="1801350"/>
            <a:ext cx="3887533" cy="2693324"/>
          </a:xfrm>
          <a:prstGeom prst="rect">
            <a:avLst/>
          </a:prstGeom>
        </p:spPr>
      </p:pic>
      <p:pic>
        <p:nvPicPr>
          <p:cNvPr id="8" name="Grafik 7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962562A-B52A-87B8-E753-A12EB676A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90" y="1916713"/>
            <a:ext cx="3579885" cy="248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2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27D1C039-A291-332F-5D01-1097C6D48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610" y="1759360"/>
            <a:ext cx="4468213" cy="3095625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34CB9C17-0431-42F6-3A9B-268BFDA3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810"/>
          </a:xfrm>
        </p:spPr>
        <p:txBody>
          <a:bodyPr/>
          <a:lstStyle/>
          <a:p>
            <a:r>
              <a:rPr lang="en-US" dirty="0"/>
              <a:t>Oomycete biotroph -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Hyaloperonospora</a:t>
            </a:r>
            <a:r>
              <a:rPr lang="en-US" b="0" i="1" u="none" strike="noStrike" dirty="0">
                <a:solidFill>
                  <a:srgbClr val="1B1B1B"/>
                </a:solidFill>
                <a:effectLst/>
              </a:rPr>
              <a:t> </a:t>
            </a:r>
            <a:r>
              <a:rPr lang="en-US" b="0" i="1" u="none" strike="noStrike" dirty="0" err="1">
                <a:solidFill>
                  <a:srgbClr val="1B1B1B"/>
                </a:solidFill>
                <a:effectLst/>
              </a:rPr>
              <a:t>arabidopsidis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A40AD5-A338-497F-0EE7-D5DDF7A320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9" name="Grafik 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2140C30D-FD3C-1AE2-064D-90C111158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636" y="1918527"/>
            <a:ext cx="3466596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78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E3B1763-886E-6275-B73C-E0FB661B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Nematodes – </a:t>
            </a:r>
            <a:r>
              <a:rPr lang="en-US" i="1" dirty="0"/>
              <a:t>M. javanica </a:t>
            </a:r>
            <a:r>
              <a:rPr lang="en-US" dirty="0"/>
              <a:t>and </a:t>
            </a:r>
            <a:r>
              <a:rPr lang="en-US" i="1" dirty="0"/>
              <a:t>H. </a:t>
            </a:r>
            <a:r>
              <a:rPr lang="en-US" i="1" dirty="0" err="1"/>
              <a:t>schachtii</a:t>
            </a:r>
            <a:endParaRPr lang="en-US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488D63-6ACB-B679-F04C-641F049526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9" name="Grafik 8" descr="Ein Bild, das Text, Screenshot, rot, Diagramm enthält.&#10;&#10;KI-generierte Inhalte können fehlerhaft sein.">
            <a:extLst>
              <a:ext uri="{FF2B5EF4-FFF2-40B4-BE49-F238E27FC236}">
                <a16:creationId xmlns:a16="http://schemas.microsoft.com/office/drawing/2014/main" id="{C39A36E2-9234-DA7A-8802-723AB51BD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074" y="1057809"/>
            <a:ext cx="2631793" cy="1823334"/>
          </a:xfrm>
          <a:prstGeom prst="rect">
            <a:avLst/>
          </a:prstGeom>
        </p:spPr>
      </p:pic>
      <p:pic>
        <p:nvPicPr>
          <p:cNvPr id="14" name="Grafik 13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78496996-5A63-DC23-AB6D-F72E85100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880" y="2881143"/>
            <a:ext cx="3265478" cy="226235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FBA4897C-DCEC-630F-0B2B-AC462B2EF3E3}"/>
              </a:ext>
            </a:extLst>
          </p:cNvPr>
          <p:cNvSpPr txBox="1"/>
          <p:nvPr/>
        </p:nvSpPr>
        <p:spPr>
          <a:xfrm>
            <a:off x="319090" y="1602889"/>
            <a:ext cx="5221098" cy="3417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b="1" dirty="0">
                <a:latin typeface="+mn-lt"/>
              </a:rPr>
              <a:t>brown module</a:t>
            </a:r>
            <a:r>
              <a:rPr lang="en-US" sz="1400" dirty="0">
                <a:latin typeface="+mn-lt"/>
              </a:rPr>
              <a:t>: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  <a:sym typeface="Wingdings" pitchFamily="2" charset="2"/>
              </a:rPr>
              <a:t> e</a:t>
            </a:r>
            <a:r>
              <a:rPr lang="en-US" sz="1400" dirty="0">
                <a:latin typeface="+mn-lt"/>
              </a:rPr>
              <a:t>nriched in root morphogenesis, plant-type cell wall organization, plant epidermis development</a:t>
            </a:r>
          </a:p>
          <a:p>
            <a:pPr>
              <a:lnSpc>
                <a:spcPct val="114000"/>
              </a:lnSpc>
            </a:pPr>
            <a:endParaRPr lang="en-US" sz="1400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Significant for nematodes: </a:t>
            </a:r>
            <a:r>
              <a:rPr lang="en-US" sz="1400" dirty="0" err="1">
                <a:latin typeface="+mn-lt"/>
              </a:rPr>
              <a:t>postive</a:t>
            </a:r>
            <a:r>
              <a:rPr lang="en-US" sz="1400" dirty="0">
                <a:latin typeface="+mn-lt"/>
              </a:rPr>
              <a:t> regulation of DNA-templates transcription and lateral root morphogenesis</a:t>
            </a:r>
          </a:p>
          <a:p>
            <a:pPr>
              <a:lnSpc>
                <a:spcPct val="114000"/>
              </a:lnSpc>
            </a:pPr>
            <a:endParaRPr lang="en-US" sz="1400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Nematodes manipulate lateral root development to create feeding structures (</a:t>
            </a:r>
            <a:r>
              <a:rPr lang="en-US" sz="1400" dirty="0" err="1">
                <a:latin typeface="+mn-lt"/>
                <a:sym typeface="Wingdings" pitchFamily="2" charset="2"/>
              </a:rPr>
              <a:t>synctia</a:t>
            </a:r>
            <a:r>
              <a:rPr lang="en-US" sz="1400" dirty="0">
                <a:latin typeface="+mn-lt"/>
                <a:sym typeface="Wingdings" pitchFamily="2" charset="2"/>
              </a:rPr>
              <a:t>)</a:t>
            </a: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Secrete effectors that modulate host transcription factors</a:t>
            </a: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Plant may activate its own transcriptional networks in response to stress and infection</a:t>
            </a:r>
            <a:endParaRPr lang="en-US" sz="1400" dirty="0">
              <a:latin typeface="+mn-lt"/>
            </a:endParaRPr>
          </a:p>
          <a:p>
            <a:pPr>
              <a:lnSpc>
                <a:spcPct val="114000"/>
              </a:lnSpc>
            </a:pPr>
            <a:endParaRPr lang="en-US" sz="1400" dirty="0"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9234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70A6C1E1-03BD-4E49-C911-59901B50C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1162" y="1544804"/>
            <a:ext cx="3515427" cy="2435525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593B05-0E39-BAB6-F51E-E11266EDEA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D0D0D4A3-CF8F-F136-ACF5-90172EB2D961}"/>
              </a:ext>
            </a:extLst>
          </p:cNvPr>
          <p:cNvSpPr txBox="1">
            <a:spLocks/>
          </p:cNvSpPr>
          <p:nvPr/>
        </p:nvSpPr>
        <p:spPr>
          <a:xfrm>
            <a:off x="311162" y="949503"/>
            <a:ext cx="8508999" cy="38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25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dirty="0"/>
              <a:t>Nematodes – </a:t>
            </a:r>
            <a:r>
              <a:rPr lang="en-US" i="1" dirty="0"/>
              <a:t>M. javanica </a:t>
            </a:r>
            <a:r>
              <a:rPr lang="en-US" dirty="0"/>
              <a:t>and </a:t>
            </a:r>
            <a:r>
              <a:rPr lang="en-US" i="1" dirty="0"/>
              <a:t>H. </a:t>
            </a:r>
            <a:r>
              <a:rPr lang="en-US" i="1" dirty="0" err="1"/>
              <a:t>schachtii</a:t>
            </a:r>
            <a:endParaRPr lang="en-US" i="1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9794FC-BBCA-A72C-D769-CCBE57915C96}"/>
              </a:ext>
            </a:extLst>
          </p:cNvPr>
          <p:cNvSpPr txBox="1"/>
          <p:nvPr/>
        </p:nvSpPr>
        <p:spPr>
          <a:xfrm>
            <a:off x="3937300" y="1560483"/>
            <a:ext cx="4744122" cy="24352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b="1" dirty="0" err="1">
                <a:latin typeface="+mn-lt"/>
              </a:rPr>
              <a:t>darkgreen</a:t>
            </a:r>
            <a:r>
              <a:rPr lang="en-US" sz="1400" dirty="0">
                <a:latin typeface="+mn-lt"/>
              </a:rPr>
              <a:t>: enriched in translation, ribosome biogenesis, cytoplasmic translation, rRNA processing</a:t>
            </a:r>
          </a:p>
          <a:p>
            <a:pPr>
              <a:lnSpc>
                <a:spcPct val="114000"/>
              </a:lnSpc>
            </a:pPr>
            <a:endParaRPr lang="en-US" sz="1400" dirty="0">
              <a:latin typeface="+mn-lt"/>
            </a:endParaRP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Increased protein synthesis demand</a:t>
            </a: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Often associated with rapid growth, stress responses or metabolic shifts</a:t>
            </a: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endParaRPr lang="en-US" sz="1400" dirty="0"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For nematodes: could suggest that the nematode is inducing high protein production to maintain feeding sites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671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45EF1F7B-2461-F073-2B11-712701BB4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15100" y="65547"/>
            <a:ext cx="3393795" cy="2351257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471D70BF-1EDB-5478-117F-AE516154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Protist biotroph – </a:t>
            </a:r>
            <a:r>
              <a:rPr lang="en-US" i="1" dirty="0"/>
              <a:t>P. brassicae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D30357-7AD4-3677-9D43-FBA2E573E1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9" name="Grafik 8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1C5C957C-A8E8-268E-720D-AD664AF06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656" y="2495602"/>
            <a:ext cx="3529173" cy="244504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01FEE53-4C6D-4BC0-CCFA-EDAFB1F62B69}"/>
              </a:ext>
            </a:extLst>
          </p:cNvPr>
          <p:cNvSpPr txBox="1"/>
          <p:nvPr/>
        </p:nvSpPr>
        <p:spPr>
          <a:xfrm>
            <a:off x="235105" y="1687747"/>
            <a:ext cx="487837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enriched in plant-pathogen interaction pathway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hypoxia response</a:t>
            </a:r>
            <a:r>
              <a:rPr lang="en-US" sz="1400" dirty="0"/>
              <a:t>: contributes positively to clubroot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jasmonic</a:t>
            </a:r>
            <a:r>
              <a:rPr lang="en-US" sz="1400" b="1" dirty="0"/>
              <a:t> acid signaling</a:t>
            </a:r>
            <a:r>
              <a:rPr lang="en-US" sz="1400" dirty="0"/>
              <a:t>: part of defense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hub genes also belong to JAZ or TIFY family 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400" dirty="0"/>
              <a:t>13 JAZ genes have been reported in </a:t>
            </a:r>
            <a:r>
              <a:rPr lang="en-US" sz="1400" dirty="0" err="1"/>
              <a:t>A.thaliana</a:t>
            </a:r>
            <a:r>
              <a:rPr lang="en-US" sz="1400" dirty="0"/>
              <a:t> 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sz="1400" dirty="0"/>
              <a:t>participate in plant development and defense reactions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B4F660D-FB07-DDD9-F47E-3B8CB055CEA2}"/>
              </a:ext>
            </a:extLst>
          </p:cNvPr>
          <p:cNvSpPr/>
          <p:nvPr/>
        </p:nvSpPr>
        <p:spPr>
          <a:xfrm>
            <a:off x="7227694" y="4324788"/>
            <a:ext cx="398224" cy="9765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39A1593-A79E-4CE9-AA27-68F6BF140953}"/>
              </a:ext>
            </a:extLst>
          </p:cNvPr>
          <p:cNvSpPr/>
          <p:nvPr/>
        </p:nvSpPr>
        <p:spPr>
          <a:xfrm>
            <a:off x="6900700" y="4653378"/>
            <a:ext cx="398224" cy="9765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2BEFEE1-D565-75E8-1A82-790D9E32EC57}"/>
              </a:ext>
            </a:extLst>
          </p:cNvPr>
          <p:cNvSpPr/>
          <p:nvPr/>
        </p:nvSpPr>
        <p:spPr>
          <a:xfrm>
            <a:off x="6744497" y="4500598"/>
            <a:ext cx="398224" cy="9765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6008E8E-36E2-BFEA-7355-04B07D42E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36996"/>
            <a:ext cx="2831503" cy="8163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08010A8-5CF7-B007-4A26-20511EE491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458" y="4459670"/>
            <a:ext cx="3060244" cy="61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89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DD1F4FC-5BBF-3ED6-BE74-C4CED114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Viral biotroph – Turnip mosaic virus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213C72-4DB2-635E-2913-D4AEE09217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11" name="Grafik 10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D3F2B7EA-1EC6-51C5-D872-1913E3C30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56" y="1572966"/>
            <a:ext cx="3401828" cy="2356822"/>
          </a:xfrm>
          <a:prstGeom prst="rect">
            <a:avLst/>
          </a:prstGeom>
        </p:spPr>
      </p:pic>
      <p:pic>
        <p:nvPicPr>
          <p:cNvPr id="16" name="Grafik 1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6B65A2FD-DFF7-1BFC-1EB3-907ECCB87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018" y="2772007"/>
            <a:ext cx="3401828" cy="2356822"/>
          </a:xfrm>
          <a:prstGeom prst="rect">
            <a:avLst/>
          </a:prstGeom>
        </p:spPr>
      </p:pic>
      <p:pic>
        <p:nvPicPr>
          <p:cNvPr id="18" name="Grafik 17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57AF0395-BDF2-9D09-DFC2-D2BCDEF8D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814" y="116490"/>
            <a:ext cx="3803186" cy="2634887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BCA25F8-F148-3716-6AAC-5E9DD9ADFC23}"/>
              </a:ext>
            </a:extLst>
          </p:cNvPr>
          <p:cNvSpPr txBox="1"/>
          <p:nvPr/>
        </p:nvSpPr>
        <p:spPr>
          <a:xfrm>
            <a:off x="319090" y="4171500"/>
            <a:ext cx="3541034" cy="7162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Enriched in following pathways: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Pentose and glucoronate interconversion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n-lt"/>
              </a:rPr>
              <a:t>Cutin</a:t>
            </a:r>
            <a:r>
              <a:rPr lang="en-US" sz="1400" dirty="0">
                <a:latin typeface="+mn-lt"/>
              </a:rPr>
              <a:t>, </a:t>
            </a:r>
            <a:r>
              <a:rPr lang="en-US" sz="1400" dirty="0" err="1">
                <a:latin typeface="+mn-lt"/>
              </a:rPr>
              <a:t>suberine</a:t>
            </a:r>
            <a:r>
              <a:rPr lang="en-US" sz="1400" dirty="0">
                <a:latin typeface="+mn-lt"/>
              </a:rPr>
              <a:t> and wax biosynthesis</a:t>
            </a:r>
          </a:p>
        </p:txBody>
      </p:sp>
    </p:spTree>
    <p:extLst>
      <p:ext uri="{BB962C8B-B14F-4D97-AF65-F5344CB8AC3E}">
        <p14:creationId xmlns:p14="http://schemas.microsoft.com/office/powerpoint/2010/main" val="1937794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6908FB-074B-12DE-AB33-1E835F989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90" y="1600200"/>
            <a:ext cx="8508999" cy="127573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specific pathways and biological processes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c</a:t>
            </a:r>
            <a:r>
              <a:rPr lang="en-US" dirty="0"/>
              <a:t>ould suggest changes in cell wall and reproductive development of the plant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Cutin</a:t>
            </a:r>
            <a:r>
              <a:rPr lang="en-US" dirty="0"/>
              <a:t>, </a:t>
            </a:r>
            <a:r>
              <a:rPr lang="en-US" dirty="0" err="1"/>
              <a:t>suberine</a:t>
            </a:r>
            <a:r>
              <a:rPr lang="en-US" dirty="0"/>
              <a:t> and wax are components of cell wall and protective barriers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/>
              <a:t>Defense mechanism of the plant trying to build mechanical barriers against the invasion of the virus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à"/>
            </a:pP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D3445AE-F2BB-978B-FF16-08922D53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Viral biotroph – Turnip mosaic virus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417BA9-12DD-BAA8-0220-2BA8698196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CEFCE6E-E7FF-53DC-D92A-1E072DEC6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11" y="3177903"/>
            <a:ext cx="5464277" cy="159750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D58652DD-2C64-E9AD-55AB-6084FB348CCE}"/>
              </a:ext>
            </a:extLst>
          </p:cNvPr>
          <p:cNvSpPr txBox="1"/>
          <p:nvPr/>
        </p:nvSpPr>
        <p:spPr>
          <a:xfrm>
            <a:off x="5780188" y="3065371"/>
            <a:ext cx="3046820" cy="14529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Viral strains of </a:t>
            </a:r>
            <a:r>
              <a:rPr lang="en-US" sz="1400" dirty="0" err="1">
                <a:latin typeface="+mn-lt"/>
              </a:rPr>
              <a:t>TuMV</a:t>
            </a:r>
            <a:r>
              <a:rPr lang="en-US" sz="1400" dirty="0">
                <a:latin typeface="+mn-lt"/>
              </a:rPr>
              <a:t> disrupt secondary cell wall deposition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Interfere with plant development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Developmental alterations could maybe lead to dysregulation of </a:t>
            </a:r>
            <a:r>
              <a:rPr lang="en-US" sz="1400" dirty="0" err="1">
                <a:latin typeface="+mn-lt"/>
              </a:rPr>
              <a:t>reproducitve</a:t>
            </a:r>
            <a:r>
              <a:rPr lang="en-US" sz="1400" dirty="0">
                <a:latin typeface="+mn-lt"/>
              </a:rPr>
              <a:t> pathways</a:t>
            </a:r>
          </a:p>
        </p:txBody>
      </p:sp>
    </p:spTree>
    <p:extLst>
      <p:ext uri="{BB962C8B-B14F-4D97-AF65-F5344CB8AC3E}">
        <p14:creationId xmlns:p14="http://schemas.microsoft.com/office/powerpoint/2010/main" val="1469254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D7D13-8DAD-9E89-F373-9DDE206B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, Diagramm, Muster enthält.&#10;&#10;KI-generierte Inhalte können fehlerhaft sein.">
            <a:extLst>
              <a:ext uri="{FF2B5EF4-FFF2-40B4-BE49-F238E27FC236}">
                <a16:creationId xmlns:a16="http://schemas.microsoft.com/office/drawing/2014/main" id="{D6089FC1-3B0F-7031-136A-9CAA288DE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9090" y="1556254"/>
            <a:ext cx="2551720" cy="1767858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3B68EF78-C067-F8E6-2B79-F59A8CC2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Viral biotroph – Turnip mosaic virus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8FA7CE-D8BF-8859-9F64-6EFAACD97E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9" name="Grafik 8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EC6081DE-FC55-4551-AAC9-BF0C59C18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70" y="3341564"/>
            <a:ext cx="2551720" cy="176785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693B146-2276-313E-8ACC-3072FFFC0172}"/>
              </a:ext>
            </a:extLst>
          </p:cNvPr>
          <p:cNvSpPr txBox="1"/>
          <p:nvPr/>
        </p:nvSpPr>
        <p:spPr>
          <a:xfrm>
            <a:off x="3144132" y="1806977"/>
            <a:ext cx="5680778" cy="9618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b="1" dirty="0">
                <a:latin typeface="+mn-lt"/>
              </a:rPr>
              <a:t>Grey60</a:t>
            </a:r>
            <a:r>
              <a:rPr lang="en-US" sz="1400" dirty="0">
                <a:latin typeface="+mn-lt"/>
              </a:rPr>
              <a:t>: enriched in oxidative phosphorylation, purine nucleoside triphosphate biosynthetic process</a:t>
            </a: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Indicate changes in mitochondrial energy production</a:t>
            </a:r>
          </a:p>
          <a:p>
            <a:pPr marL="285750" indent="-285750">
              <a:lnSpc>
                <a:spcPct val="114000"/>
              </a:lnSpc>
              <a:buFont typeface="Wingdings" pitchFamily="2" charset="2"/>
              <a:buChar char="à"/>
            </a:pPr>
            <a:r>
              <a:rPr lang="en-US" sz="1400" dirty="0">
                <a:latin typeface="+mn-lt"/>
                <a:sym typeface="Wingdings" pitchFamily="2" charset="2"/>
              </a:rPr>
              <a:t>Manipulation of host cellular metabolism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C2C0AC4-2097-43F3-292A-7AE1351421FE}"/>
              </a:ext>
            </a:extLst>
          </p:cNvPr>
          <p:cNvSpPr txBox="1"/>
          <p:nvPr/>
        </p:nvSpPr>
        <p:spPr>
          <a:xfrm>
            <a:off x="3144131" y="3824791"/>
            <a:ext cx="4967481" cy="470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b="1" dirty="0">
                <a:latin typeface="+mn-lt"/>
              </a:rPr>
              <a:t>Plum1: </a:t>
            </a:r>
            <a:r>
              <a:rPr lang="en-US" sz="1400" dirty="0">
                <a:latin typeface="+mn-lt"/>
              </a:rPr>
              <a:t>enriched in DNA damage response, double strand break repair </a:t>
            </a:r>
          </a:p>
        </p:txBody>
      </p:sp>
    </p:spTree>
    <p:extLst>
      <p:ext uri="{BB962C8B-B14F-4D97-AF65-F5344CB8AC3E}">
        <p14:creationId xmlns:p14="http://schemas.microsoft.com/office/powerpoint/2010/main" val="737464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1D430B3-D776-CE4F-A884-5A278A3B3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modules correlating with all three fungal biotrophs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Maybe d</a:t>
            </a:r>
            <a:r>
              <a:rPr lang="en-US" dirty="0"/>
              <a:t>ifferent infection strategies?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en-US" dirty="0"/>
              <a:t>Genetic differences between fungal species?</a:t>
            </a:r>
          </a:p>
          <a:p>
            <a:pPr marL="285750" indent="-285750">
              <a:buFont typeface="Wingdings" pitchFamily="2" charset="2"/>
              <a:buChar char="à"/>
            </a:pPr>
            <a:endParaRPr lang="en-US" dirty="0"/>
          </a:p>
          <a:p>
            <a:pPr marL="285750" indent="-285750">
              <a:buFont typeface="Wingdings" pitchFamily="2" charset="2"/>
              <a:buChar char="à"/>
            </a:pPr>
            <a:endParaRPr lang="en-US" dirty="0"/>
          </a:p>
          <a:p>
            <a:pPr marL="285750" indent="-285750">
              <a:buFont typeface="Wingdings" pitchFamily="2" charset="2"/>
              <a:buChar char="à"/>
            </a:pPr>
            <a:endParaRPr lang="en-US" dirty="0"/>
          </a:p>
          <a:p>
            <a:pPr marL="285750" indent="-285750">
              <a:buFont typeface="Wingdings" pitchFamily="2" charset="2"/>
              <a:buChar char="à"/>
            </a:pP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D94CB08-4C8D-D333-2123-B594EB34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dirty="0"/>
              <a:t>Fungal biotrophs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69EB51-1340-0750-8D3D-5C35AB545B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AB28774-C3E4-95B4-8C2A-78157380058B}"/>
              </a:ext>
            </a:extLst>
          </p:cNvPr>
          <p:cNvSpPr txBox="1"/>
          <p:nvPr/>
        </p:nvSpPr>
        <p:spPr>
          <a:xfrm>
            <a:off x="2198951" y="2738669"/>
            <a:ext cx="1596591" cy="8186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i="1" dirty="0" err="1"/>
              <a:t>G.orontii</a:t>
            </a:r>
            <a:endParaRPr lang="en-US" sz="1600" i="1" dirty="0"/>
          </a:p>
          <a:p>
            <a:pPr>
              <a:lnSpc>
                <a:spcPct val="114000"/>
              </a:lnSpc>
            </a:pPr>
            <a:r>
              <a:rPr lang="en-US" sz="1600" i="1" dirty="0" err="1"/>
              <a:t>E.cichoracearum</a:t>
            </a:r>
            <a:r>
              <a:rPr lang="en-US" sz="1600" i="1" dirty="0"/>
              <a:t> </a:t>
            </a:r>
          </a:p>
          <a:p>
            <a:pPr>
              <a:lnSpc>
                <a:spcPct val="114000"/>
              </a:lnSpc>
            </a:pPr>
            <a:r>
              <a:rPr lang="en-US" sz="1600" i="1" dirty="0" err="1"/>
              <a:t>E.cruciferarum</a:t>
            </a:r>
            <a:endParaRPr lang="en-US" sz="16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5030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2B37-E811-E618-31ED-54A8657C5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3B4FF1-02FF-7B5A-7D37-388FE63223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D97AA77-01FF-14E3-E77D-C6E474D4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2" y="113796"/>
            <a:ext cx="7092176" cy="502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9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AD38BB4-7C65-679F-9438-4BBC37055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i="1" dirty="0" err="1"/>
              <a:t>Golovinomyces</a:t>
            </a:r>
            <a:r>
              <a:rPr lang="en-US" dirty="0"/>
              <a:t> </a:t>
            </a:r>
            <a:r>
              <a:rPr lang="en-US" i="1" dirty="0" err="1"/>
              <a:t>orontii</a:t>
            </a:r>
            <a:endParaRPr lang="en-US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04C667-E911-D78B-D44D-F052E507A0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9" name="Inhaltsplatzhalter 8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383531E7-55D3-CC0C-CD82-A2A7558F9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9905" y="2049731"/>
            <a:ext cx="3043064" cy="2108267"/>
          </a:xfr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02B89D4-A05A-8AE6-39A9-448976D28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742" y="532115"/>
            <a:ext cx="3712054" cy="257175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8FD0CB1-CD8D-CC44-FD05-99162C50AA5B}"/>
              </a:ext>
            </a:extLst>
          </p:cNvPr>
          <p:cNvSpPr txBox="1"/>
          <p:nvPr/>
        </p:nvSpPr>
        <p:spPr>
          <a:xfrm>
            <a:off x="4019692" y="3383756"/>
            <a:ext cx="4457652" cy="12073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</a:rPr>
              <a:t>enriched in flavonoid biosynthesis pathway, starch and sucrose metabolism, nicotinate and nicotinamide metabolism</a:t>
            </a:r>
          </a:p>
          <a:p>
            <a:pPr>
              <a:lnSpc>
                <a:spcPct val="114000"/>
              </a:lnSpc>
            </a:pPr>
            <a:r>
              <a:rPr lang="en-US" sz="1400" dirty="0">
                <a:latin typeface="+mn-lt"/>
                <a:sym typeface="Wingdings" pitchFamily="2" charset="2"/>
              </a:rPr>
              <a:t> Flavonoids as defense mechanism against biotrophic pathogens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1344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CAA7F92-E2FB-6954-5EE3-D90E2734D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012" y="1600200"/>
            <a:ext cx="5529077" cy="309562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Downregulation of protein export, protein localization to ER</a:t>
            </a:r>
          </a:p>
          <a:p>
            <a:pPr marL="285750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Response to hypoxia and to carbohydrate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18BDD11-672F-3C9A-A363-3F73CC7D9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810"/>
          </a:xfrm>
        </p:spPr>
        <p:txBody>
          <a:bodyPr/>
          <a:lstStyle/>
          <a:p>
            <a:r>
              <a:rPr lang="en-US" i="1" dirty="0" err="1"/>
              <a:t>Golovinomyces</a:t>
            </a:r>
            <a:r>
              <a:rPr lang="en-US" dirty="0"/>
              <a:t> </a:t>
            </a:r>
            <a:r>
              <a:rPr lang="en-US" i="1" dirty="0" err="1"/>
              <a:t>orontii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4247CC-9F48-FAA3-BF7E-AA256A141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913AFAD-204E-507B-D7CF-3030AE70D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74" y="3249165"/>
            <a:ext cx="2734142" cy="1894335"/>
          </a:xfrm>
          <a:prstGeom prst="rect">
            <a:avLst/>
          </a:prstGeom>
        </p:spPr>
      </p:pic>
      <p:pic>
        <p:nvPicPr>
          <p:cNvPr id="7" name="Grafik 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30EC7DF2-F564-0A84-D9AE-84E2B6B39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73" y="1433182"/>
            <a:ext cx="2632505" cy="182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21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74EE413-5555-FE16-166F-72872A11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i="1" dirty="0"/>
              <a:t>Erysiphe </a:t>
            </a:r>
            <a:r>
              <a:rPr lang="en-US" i="1" dirty="0" err="1"/>
              <a:t>cichoracearum</a:t>
            </a:r>
            <a:endParaRPr lang="en-US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C58210-C246-537B-1C1A-69CCDDDA00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5" name="Grafik 4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D8E84EDF-B7A5-6C2B-25DE-48DABF32A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" y="1834199"/>
            <a:ext cx="3373651" cy="233730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C99A03D-23C7-296D-85B6-FE6F698E49FC}"/>
              </a:ext>
            </a:extLst>
          </p:cNvPr>
          <p:cNvSpPr txBox="1"/>
          <p:nvPr/>
        </p:nvSpPr>
        <p:spPr>
          <a:xfrm>
            <a:off x="4255008" y="1593471"/>
            <a:ext cx="4572000" cy="8186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n-lt"/>
              </a:rPr>
              <a:t>Darkgreen</a:t>
            </a:r>
            <a:r>
              <a:rPr lang="en-US" sz="1600" dirty="0">
                <a:latin typeface="+mn-lt"/>
              </a:rPr>
              <a:t> module: enriched in Translation (Ribosome)</a:t>
            </a:r>
          </a:p>
          <a:p>
            <a:pPr>
              <a:lnSpc>
                <a:spcPct val="114000"/>
              </a:lnSpc>
            </a:pPr>
            <a:r>
              <a:rPr lang="en-US" sz="1600" dirty="0">
                <a:latin typeface="+mn-lt"/>
                <a:sym typeface="Wingdings" pitchFamily="2" charset="2"/>
              </a:rPr>
              <a:t> downregulated during infection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54552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E949120-6565-9DB2-9B8E-921B75D6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i="1" dirty="0"/>
              <a:t>Erysiphe </a:t>
            </a:r>
            <a:r>
              <a:rPr lang="en-US" i="1" dirty="0" err="1"/>
              <a:t>cruciferarum</a:t>
            </a:r>
            <a:endParaRPr lang="en-US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0E0970-6782-93D4-0A9A-388224635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97A83F5-4E54-DBF3-D2A6-2221BA500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160" y="3208362"/>
            <a:ext cx="3111157" cy="192046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02C3492-BC42-45A3-950C-1A569B2D9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823" y="1095669"/>
            <a:ext cx="3499148" cy="21126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F3D0E3B-D052-AE64-5333-DCEDED946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360" y="3385497"/>
            <a:ext cx="3749824" cy="6289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8168BAA-430F-19A7-CA4C-68939FD48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90" y="1465983"/>
            <a:ext cx="2648164" cy="163788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E981612-3B47-2D03-EE19-9A1A4F4FC29F}"/>
              </a:ext>
            </a:extLst>
          </p:cNvPr>
          <p:cNvSpPr txBox="1"/>
          <p:nvPr/>
        </p:nvSpPr>
        <p:spPr>
          <a:xfrm>
            <a:off x="4488934" y="436471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unpublished dataset: </a:t>
            </a:r>
            <a:r>
              <a:rPr lang="en-US" sz="1400" i="1" dirty="0" err="1"/>
              <a:t>E.cruciferarum</a:t>
            </a:r>
            <a:endParaRPr lang="en-US" sz="1400" i="1" dirty="0">
              <a:latin typeface="+mn-lt"/>
            </a:endParaRPr>
          </a:p>
          <a:p>
            <a:r>
              <a:rPr lang="en-US" sz="1400" dirty="0">
                <a:sym typeface="Wingdings" pitchFamily="2" charset="2"/>
              </a:rPr>
              <a:t>  </a:t>
            </a:r>
            <a:r>
              <a:rPr lang="en-US" sz="1400" dirty="0"/>
              <a:t>Strongly upregulated in pink and orange module</a:t>
            </a:r>
          </a:p>
        </p:txBody>
      </p:sp>
    </p:spTree>
    <p:extLst>
      <p:ext uri="{BB962C8B-B14F-4D97-AF65-F5344CB8AC3E}">
        <p14:creationId xmlns:p14="http://schemas.microsoft.com/office/powerpoint/2010/main" val="1057629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BAF751B3-D2AC-B183-2B72-37320122F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931" y="1437570"/>
            <a:ext cx="3803330" cy="2634987"/>
          </a:xfr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3162B9C7-AF7C-669E-F087-EA7294C6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972000"/>
            <a:ext cx="8508999" cy="380745"/>
          </a:xfrm>
        </p:spPr>
        <p:txBody>
          <a:bodyPr/>
          <a:lstStyle/>
          <a:p>
            <a:r>
              <a:rPr lang="en-US" i="1" dirty="0" err="1"/>
              <a:t>Erisyphe</a:t>
            </a:r>
            <a:r>
              <a:rPr lang="en-US" i="1" dirty="0"/>
              <a:t> </a:t>
            </a:r>
            <a:r>
              <a:rPr lang="en-US" i="1" dirty="0" err="1"/>
              <a:t>cruciferarum</a:t>
            </a:r>
            <a:endParaRPr lang="en-US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821B15-419E-4E87-53E2-9A57CFFC7C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9" name="Grafik 8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2244409-AED2-E454-8F26-3F0087FBB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37570"/>
            <a:ext cx="3803331" cy="263498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00CE0E1-7FC8-D8ED-25FB-A581835BB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1" y="4140759"/>
            <a:ext cx="3803330" cy="85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065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E7C54718-ABDC-E476-9DA4-47D5A5288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4111" y="652493"/>
            <a:ext cx="6215863" cy="3838513"/>
          </a:xfr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F67CC1-8FE2-71C0-92DE-8FC82E5EA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734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E781192-B826-EF75-7B36-7469E4A7F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biotroph seems to have its own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Manipulation of plant’s metabolisms for nutrient uptake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biotrophs suppress plant defense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biotrophs actively use plant defense mechanisms to their advantage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lot of different modules could also result from the way the dataset is build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04BF49-945F-EC63-AD9F-57B9E584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649926"/>
            <a:ext cx="8508999" cy="791114"/>
          </a:xfrm>
        </p:spPr>
        <p:txBody>
          <a:bodyPr/>
          <a:lstStyle/>
          <a:p>
            <a:r>
              <a:rPr lang="en-US" noProof="0" dirty="0"/>
              <a:t>Commonalities and Divergences in Biotrophic Plant-Microbe Interactions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179309-A352-0ABD-16B1-6D435AD489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801025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1E03A00F-5A34-475F-BA84-E2EBED434790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008B5212-AD15-4DA8-AB6C-182350FFA4EA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CFAC8027-78A3-4001-93FE-AE371D2D92B1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94C99F27-547F-408F-8FEB-51CB360826DB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D62E0DEB-27C1-4887-9BB6-4AC5FC555B75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71F9E29F-9B65-4C06-A32E-848D689232B9}" vid="{D4175650-7EAE-421A-870A-005CB3789E30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Titel 1</Template>
  <TotalTime>0</TotalTime>
  <Words>1273</Words>
  <Application>Microsoft Macintosh PowerPoint</Application>
  <PresentationFormat>Bildschirmpräsentation (16:9)</PresentationFormat>
  <Paragraphs>237</Paragraphs>
  <Slides>38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38</vt:i4>
      </vt:variant>
    </vt:vector>
  </HeadingPairs>
  <TitlesOfParts>
    <vt:vector size="50" baseType="lpstr">
      <vt:lpstr>Arial</vt:lpstr>
      <vt:lpstr>Calibri</vt:lpstr>
      <vt:lpstr>Courier New</vt:lpstr>
      <vt:lpstr>Open Sans</vt:lpstr>
      <vt:lpstr>Symbol</vt:lpstr>
      <vt:lpstr>Wingdings</vt:lpstr>
      <vt:lpstr>Titel 1</vt:lpstr>
      <vt:lpstr>Titel 2</vt:lpstr>
      <vt:lpstr>Titel 3</vt:lpstr>
      <vt:lpstr>Inhalt</vt:lpstr>
      <vt:lpstr>Kapiteltrenner blau</vt:lpstr>
      <vt:lpstr>Kapiteltrenner schwarz</vt:lpstr>
      <vt:lpstr>Unveiling Commonalities and Divergences in Biotrophic Plant-Microbe Interactions using Gene Co-Expression Networks in Arabidopsis thaliana</vt:lpstr>
      <vt:lpstr>PowerPoint-Präsentation</vt:lpstr>
      <vt:lpstr>About the pathogens</vt:lpstr>
      <vt:lpstr>Fungal biotrophs</vt:lpstr>
      <vt:lpstr>Oomycete biotroph</vt:lpstr>
      <vt:lpstr>Protist biotroph</vt:lpstr>
      <vt:lpstr>Nematodes</vt:lpstr>
      <vt:lpstr>Viral biotrophs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Methods for analyzing modules</vt:lpstr>
      <vt:lpstr>Oomycete biotroph - Hyaloperonospora arabidopsidis </vt:lpstr>
      <vt:lpstr>Oomycete biotroph - Hyaloperonospora arabidopsidis</vt:lpstr>
      <vt:lpstr>Oomycete biotroph - Hyaloperonospora arabidopsidis</vt:lpstr>
      <vt:lpstr>Oomycete biotroph - Hyaloperonospora arabidopsidis</vt:lpstr>
      <vt:lpstr>Nematodes – M. javanica and H. schachtii</vt:lpstr>
      <vt:lpstr>PowerPoint-Präsentation</vt:lpstr>
      <vt:lpstr>Protist biotroph – P. brassicae</vt:lpstr>
      <vt:lpstr>Viral biotroph – Turnip mosaic virus</vt:lpstr>
      <vt:lpstr>Viral biotroph – Turnip mosaic virus</vt:lpstr>
      <vt:lpstr>Viral biotroph – Turnip mosaic virus</vt:lpstr>
      <vt:lpstr>Fungal biotrophs</vt:lpstr>
      <vt:lpstr>PowerPoint-Präsentation</vt:lpstr>
      <vt:lpstr>Golovinomyces orontii</vt:lpstr>
      <vt:lpstr>Golovinomyces orontii</vt:lpstr>
      <vt:lpstr>Erysiphe cichoracearum</vt:lpstr>
      <vt:lpstr>Erysiphe cruciferarum</vt:lpstr>
      <vt:lpstr>Erisyphe cruciferarum</vt:lpstr>
      <vt:lpstr>PowerPoint-Präsentation</vt:lpstr>
      <vt:lpstr>Commonalities and Divergences in Biotrophic Plant-Microbe Interactions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Luisa Katharina Bender</dc:creator>
  <cp:lastModifiedBy>Luisa Katharina Bender</cp:lastModifiedBy>
  <cp:revision>14</cp:revision>
  <cp:lastPrinted>2015-07-30T14:04:45Z</cp:lastPrinted>
  <dcterms:created xsi:type="dcterms:W3CDTF">2025-03-06T08:35:31Z</dcterms:created>
  <dcterms:modified xsi:type="dcterms:W3CDTF">2025-03-28T17:31:18Z</dcterms:modified>
</cp:coreProperties>
</file>