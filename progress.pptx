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61" r:id="rId2"/>
    <p:sldId id="260" r:id="rId3"/>
    <p:sldId id="262" r:id="rId4"/>
    <p:sldId id="264" r:id="rId5"/>
    <p:sldId id="272" r:id="rId6"/>
    <p:sldId id="268" r:id="rId7"/>
    <p:sldId id="269" r:id="rId8"/>
    <p:sldId id="270" r:id="rId9"/>
    <p:sldId id="271" r:id="rId10"/>
    <p:sldId id="273" r:id="rId11"/>
    <p:sldId id="282" r:id="rId12"/>
    <p:sldId id="274" r:id="rId13"/>
    <p:sldId id="275" r:id="rId14"/>
    <p:sldId id="279" r:id="rId15"/>
    <p:sldId id="292" r:id="rId16"/>
    <p:sldId id="293" r:id="rId17"/>
    <p:sldId id="288" r:id="rId18"/>
    <p:sldId id="294" r:id="rId19"/>
    <p:sldId id="284" r:id="rId20"/>
    <p:sldId id="289" r:id="rId21"/>
    <p:sldId id="290" r:id="rId22"/>
    <p:sldId id="295" r:id="rId23"/>
    <p:sldId id="299" r:id="rId24"/>
    <p:sldId id="296" r:id="rId25"/>
    <p:sldId id="297" r:id="rId26"/>
    <p:sldId id="298" r:id="rId27"/>
    <p:sldId id="300" r:id="rId28"/>
    <p:sldId id="302" r:id="rId29"/>
    <p:sldId id="301" r:id="rId30"/>
    <p:sldId id="304" r:id="rId31"/>
    <p:sldId id="306" r:id="rId32"/>
    <p:sldId id="310" r:id="rId33"/>
    <p:sldId id="307" r:id="rId34"/>
    <p:sldId id="308" r:id="rId35"/>
    <p:sldId id="309" r:id="rId36"/>
    <p:sldId id="311" r:id="rId37"/>
    <p:sldId id="312" r:id="rId38"/>
    <p:sldId id="313" r:id="rId39"/>
    <p:sldId id="303" r:id="rId40"/>
    <p:sldId id="314" r:id="rId41"/>
    <p:sldId id="316" r:id="rId42"/>
    <p:sldId id="319" r:id="rId43"/>
    <p:sldId id="315" r:id="rId44"/>
    <p:sldId id="320" r:id="rId45"/>
    <p:sldId id="321" r:id="rId46"/>
    <p:sldId id="322" r:id="rId47"/>
    <p:sldId id="326" r:id="rId48"/>
    <p:sldId id="318" r:id="rId49"/>
    <p:sldId id="323" r:id="rId50"/>
    <p:sldId id="324" r:id="rId51"/>
    <p:sldId id="325" r:id="rId52"/>
    <p:sldId id="317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60"/>
    <p:restoredTop sz="94557"/>
  </p:normalViewPr>
  <p:slideViewPr>
    <p:cSldViewPr snapToGrid="0">
      <p:cViewPr>
        <p:scale>
          <a:sx n="105" d="100"/>
          <a:sy n="105" d="100"/>
        </p:scale>
        <p:origin x="3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10166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2786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bacteria</a:t>
            </a:r>
            <a:r>
              <a:rPr lang="de-DE" dirty="0"/>
              <a:t>, </a:t>
            </a:r>
            <a:r>
              <a:rPr lang="de-DE" dirty="0" err="1"/>
              <a:t>virus</a:t>
            </a:r>
            <a:r>
              <a:rPr lang="de-DE" dirty="0"/>
              <a:t>, </a:t>
            </a:r>
            <a:r>
              <a:rPr lang="de-DE" dirty="0" err="1"/>
              <a:t>necrotrophic</a:t>
            </a:r>
            <a:r>
              <a:rPr lang="de-DE" dirty="0"/>
              <a:t> </a:t>
            </a:r>
            <a:r>
              <a:rPr lang="de-DE" dirty="0" err="1"/>
              <a:t>separation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994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120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15.02.25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image" Target="../media/image49.em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emf"/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626570" y="4159404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network </a:t>
            </a:r>
            <a:r>
              <a:rPr lang="de-DE" dirty="0" err="1"/>
              <a:t>construction</a:t>
            </a:r>
            <a:endParaRPr lang="de-DE" dirty="0"/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Gene </a:t>
            </a:r>
            <a:r>
              <a:rPr lang="de-DE" dirty="0" err="1"/>
              <a:t>filtering</a:t>
            </a:r>
            <a:r>
              <a:rPr lang="de-DE" dirty="0"/>
              <a:t>, VST and PCA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Gewinkelte Verbindung 7">
            <a:extLst>
              <a:ext uri="{FF2B5EF4-FFF2-40B4-BE49-F238E27FC236}">
                <a16:creationId xmlns:a16="http://schemas.microsoft.com/office/drawing/2014/main" id="{CE3F798F-06B5-8FFB-90E7-84B9C70A1F6F}"/>
              </a:ext>
            </a:extLst>
          </p:cNvPr>
          <p:cNvCxnSpPr>
            <a:cxnSpLocks/>
            <a:stCxn id="29" idx="3"/>
            <a:endCxn id="27" idx="1"/>
          </p:cNvCxnSpPr>
          <p:nvPr/>
        </p:nvCxnSpPr>
        <p:spPr>
          <a:xfrm flipH="1">
            <a:off x="626570" y="3361319"/>
            <a:ext cx="7947525" cy="1193954"/>
          </a:xfrm>
          <a:prstGeom prst="bentConnector5">
            <a:avLst>
              <a:gd name="adj1" fmla="val -2876"/>
              <a:gd name="adj2" fmla="val 50000"/>
              <a:gd name="adj3" fmla="val 1028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CDF5ACC-E24B-E265-60E2-9997562A47F4}"/>
              </a:ext>
            </a:extLst>
          </p:cNvPr>
          <p:cNvSpPr/>
          <p:nvPr/>
        </p:nvSpPr>
        <p:spPr>
          <a:xfrm>
            <a:off x="3630385" y="4159406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trait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99FD9516-29AC-4A28-AADC-BD1AB1581669}"/>
              </a:ext>
            </a:extLst>
          </p:cNvPr>
          <p:cNvSpPr/>
          <p:nvPr/>
        </p:nvSpPr>
        <p:spPr>
          <a:xfrm>
            <a:off x="6646678" y="4159406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gene</a:t>
            </a:r>
            <a:r>
              <a:rPr lang="de-DE" dirty="0"/>
              <a:t> </a:t>
            </a:r>
            <a:r>
              <a:rPr lang="de-DE" dirty="0" err="1"/>
              <a:t>identification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EC70B499-F723-8F04-E286-255AD6BBEEBF}"/>
              </a:ext>
            </a:extLst>
          </p:cNvPr>
          <p:cNvCxnSpPr>
            <a:cxnSpLocks/>
          </p:cNvCxnSpPr>
          <p:nvPr/>
        </p:nvCxnSpPr>
        <p:spPr>
          <a:xfrm>
            <a:off x="2886635" y="4555274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56C7E2A-24A8-F00B-0148-43796DFDB446}"/>
              </a:ext>
            </a:extLst>
          </p:cNvPr>
          <p:cNvCxnSpPr>
            <a:cxnSpLocks/>
          </p:cNvCxnSpPr>
          <p:nvPr/>
        </p:nvCxnSpPr>
        <p:spPr>
          <a:xfrm>
            <a:off x="5902928" y="4542573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Abgerundetes Rechteck 20">
            <a:extLst>
              <a:ext uri="{FF2B5EF4-FFF2-40B4-BE49-F238E27FC236}">
                <a16:creationId xmlns:a16="http://schemas.microsoft.com/office/drawing/2014/main" id="{ECD6064F-B80D-5D62-EC7F-DB5C10D95AC1}"/>
              </a:ext>
            </a:extLst>
          </p:cNvPr>
          <p:cNvSpPr/>
          <p:nvPr/>
        </p:nvSpPr>
        <p:spPr>
          <a:xfrm>
            <a:off x="631668" y="5340662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enrichment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cxnSp>
        <p:nvCxnSpPr>
          <p:cNvPr id="22" name="Gewinkelte Verbindung 21">
            <a:extLst>
              <a:ext uri="{FF2B5EF4-FFF2-40B4-BE49-F238E27FC236}">
                <a16:creationId xmlns:a16="http://schemas.microsoft.com/office/drawing/2014/main" id="{107879B4-27E9-9797-AF36-3C9266D9AE9A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H="1">
            <a:off x="631668" y="4555275"/>
            <a:ext cx="8635613" cy="1181256"/>
          </a:xfrm>
          <a:prstGeom prst="bentConnector5">
            <a:avLst>
              <a:gd name="adj1" fmla="val -2647"/>
              <a:gd name="adj2" fmla="val 50000"/>
              <a:gd name="adj3" fmla="val 10264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0A723A1-22AC-EAB3-8C5F-92818D4D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59" y="200905"/>
            <a:ext cx="10614990" cy="665709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85A0C58-7156-A820-9AA0-491831E82699}"/>
              </a:ext>
            </a:extLst>
          </p:cNvPr>
          <p:cNvSpPr txBox="1"/>
          <p:nvPr/>
        </p:nvSpPr>
        <p:spPr>
          <a:xfrm>
            <a:off x="10003962" y="209919"/>
            <a:ext cx="20800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filtering</a:t>
            </a:r>
            <a:r>
              <a:rPr lang="de-DE" sz="1400" dirty="0"/>
              <a:t> </a:t>
            </a:r>
            <a:r>
              <a:rPr lang="de-DE" sz="1400" dirty="0" err="1"/>
              <a:t>low</a:t>
            </a:r>
            <a:r>
              <a:rPr lang="de-DE" sz="1400" dirty="0"/>
              <a:t> </a:t>
            </a:r>
            <a:r>
              <a:rPr lang="de-DE" sz="1400" dirty="0" err="1"/>
              <a:t>expressed</a:t>
            </a:r>
            <a:r>
              <a:rPr lang="de-DE" sz="1400" dirty="0"/>
              <a:t> genes:</a:t>
            </a:r>
          </a:p>
          <a:p>
            <a:r>
              <a:rPr lang="de-DE" sz="1400" dirty="0" err="1"/>
              <a:t>Result</a:t>
            </a:r>
            <a:r>
              <a:rPr lang="de-DE" sz="1400" dirty="0"/>
              <a:t>: </a:t>
            </a:r>
          </a:p>
          <a:p>
            <a:r>
              <a:rPr lang="de-DE" sz="1400" dirty="0"/>
              <a:t>- </a:t>
            </a:r>
            <a:r>
              <a:rPr lang="de-DE" sz="1400" dirty="0" err="1"/>
              <a:t>before</a:t>
            </a:r>
            <a:r>
              <a:rPr lang="de-DE" sz="1400" dirty="0"/>
              <a:t> </a:t>
            </a:r>
            <a:r>
              <a:rPr lang="de-DE" sz="1400" dirty="0" err="1"/>
              <a:t>filtering</a:t>
            </a:r>
            <a:r>
              <a:rPr lang="de-DE" sz="1400" dirty="0"/>
              <a:t>: 27321 genes</a:t>
            </a:r>
          </a:p>
          <a:p>
            <a:r>
              <a:rPr lang="de-DE" sz="1400" dirty="0"/>
              <a:t>- after </a:t>
            </a:r>
            <a:r>
              <a:rPr lang="de-DE" sz="1400" dirty="0" err="1"/>
              <a:t>filtering</a:t>
            </a:r>
            <a:r>
              <a:rPr lang="de-DE" sz="1400" dirty="0"/>
              <a:t>: 24991 genes</a:t>
            </a:r>
          </a:p>
          <a:p>
            <a:endParaRPr lang="de-DE" sz="1400" dirty="0"/>
          </a:p>
          <a:p>
            <a:r>
              <a:rPr lang="de-DE" sz="1400" dirty="0"/>
              <a:t>--&gt; </a:t>
            </a:r>
            <a:r>
              <a:rPr lang="de-DE" sz="1400" dirty="0" err="1"/>
              <a:t>keep</a:t>
            </a:r>
            <a:r>
              <a:rPr lang="de-DE" sz="1400" dirty="0"/>
              <a:t> genes </a:t>
            </a:r>
            <a:r>
              <a:rPr lang="de-DE" sz="1400" dirty="0" err="1"/>
              <a:t>that</a:t>
            </a:r>
            <a:r>
              <a:rPr lang="de-DE" sz="1400" dirty="0"/>
              <a:t> </a:t>
            </a:r>
            <a:r>
              <a:rPr lang="de-DE" sz="1400" dirty="0" err="1"/>
              <a:t>have</a:t>
            </a:r>
            <a:r>
              <a:rPr lang="de-DE" sz="1400" dirty="0"/>
              <a:t> at least a </a:t>
            </a:r>
            <a:r>
              <a:rPr lang="de-DE" sz="1400" dirty="0" err="1"/>
              <a:t>tpm</a:t>
            </a:r>
            <a:r>
              <a:rPr lang="de-DE" sz="1400" dirty="0"/>
              <a:t> </a:t>
            </a:r>
            <a:r>
              <a:rPr lang="de-DE" sz="1400" dirty="0" err="1"/>
              <a:t>value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0.5 per sample in at least 3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samples</a:t>
            </a:r>
            <a:endParaRPr lang="de-DE" sz="14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E4831F-B61E-07A5-1B66-534D1EF6F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07" y="352071"/>
            <a:ext cx="8842938" cy="615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192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68AC43-9921-C060-5421-EF8A24DC4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599" y="512207"/>
            <a:ext cx="8443823" cy="587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619F72C-09A9-FC38-FCB3-72F4E54F1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853" y="724568"/>
            <a:ext cx="7772400" cy="540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C234BC9-DF64-2527-822F-1B14D63DA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406400"/>
            <a:ext cx="7772400" cy="540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C9455300-0D32-47BE-EA2C-BAABBE75D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4056"/>
            <a:ext cx="6308157" cy="438988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A78343-1CA1-F8E2-6F76-1717B1DE3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442" y="1397454"/>
            <a:ext cx="5838558" cy="406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7D3E4D8-D516-59A2-7C9C-1599E063EB6F}"/>
              </a:ext>
            </a:extLst>
          </p:cNvPr>
          <p:cNvSpPr txBox="1"/>
          <p:nvPr/>
        </p:nvSpPr>
        <p:spPr>
          <a:xfrm>
            <a:off x="0" y="120770"/>
            <a:ext cx="538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Starting</a:t>
            </a:r>
            <a:r>
              <a:rPr lang="de-DE" dirty="0"/>
              <a:t> WGCNA: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22CD34-B8CC-8602-BEAB-1C4F1C86A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7" y="773778"/>
            <a:ext cx="10895169" cy="57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39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3431059-721A-4BCA-29B7-A0E4C7EB2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541" y="161413"/>
            <a:ext cx="8730195" cy="653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765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A719E4A-D938-C0E7-42EA-205042C79906}"/>
              </a:ext>
            </a:extLst>
          </p:cNvPr>
          <p:cNvSpPr txBox="1"/>
          <p:nvPr/>
        </p:nvSpPr>
        <p:spPr>
          <a:xfrm>
            <a:off x="0" y="120770"/>
            <a:ext cx="538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Network </a:t>
            </a:r>
            <a:r>
              <a:rPr lang="de-DE" dirty="0" err="1"/>
              <a:t>construction</a:t>
            </a:r>
            <a:r>
              <a:rPr lang="de-DE" dirty="0"/>
              <a:t>: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2F77D2-040A-8F1F-7B7B-6A977C64D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18" y="490102"/>
            <a:ext cx="9857117" cy="610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99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3C42725-E3D8-DC76-BE8F-05E9A9BFB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47" y="23004"/>
            <a:ext cx="6834996" cy="6834996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4596A240-B40B-F9E6-B18B-ED741751578D}"/>
              </a:ext>
            </a:extLst>
          </p:cNvPr>
          <p:cNvSpPr txBox="1"/>
          <p:nvPr/>
        </p:nvSpPr>
        <p:spPr>
          <a:xfrm>
            <a:off x="7919883" y="412955"/>
            <a:ext cx="33331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6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19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131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C3C471-8A11-DE0E-97DA-AB250AC142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0618" y="3429000"/>
            <a:ext cx="7772400" cy="112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129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2971CAA4-6CC5-AABF-4A83-C26C4D140E9C}"/>
              </a:ext>
            </a:extLst>
          </p:cNvPr>
          <p:cNvSpPr txBox="1"/>
          <p:nvPr/>
        </p:nvSpPr>
        <p:spPr>
          <a:xfrm>
            <a:off x="220717" y="315310"/>
            <a:ext cx="1970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6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54FB72B-3E99-EC3F-36EE-6A365E398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89" y="821996"/>
            <a:ext cx="9721606" cy="5852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8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1DE13C2-8B46-FFDD-92B7-1BABC00C8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424" y="665874"/>
            <a:ext cx="9180346" cy="552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342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7E8D84B-4AE0-B4CB-B0E4-CC0DE3941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801" y="799696"/>
            <a:ext cx="8735728" cy="525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439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568F259-F4EF-7259-89E7-D956F8CA7DFA}"/>
              </a:ext>
            </a:extLst>
          </p:cNvPr>
          <p:cNvSpPr txBox="1"/>
          <p:nvPr/>
        </p:nvSpPr>
        <p:spPr>
          <a:xfrm>
            <a:off x="8654602" y="1029587"/>
            <a:ext cx="33227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Hierarchical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clustering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dendrogram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of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module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eigengenes (and all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pathogens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)</a:t>
            </a:r>
          </a:p>
          <a:p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 Group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together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eigengenes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that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are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positively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correlated</a:t>
            </a:r>
            <a:endParaRPr lang="de-DE" b="0" i="0" u="none" strike="noStrike" dirty="0">
              <a:solidFill>
                <a:srgbClr val="333333"/>
              </a:solidFill>
              <a:effectLst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07F23-7D8C-A6C6-7FC5-0795EA852161}"/>
              </a:ext>
            </a:extLst>
          </p:cNvPr>
          <p:cNvSpPr txBox="1"/>
          <p:nvPr/>
        </p:nvSpPr>
        <p:spPr>
          <a:xfrm>
            <a:off x="9144001" y="3889420"/>
            <a:ext cx="2691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Heatmap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of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the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adjacencies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in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the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eigengene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network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including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all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pathognes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. </a:t>
            </a:r>
          </a:p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FCC00C5-EE2B-0D94-5588-B8A98CDDA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15" y="268479"/>
            <a:ext cx="7772400" cy="632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950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E73654D-E7F9-5851-3F79-3FD579713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7858"/>
            <a:ext cx="5846463" cy="453208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AF7CF7F-2811-FEC2-9522-6A2530A39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933802"/>
            <a:ext cx="6197600" cy="480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718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24E59A3-5514-5DFF-C067-8D8F314CF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425"/>
            <a:ext cx="6776357" cy="426434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4A8E073-56AA-A9E6-46F7-AF0FD5F62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9464" y="1295825"/>
            <a:ext cx="5142216" cy="345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664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F278B40-0863-139B-7797-39C6F90E0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95400"/>
            <a:ext cx="6751805" cy="412473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D4B1767-E9B2-C2AE-5EEA-1BDA283D2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804" y="1706217"/>
            <a:ext cx="5406866" cy="330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05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802A1EC-C417-8DEE-B797-A48AD96B9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145" y="728871"/>
            <a:ext cx="8740063" cy="533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5864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8C7ADA1-B585-BB8A-BEC3-6502D092659B}"/>
              </a:ext>
            </a:extLst>
          </p:cNvPr>
          <p:cNvSpPr txBox="1"/>
          <p:nvPr/>
        </p:nvSpPr>
        <p:spPr>
          <a:xfrm>
            <a:off x="3470189" y="2236572"/>
            <a:ext cx="525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 err="1"/>
              <a:t>Signed</a:t>
            </a:r>
            <a:r>
              <a:rPr lang="de-DE" sz="3600" dirty="0"/>
              <a:t> hybrid </a:t>
            </a:r>
            <a:r>
              <a:rPr lang="de-DE" sz="3600" dirty="0" err="1"/>
              <a:t>networks</a:t>
            </a:r>
            <a:endParaRPr lang="de-DE" sz="3600" dirty="0"/>
          </a:p>
        </p:txBody>
      </p:sp>
    </p:spTree>
    <p:extLst>
      <p:ext uri="{BB962C8B-B14F-4D97-AF65-F5344CB8AC3E}">
        <p14:creationId xmlns:p14="http://schemas.microsoft.com/office/powerpoint/2010/main" val="31730033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DC20A64-27A2-B0F7-7BBF-410E81875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232" y="847881"/>
            <a:ext cx="7497536" cy="51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01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FCB0D30-C808-7F78-7B1D-D238A46F0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51" y="579397"/>
            <a:ext cx="6400800" cy="64008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1BE539EA-69E3-CB86-DA65-25C35463D2CC}"/>
              </a:ext>
            </a:extLst>
          </p:cNvPr>
          <p:cNvSpPr txBox="1"/>
          <p:nvPr/>
        </p:nvSpPr>
        <p:spPr>
          <a:xfrm>
            <a:off x="185351" y="210065"/>
            <a:ext cx="2187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 6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530403-4520-9A77-F3A3-C5FD3DCDDF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9650" y="3429000"/>
            <a:ext cx="6837782" cy="140125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EBD1C01-9F51-F048-F7EF-9B87E4AE8A9B}"/>
              </a:ext>
            </a:extLst>
          </p:cNvPr>
          <p:cNvSpPr txBox="1"/>
          <p:nvPr/>
        </p:nvSpPr>
        <p:spPr>
          <a:xfrm>
            <a:off x="7981667" y="870155"/>
            <a:ext cx="3333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25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187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087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983933A-8761-123D-18E9-87765811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024" y="382374"/>
            <a:ext cx="6400800" cy="64008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328BD1CA-9E47-860E-5899-B819C3CAD5A6}"/>
              </a:ext>
            </a:extLst>
          </p:cNvPr>
          <p:cNvSpPr txBox="1"/>
          <p:nvPr/>
        </p:nvSpPr>
        <p:spPr>
          <a:xfrm>
            <a:off x="185351" y="197708"/>
            <a:ext cx="1643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 5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E57F696-3BAA-0844-C86B-BA7CAE26BEF6}"/>
              </a:ext>
            </a:extLst>
          </p:cNvPr>
          <p:cNvSpPr txBox="1"/>
          <p:nvPr/>
        </p:nvSpPr>
        <p:spPr>
          <a:xfrm>
            <a:off x="7981667" y="870155"/>
            <a:ext cx="3333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27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40</a:t>
            </a:r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6F64D2B-58B7-F87A-D875-10F0D3591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246" y="3190184"/>
            <a:ext cx="6013489" cy="159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8470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E722E23D-9C90-8826-B4E5-7D05BE266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569" y="3429000"/>
            <a:ext cx="5737495" cy="168392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B0C6B83-3557-A047-0BE8-616D6B744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36" y="228600"/>
            <a:ext cx="6400800" cy="64008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CA875687-D1BC-536B-85B0-DF268B599C28}"/>
              </a:ext>
            </a:extLst>
          </p:cNvPr>
          <p:cNvSpPr txBox="1"/>
          <p:nvPr/>
        </p:nvSpPr>
        <p:spPr>
          <a:xfrm>
            <a:off x="7137606" y="1228636"/>
            <a:ext cx="33331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26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1</a:t>
            </a:r>
          </a:p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6B39F67-36B2-359A-699D-2373052A8AB8}"/>
              </a:ext>
            </a:extLst>
          </p:cNvPr>
          <p:cNvSpPr txBox="1"/>
          <p:nvPr/>
        </p:nvSpPr>
        <p:spPr>
          <a:xfrm>
            <a:off x="7375045" y="174621"/>
            <a:ext cx="1643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 4</a:t>
            </a:r>
          </a:p>
        </p:txBody>
      </p:sp>
    </p:spTree>
    <p:extLst>
      <p:ext uri="{BB962C8B-B14F-4D97-AF65-F5344CB8AC3E}">
        <p14:creationId xmlns:p14="http://schemas.microsoft.com/office/powerpoint/2010/main" val="1918128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20D5AD3-A619-C745-F80F-C40E45680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879" y="121575"/>
            <a:ext cx="8935505" cy="673642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43325D8-2253-393F-3488-71D655CCED85}"/>
              </a:ext>
            </a:extLst>
          </p:cNvPr>
          <p:cNvSpPr txBox="1"/>
          <p:nvPr/>
        </p:nvSpPr>
        <p:spPr>
          <a:xfrm>
            <a:off x="65430" y="121575"/>
            <a:ext cx="1643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 4</a:t>
            </a:r>
          </a:p>
        </p:txBody>
      </p:sp>
    </p:spTree>
    <p:extLst>
      <p:ext uri="{BB962C8B-B14F-4D97-AF65-F5344CB8AC3E}">
        <p14:creationId xmlns:p14="http://schemas.microsoft.com/office/powerpoint/2010/main" val="25143512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30D61155-0E27-7004-BFD3-F01F7C55D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15" y="0"/>
            <a:ext cx="90967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6003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0685BFB-9A12-4413-02F0-99128328E6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0546"/>
            <a:ext cx="6707718" cy="505690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17E37EC-39D9-538B-6F71-14DD2434F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746" y="1192854"/>
            <a:ext cx="5932254" cy="447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2217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90B56AE-95FA-9373-2DC2-C45081D60A42}"/>
              </a:ext>
            </a:extLst>
          </p:cNvPr>
          <p:cNvSpPr txBox="1"/>
          <p:nvPr/>
        </p:nvSpPr>
        <p:spPr>
          <a:xfrm>
            <a:off x="3470188" y="2236572"/>
            <a:ext cx="648800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 err="1"/>
              <a:t>Signed</a:t>
            </a:r>
            <a:r>
              <a:rPr lang="de-DE" sz="3600" dirty="0"/>
              <a:t> hybrid </a:t>
            </a:r>
            <a:r>
              <a:rPr lang="de-DE" sz="3600" dirty="0" err="1"/>
              <a:t>networks</a:t>
            </a:r>
            <a:r>
              <a:rPr lang="de-DE" sz="3600" dirty="0"/>
              <a:t>—</a:t>
            </a:r>
          </a:p>
          <a:p>
            <a:r>
              <a:rPr lang="de-DE" sz="3600" dirty="0" err="1"/>
              <a:t>Added</a:t>
            </a:r>
            <a:r>
              <a:rPr lang="de-DE" sz="3600" dirty="0"/>
              <a:t> Stegmann Dataset on </a:t>
            </a:r>
            <a:r>
              <a:rPr lang="de-DE" sz="3600" dirty="0" err="1"/>
              <a:t>Erysiphe</a:t>
            </a:r>
            <a:r>
              <a:rPr lang="de-DE" sz="3600" dirty="0"/>
              <a:t> </a:t>
            </a:r>
            <a:r>
              <a:rPr lang="de-DE" sz="3600" dirty="0" err="1"/>
              <a:t>cruciferarum</a:t>
            </a:r>
            <a:endParaRPr lang="de-DE" sz="3600" dirty="0"/>
          </a:p>
        </p:txBody>
      </p:sp>
    </p:spTree>
    <p:extLst>
      <p:ext uri="{BB962C8B-B14F-4D97-AF65-F5344CB8AC3E}">
        <p14:creationId xmlns:p14="http://schemas.microsoft.com/office/powerpoint/2010/main" val="3847666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16C4006-C124-8AE5-A719-DE9027618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291" y="497541"/>
            <a:ext cx="9220893" cy="5862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8872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109AC03-9066-BDEA-D07B-AF8ABB9BD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49" y="679449"/>
            <a:ext cx="8322609" cy="529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2334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FEAE95B-13F5-9C2F-39F3-F0C090CEC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679449"/>
            <a:ext cx="8095894" cy="5147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822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0F04EAA-F1CE-5252-1EF6-BAD3DF6EE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1929" y="533387"/>
            <a:ext cx="8748591" cy="5562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31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91986C0-B891-A389-AAD4-8B3988D47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679450"/>
            <a:ext cx="7772400" cy="494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216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5E206B93-55C0-EBF4-C5CD-398CFB94B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16" y="231214"/>
            <a:ext cx="10849168" cy="639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713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661D5B3-DCFC-CD6D-5FCD-7F3294978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287" y="0"/>
            <a:ext cx="9637426" cy="652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4770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4688FFB-6544-E854-5FDC-751FEE35B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062" y="643466"/>
            <a:ext cx="8189875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7847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2B551078-8EF3-1778-7A61-3ABFB251F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9641"/>
            <a:ext cx="8378613" cy="5398718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96D3F830-B587-316B-A171-E337292DC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323" y="4184837"/>
            <a:ext cx="5122102" cy="1124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497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589B733-AD36-24C2-1052-89A7FDE09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82869"/>
            <a:ext cx="7772400" cy="509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0542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1551EB0-FE4E-E38E-F999-DA65899BA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49" y="1231708"/>
            <a:ext cx="6929042" cy="387272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350CD8BA-A4DB-C8B6-306F-E146674DC70E}"/>
              </a:ext>
            </a:extLst>
          </p:cNvPr>
          <p:cNvSpPr txBox="1"/>
          <p:nvPr/>
        </p:nvSpPr>
        <p:spPr>
          <a:xfrm>
            <a:off x="7138738" y="585377"/>
            <a:ext cx="322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0.59</a:t>
            </a:r>
          </a:p>
          <a:p>
            <a:r>
              <a:rPr lang="de-DE" dirty="0"/>
              <a:t>Very </a:t>
            </a:r>
            <a:r>
              <a:rPr lang="de-DE" dirty="0" err="1"/>
              <a:t>significant</a:t>
            </a:r>
            <a:r>
              <a:rPr lang="de-DE" dirty="0"/>
              <a:t> p-</a:t>
            </a:r>
            <a:r>
              <a:rPr lang="de-DE" dirty="0" err="1"/>
              <a:t>value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D5ECD19-A016-C317-270B-371197E9D2F7}"/>
              </a:ext>
            </a:extLst>
          </p:cNvPr>
          <p:cNvSpPr txBox="1"/>
          <p:nvPr/>
        </p:nvSpPr>
        <p:spPr>
          <a:xfrm>
            <a:off x="7138738" y="1921398"/>
            <a:ext cx="505326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hub genes?</a:t>
            </a:r>
          </a:p>
          <a:p>
            <a:pPr marL="285750" indent="-285750">
              <a:buFontTx/>
              <a:buChar char="-"/>
            </a:pPr>
            <a:r>
              <a:rPr lang="de-DE" dirty="0"/>
              <a:t>With GS and MM </a:t>
            </a:r>
            <a:r>
              <a:rPr lang="de-DE" dirty="0" err="1"/>
              <a:t>cutoff</a:t>
            </a:r>
            <a:r>
              <a:rPr lang="de-DE" dirty="0"/>
              <a:t>?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membership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signedkME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a </a:t>
            </a:r>
            <a:r>
              <a:rPr lang="de-DE" dirty="0" err="1"/>
              <a:t>cutoff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highest</a:t>
            </a:r>
            <a:r>
              <a:rPr lang="de-DE" dirty="0"/>
              <a:t> </a:t>
            </a:r>
            <a:r>
              <a:rPr lang="de-DE" dirty="0" err="1"/>
              <a:t>connectivity</a:t>
            </a:r>
            <a:r>
              <a:rPr lang="de-DE" dirty="0"/>
              <a:t> and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membership</a:t>
            </a:r>
            <a:r>
              <a:rPr lang="de-DE" dirty="0"/>
              <a:t>?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kWithin</a:t>
            </a:r>
            <a:r>
              <a:rPr lang="de-DE" dirty="0"/>
              <a:t> (</a:t>
            </a:r>
            <a:r>
              <a:rPr lang="de-DE" dirty="0" err="1"/>
              <a:t>softConnectivity</a:t>
            </a:r>
            <a:r>
              <a:rPr lang="de-DE" dirty="0"/>
              <a:t>) and </a:t>
            </a:r>
            <a:r>
              <a:rPr lang="de-DE" dirty="0" err="1"/>
              <a:t>kME</a:t>
            </a:r>
            <a:r>
              <a:rPr lang="de-DE" dirty="0"/>
              <a:t> (</a:t>
            </a:r>
            <a:r>
              <a:rPr lang="de-DE" dirty="0" err="1"/>
              <a:t>geneModuleMembership</a:t>
            </a:r>
            <a:r>
              <a:rPr lang="de-DE" dirty="0"/>
              <a:t>)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/>
              <a:t>kME</a:t>
            </a:r>
            <a:r>
              <a:rPr lang="de-DE" dirty="0"/>
              <a:t>: maximum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membership</a:t>
            </a:r>
            <a:r>
              <a:rPr lang="de-DE" dirty="0"/>
              <a:t> score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kWithin</a:t>
            </a:r>
            <a:r>
              <a:rPr lang="de-DE" dirty="0"/>
              <a:t>: Intramodular </a:t>
            </a:r>
            <a:r>
              <a:rPr lang="de-DE" dirty="0" err="1"/>
              <a:t>connectivity</a:t>
            </a:r>
            <a:r>
              <a:rPr lang="de-DE" dirty="0"/>
              <a:t>,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connected</a:t>
            </a:r>
            <a:r>
              <a:rPr lang="de-DE" dirty="0"/>
              <a:t> a </a:t>
            </a:r>
            <a:r>
              <a:rPr lang="de-DE" dirty="0" err="1"/>
              <a:t>gene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.</a:t>
            </a:r>
          </a:p>
          <a:p>
            <a:pPr marL="285750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16654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4E5A3C9-6687-8BA6-6AC5-62F72C239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850" y="1009650"/>
            <a:ext cx="7772400" cy="470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6789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741F730-9C7F-DC52-657B-4E421F44B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1630"/>
            <a:ext cx="6056327" cy="396793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73DFA0C6-8E83-E1AC-BF22-64CFAE183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0498" y="1170784"/>
            <a:ext cx="6301829" cy="4128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7635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BBC2456-3602-B8F6-C15B-F07461636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5646"/>
            <a:ext cx="6178105" cy="35867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3EFA1A9E-1E83-9AA2-BED6-E5BE2F031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895" y="1457594"/>
            <a:ext cx="6178105" cy="394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10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290D441-3C39-D6BC-6690-8A6BD780E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449" y="232367"/>
            <a:ext cx="4810125" cy="28769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606AB6E-4944-5A4C-2694-1E238B4E7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49526" cy="334163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86CA5CA-3BDD-4E3A-1012-93C14F652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58776"/>
            <a:ext cx="5649526" cy="339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112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F9F8C2B-57EB-258A-3553-3CF148784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" y="0"/>
            <a:ext cx="6070600" cy="3694367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F1737A9-6F61-7047-3DD0-854104B38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01" y="3464232"/>
            <a:ext cx="5537200" cy="339376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45EFE2-6274-3D9D-B954-439B93F9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8100" y="3393768"/>
            <a:ext cx="5585952" cy="34290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BD598C4-B9DF-9E8F-5C7D-4ABE8D1ABE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5729" y="35232"/>
            <a:ext cx="5030694" cy="311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5539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3D4F39DC-A961-766E-60C0-70234BC73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8" y="153860"/>
            <a:ext cx="5076825" cy="314000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72BDF91-5C94-5DEC-F42C-5D9ACC976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88" y="3387860"/>
            <a:ext cx="5478738" cy="3316279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D717EBE-8D4C-21F8-28D2-E34D99A54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104" y="3087756"/>
            <a:ext cx="6451895" cy="377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159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C732B32-7B40-9C2B-05EB-61AD05CBF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" y="-1"/>
            <a:ext cx="12070082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196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4E7738C-CC23-F265-E323-A47C5BC57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457" y="994611"/>
            <a:ext cx="9359085" cy="458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1589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81BCF80-6335-4B4B-B689-E1A8514DE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9090"/>
            <a:ext cx="6005561" cy="387007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4B8340F-23E4-0B43-AF79-66056770F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19090"/>
            <a:ext cx="6096000" cy="408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3535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31C4AAF4-F17C-4684-B576-12864C48C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510" y="371959"/>
            <a:ext cx="7772400" cy="577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124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A9194E7D-FA36-9F70-924B-4772CE2C80F8}"/>
              </a:ext>
            </a:extLst>
          </p:cNvPr>
          <p:cNvSpPr txBox="1"/>
          <p:nvPr/>
        </p:nvSpPr>
        <p:spPr>
          <a:xfrm>
            <a:off x="698500" y="744835"/>
            <a:ext cx="10706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MEskyblue3 	</a:t>
            </a:r>
            <a:r>
              <a:rPr lang="de-DE" dirty="0" err="1"/>
              <a:t>MEpurple</a:t>
            </a:r>
            <a:r>
              <a:rPr lang="de-DE" dirty="0"/>
              <a:t> 	</a:t>
            </a:r>
            <a:r>
              <a:rPr lang="de-DE" dirty="0" err="1"/>
              <a:t>Meroyalblue</a:t>
            </a:r>
            <a:r>
              <a:rPr lang="de-DE" dirty="0"/>
              <a:t>	 </a:t>
            </a:r>
            <a:r>
              <a:rPr lang="de-DE" dirty="0" err="1"/>
              <a:t>MEsteelblue</a:t>
            </a:r>
            <a:r>
              <a:rPr lang="de-DE" dirty="0"/>
              <a:t> 	</a:t>
            </a:r>
            <a:r>
              <a:rPr lang="de-DE" dirty="0" err="1"/>
              <a:t>MEbrown</a:t>
            </a:r>
            <a:r>
              <a:rPr lang="de-DE" dirty="0"/>
              <a:t> 	</a:t>
            </a:r>
            <a:r>
              <a:rPr lang="de-DE" dirty="0" err="1"/>
              <a:t>MEdarkred</a:t>
            </a:r>
            <a:r>
              <a:rPr lang="de-DE" dirty="0"/>
              <a:t> 1.916527 	1.725647 	1.700804 	1.692676 	1.686188 	1.619301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C22A7E5-BC2C-141E-B7B6-ADC59B819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3789"/>
            <a:ext cx="4231068" cy="26488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B9428D5-D609-2664-4F2B-1FF5431D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09187"/>
            <a:ext cx="4444927" cy="264881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F9DCBF2-106F-FA6E-EC3D-FC64A9A75B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608" y="1643789"/>
            <a:ext cx="4410692" cy="264881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A085006-C42F-8846-5DA7-9EBDACF9EE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6104" y="4495265"/>
            <a:ext cx="3886200" cy="216007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F89C54A-06F9-6A0F-33BA-2C20A88DDA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800" y="3654889"/>
            <a:ext cx="4114800" cy="228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12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423</Words>
  <Application>Microsoft Macintosh PowerPoint</Application>
  <PresentationFormat>Breitbild</PresentationFormat>
  <Paragraphs>92</Paragraphs>
  <Slides>52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Symbol</vt:lpstr>
      <vt:lpstr>Wingdings</vt:lpstr>
      <vt:lpstr>Office</vt:lpstr>
      <vt:lpstr>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Katharina Bender</cp:lastModifiedBy>
  <cp:revision>15</cp:revision>
  <dcterms:created xsi:type="dcterms:W3CDTF">2025-01-16T09:38:10Z</dcterms:created>
  <dcterms:modified xsi:type="dcterms:W3CDTF">2025-02-21T15:26:17Z</dcterms:modified>
</cp:coreProperties>
</file>