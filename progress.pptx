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61" r:id="rId2"/>
    <p:sldId id="260" r:id="rId3"/>
    <p:sldId id="258" r:id="rId4"/>
    <p:sldId id="262" r:id="rId5"/>
    <p:sldId id="264" r:id="rId6"/>
    <p:sldId id="265" r:id="rId7"/>
    <p:sldId id="267" r:id="rId8"/>
    <p:sldId id="272" r:id="rId9"/>
    <p:sldId id="268" r:id="rId10"/>
    <p:sldId id="269" r:id="rId11"/>
    <p:sldId id="270" r:id="rId12"/>
    <p:sldId id="271" r:id="rId13"/>
    <p:sldId id="273" r:id="rId14"/>
    <p:sldId id="274" r:id="rId15"/>
    <p:sldId id="277" r:id="rId16"/>
    <p:sldId id="275" r:id="rId17"/>
    <p:sldId id="276" r:id="rId18"/>
    <p:sldId id="278" r:id="rId1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85"/>
    <p:restoredTop sz="94653"/>
  </p:normalViewPr>
  <p:slideViewPr>
    <p:cSldViewPr snapToGrid="0">
      <p:cViewPr>
        <p:scale>
          <a:sx n="87" d="100"/>
          <a:sy n="87" d="100"/>
        </p:scale>
        <p:origin x="912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1F0B43-6B19-1044-8D4F-E46BB78FCD8B}" type="datetimeFigureOut">
              <a:rPr lang="de-DE" smtClean="0"/>
              <a:t>31.01.25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D45610-1111-DE43-BB32-464D9E891A9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340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298373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67133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D45610-1111-DE43-BB32-464D9E891A96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33550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8C4B20-F5ED-5829-770C-89D552FFB3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5B065A8-3B8F-EAA1-3CA2-3DA29F5C8C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018E6C3-80EE-DB29-3499-4F3C02A3D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31.01.25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F044186-C262-39D9-B876-5C4BC0573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D363515-A22A-9D71-77F3-8384393A2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3552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D17705-F7D7-0C5B-EC5C-6DBD2CD95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7E2EF6-A35C-F3EA-A393-A4C82D49C3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097948E-EE73-5377-0572-62E177883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31.01.25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62FC790-0ED7-2755-8EAA-56C33F63F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8689717-3447-0831-6A7E-A213C7028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014870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147568-4CAB-2364-C09E-500D5E1C8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C133EC9-FCCD-F3C6-2761-A251B9035B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49B144-CBAC-0127-D279-3C77AB336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31.01.25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A9B985B-E8E4-DB6E-487E-ADDD0FF20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5B4F4CF-E3F7-AD70-9E52-306A063F0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0984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6B479E-A482-0BBF-CF2C-EA02BF68F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CD8BFF8-6B2A-1342-1CC8-5AFE4744F7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E3868EE-5665-85E2-69F7-32B5D4096C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4D75A88-3F2D-83F4-D35E-CA47AD824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31.01.25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20ADD0F-01B8-0AF5-24B0-75DC00F31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0F69D39-9D1E-8BC5-5F9E-94220302D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67465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03E97C-A2CB-CE75-1695-C8F3852C3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E705987-BA79-73CF-B362-EE09E690B3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CCA9E21-89A2-6D94-408F-6A08E29342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7012240-B8CF-BAFC-731E-6924319181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D173A1D-4A77-A38D-A656-031CCA71A9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BF5093A-B398-7C54-896D-0D24078AD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31.01.25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87EC2B6-5E99-15D6-DFC5-3798D25B2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53FD4E6A-5684-43A4-D485-ED4068374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018628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50804A-F305-8270-0387-ED143DA24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946C8BC-72DC-0A10-28D7-18E10D494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31.01.25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8EB9B31-1081-83BF-9389-695346FEA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7B36480-7DE5-9505-8A29-EFE9EEDF0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23500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7D486EE-3425-0F3C-2A44-79C6CEF98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31.01.25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F0DFF20-D49C-DE81-87F2-4A24076ECC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B0DFB45-6D0A-68EB-DC10-8F08C6D8C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188180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E6930A-3E1A-5D8B-3DD4-2CA9F35A54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F37720-5F17-92C2-142D-5236E8E0CF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E5B980D-4B6C-8A8E-B884-B8ED930528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0755F78-DF00-ECE3-9D1C-9680E2189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31.01.25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33A732D-72FE-DF12-5C34-5CEB574A5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C7249EA-AF46-CA7B-6500-059133A0A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4117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15AFD3-CBCB-D139-BEE6-D607AB555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A4D6B12-45DB-D681-F7B8-F62695FBA0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32F9DED-4DFD-A88D-F2BB-7E10E6A6EE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361963D-6B27-A254-2A3F-24ADAD0C1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31.01.25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467855A-A19B-46BA-AC6A-2CC8B8DD9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22C5539-4F44-C9D4-952E-5A3775F1C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55924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CE96EB-8024-6438-67C8-8FF6A8FC3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7FC229B-7EF1-D392-6083-DD1CA6DEB0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FE39396-8DBE-B1F5-5D87-08DC15132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31.01.25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87D278E-9418-945A-EE28-0BD4246FB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A168B27-AC5C-1375-7342-774CC0E72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0183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0F806B6-07C7-AAC3-505E-4F2C23CD15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88238A7-60A3-3D40-0EBD-49059BC73A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4459C40-7F0A-53F4-40A7-9FBF55513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02D3EB-434C-7940-89BB-2B1A6C02241D}" type="datetimeFigureOut">
              <a:rPr lang="de-DE" smtClean="0"/>
              <a:t>31.01.25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92768F1-089A-177C-A60A-49A408302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8EE9580-186C-B696-216A-B5CFBA90C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876588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E7AFC7C-10F0-8682-0793-5343AEBB3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2E2ABD3-527D-38FE-F1A3-0E368D6419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70AC2D0-F4A2-D04F-D3B1-BB5BC9FD6A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02D3EB-434C-7940-89BB-2B1A6C02241D}" type="datetimeFigureOut">
              <a:rPr lang="de-DE" smtClean="0"/>
              <a:t>31.01.25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60AD465-2E42-BF43-6C09-4F607DA306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7DB3C32-4DD3-06C8-162A-AAF5D800E2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7D51FE-4FF3-F54E-AD62-BE9D60927E5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69510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E81741-1A0E-B91B-9133-08A7736A5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172" y="458304"/>
            <a:ext cx="10515600" cy="1325563"/>
          </a:xfrm>
        </p:spPr>
        <p:txBody>
          <a:bodyPr/>
          <a:lstStyle/>
          <a:p>
            <a:r>
              <a:rPr lang="de-DE"/>
              <a:t>Progress</a:t>
            </a:r>
            <a:endParaRPr lang="de-DE" dirty="0"/>
          </a:p>
        </p:txBody>
      </p:sp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44013182-8CC2-4EF3-7177-AAD99FAB02C9}"/>
              </a:ext>
            </a:extLst>
          </p:cNvPr>
          <p:cNvSpPr/>
          <p:nvPr/>
        </p:nvSpPr>
        <p:spPr>
          <a:xfrm>
            <a:off x="3062747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Downloading</a:t>
            </a:r>
            <a:r>
              <a:rPr lang="de-DE" dirty="0"/>
              <a:t> all </a:t>
            </a:r>
            <a:r>
              <a:rPr lang="de-DE" dirty="0" err="1"/>
              <a:t>samples</a:t>
            </a:r>
            <a:endParaRPr lang="de-DE" dirty="0"/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188E6390-EC9E-481C-D249-E919FCE99C47}"/>
              </a:ext>
            </a:extLst>
          </p:cNvPr>
          <p:cNvSpPr/>
          <p:nvPr/>
        </p:nvSpPr>
        <p:spPr>
          <a:xfrm>
            <a:off x="5444779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Trimming</a:t>
            </a:r>
            <a:r>
              <a:rPr lang="de-DE" dirty="0"/>
              <a:t> (</a:t>
            </a:r>
            <a:r>
              <a:rPr lang="de-DE" dirty="0" err="1"/>
              <a:t>fastp</a:t>
            </a:r>
            <a:r>
              <a:rPr lang="de-DE" dirty="0"/>
              <a:t>)</a:t>
            </a:r>
          </a:p>
        </p:txBody>
      </p:sp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E3EFB548-AF06-6DA8-5A8A-D3616CE75288}"/>
              </a:ext>
            </a:extLst>
          </p:cNvPr>
          <p:cNvSpPr/>
          <p:nvPr/>
        </p:nvSpPr>
        <p:spPr>
          <a:xfrm>
            <a:off x="7924933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FastQC</a:t>
            </a:r>
            <a:r>
              <a:rPr lang="de-DE" dirty="0"/>
              <a:t> and </a:t>
            </a:r>
            <a:r>
              <a:rPr lang="de-DE" dirty="0" err="1"/>
              <a:t>MultiQC</a:t>
            </a:r>
            <a:endParaRPr lang="de-DE" dirty="0"/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1172C79E-977B-BBBB-DAD1-747312175707}"/>
              </a:ext>
            </a:extLst>
          </p:cNvPr>
          <p:cNvSpPr/>
          <p:nvPr/>
        </p:nvSpPr>
        <p:spPr>
          <a:xfrm>
            <a:off x="620172" y="1784193"/>
            <a:ext cx="1866549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Searching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Datasets</a:t>
            </a:r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3ED4C86D-85B3-257A-8DB5-F2E48D2E63A0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2486721" y="2180062"/>
            <a:ext cx="57602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92CE3DF8-623E-5B6B-EDD7-9B935E5BA3C9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4929296" y="2180061"/>
            <a:ext cx="51548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64AB0F95-67D2-34E9-DAA9-AFEE17BCDE84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7311328" y="2180061"/>
            <a:ext cx="61360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Gewinkelte Verbindung 16">
            <a:extLst>
              <a:ext uri="{FF2B5EF4-FFF2-40B4-BE49-F238E27FC236}">
                <a16:creationId xmlns:a16="http://schemas.microsoft.com/office/drawing/2014/main" id="{07318707-0360-A447-B2D8-97C32A7DF3D6}"/>
              </a:ext>
            </a:extLst>
          </p:cNvPr>
          <p:cNvCxnSpPr>
            <a:cxnSpLocks/>
            <a:stCxn id="5" idx="0"/>
            <a:endCxn id="4" idx="0"/>
          </p:cNvCxnSpPr>
          <p:nvPr/>
        </p:nvCxnSpPr>
        <p:spPr>
          <a:xfrm rot="16200000" flipV="1">
            <a:off x="7618131" y="544116"/>
            <a:ext cx="12700" cy="2480154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8" name="Abgerundetes Rechteck 17">
            <a:extLst>
              <a:ext uri="{FF2B5EF4-FFF2-40B4-BE49-F238E27FC236}">
                <a16:creationId xmlns:a16="http://schemas.microsoft.com/office/drawing/2014/main" id="{BA5F3359-45D7-D7FF-12CB-70855009A59C}"/>
              </a:ext>
            </a:extLst>
          </p:cNvPr>
          <p:cNvSpPr/>
          <p:nvPr/>
        </p:nvSpPr>
        <p:spPr>
          <a:xfrm>
            <a:off x="626570" y="2971799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Kallisto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single</a:t>
            </a:r>
            <a:r>
              <a:rPr lang="de-DE" dirty="0"/>
              <a:t> and </a:t>
            </a:r>
            <a:r>
              <a:rPr lang="de-DE" dirty="0" err="1"/>
              <a:t>paired</a:t>
            </a:r>
            <a:endParaRPr lang="de-DE" dirty="0"/>
          </a:p>
        </p:txBody>
      </p:sp>
      <p:cxnSp>
        <p:nvCxnSpPr>
          <p:cNvPr id="19" name="Gewinkelte Verbindung 18">
            <a:extLst>
              <a:ext uri="{FF2B5EF4-FFF2-40B4-BE49-F238E27FC236}">
                <a16:creationId xmlns:a16="http://schemas.microsoft.com/office/drawing/2014/main" id="{BF224ADC-672D-A615-07F3-CA537AC86A4F}"/>
              </a:ext>
            </a:extLst>
          </p:cNvPr>
          <p:cNvCxnSpPr>
            <a:cxnSpLocks/>
            <a:stCxn id="5" idx="3"/>
            <a:endCxn id="18" idx="1"/>
          </p:cNvCxnSpPr>
          <p:nvPr/>
        </p:nvCxnSpPr>
        <p:spPr>
          <a:xfrm flipH="1">
            <a:off x="626570" y="2180062"/>
            <a:ext cx="9164912" cy="1187606"/>
          </a:xfrm>
          <a:prstGeom prst="bentConnector5">
            <a:avLst>
              <a:gd name="adj1" fmla="val -2494"/>
              <a:gd name="adj2" fmla="val 50000"/>
              <a:gd name="adj3" fmla="val 102494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4" name="Abgerundetes Rechteck 23">
            <a:extLst>
              <a:ext uri="{FF2B5EF4-FFF2-40B4-BE49-F238E27FC236}">
                <a16:creationId xmlns:a16="http://schemas.microsoft.com/office/drawing/2014/main" id="{8CEB41EC-5703-477B-4A6E-66A1BB5438D7}"/>
              </a:ext>
            </a:extLst>
          </p:cNvPr>
          <p:cNvSpPr/>
          <p:nvPr/>
        </p:nvSpPr>
        <p:spPr>
          <a:xfrm>
            <a:off x="3617907" y="2971800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 err="1"/>
              <a:t>tximport</a:t>
            </a:r>
            <a:endParaRPr lang="de-DE" dirty="0"/>
          </a:p>
        </p:txBody>
      </p: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BC1B8831-846D-D068-5AB1-0F21E3B891A0}"/>
              </a:ext>
            </a:extLst>
          </p:cNvPr>
          <p:cNvCxnSpPr>
            <a:cxnSpLocks/>
            <a:endCxn id="24" idx="1"/>
          </p:cNvCxnSpPr>
          <p:nvPr/>
        </p:nvCxnSpPr>
        <p:spPr>
          <a:xfrm>
            <a:off x="2886635" y="3367667"/>
            <a:ext cx="731272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7" name="Abgerundetes Rechteck 26">
            <a:extLst>
              <a:ext uri="{FF2B5EF4-FFF2-40B4-BE49-F238E27FC236}">
                <a16:creationId xmlns:a16="http://schemas.microsoft.com/office/drawing/2014/main" id="{B35A079F-1729-7537-D16E-4317165D3EF0}"/>
              </a:ext>
            </a:extLst>
          </p:cNvPr>
          <p:cNvSpPr/>
          <p:nvPr/>
        </p:nvSpPr>
        <p:spPr>
          <a:xfrm>
            <a:off x="626570" y="4159404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/>
              <a:t>WGCNA – network </a:t>
            </a:r>
            <a:r>
              <a:rPr lang="de-DE" dirty="0" err="1"/>
              <a:t>construction</a:t>
            </a:r>
            <a:endParaRPr lang="de-DE" dirty="0"/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CE4EE252-5143-1D16-D769-78A4776197A8}"/>
              </a:ext>
            </a:extLst>
          </p:cNvPr>
          <p:cNvSpPr txBox="1"/>
          <p:nvPr/>
        </p:nvSpPr>
        <p:spPr>
          <a:xfrm>
            <a:off x="3447381" y="4284773"/>
            <a:ext cx="7312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Next </a:t>
            </a:r>
            <a:r>
              <a:rPr lang="de-DE" dirty="0" err="1"/>
              <a:t>up</a:t>
            </a:r>
            <a:r>
              <a:rPr lang="de-DE" dirty="0"/>
              <a:t>:</a:t>
            </a:r>
          </a:p>
        </p:txBody>
      </p:sp>
      <p:sp>
        <p:nvSpPr>
          <p:cNvPr id="29" name="Abgerundetes Rechteck 28">
            <a:extLst>
              <a:ext uri="{FF2B5EF4-FFF2-40B4-BE49-F238E27FC236}">
                <a16:creationId xmlns:a16="http://schemas.microsoft.com/office/drawing/2014/main" id="{22918352-13FD-D7F8-7AD0-2EF39073BEFA}"/>
              </a:ext>
            </a:extLst>
          </p:cNvPr>
          <p:cNvSpPr/>
          <p:nvPr/>
        </p:nvSpPr>
        <p:spPr>
          <a:xfrm>
            <a:off x="6314030" y="2965450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/>
              <a:t>VST, PCA and </a:t>
            </a:r>
            <a:r>
              <a:rPr lang="de-DE" dirty="0" err="1"/>
              <a:t>filtering</a:t>
            </a:r>
            <a:endParaRPr lang="de-DE" dirty="0"/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38D81E6A-EBA0-22C0-B68B-0B03CCE6D441}"/>
              </a:ext>
            </a:extLst>
          </p:cNvPr>
          <p:cNvCxnSpPr>
            <a:cxnSpLocks/>
            <a:stCxn id="24" idx="3"/>
            <a:endCxn id="29" idx="1"/>
          </p:cNvCxnSpPr>
          <p:nvPr/>
        </p:nvCxnSpPr>
        <p:spPr>
          <a:xfrm flipV="1">
            <a:off x="5877972" y="3361319"/>
            <a:ext cx="436058" cy="63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Gewinkelte Verbindung 7">
            <a:extLst>
              <a:ext uri="{FF2B5EF4-FFF2-40B4-BE49-F238E27FC236}">
                <a16:creationId xmlns:a16="http://schemas.microsoft.com/office/drawing/2014/main" id="{CE3F798F-06B5-8FFB-90E7-84B9C70A1F6F}"/>
              </a:ext>
            </a:extLst>
          </p:cNvPr>
          <p:cNvCxnSpPr>
            <a:cxnSpLocks/>
            <a:stCxn id="29" idx="3"/>
            <a:endCxn id="27" idx="1"/>
          </p:cNvCxnSpPr>
          <p:nvPr/>
        </p:nvCxnSpPr>
        <p:spPr>
          <a:xfrm flipH="1">
            <a:off x="626570" y="3361319"/>
            <a:ext cx="7947525" cy="1193954"/>
          </a:xfrm>
          <a:prstGeom prst="bentConnector5">
            <a:avLst>
              <a:gd name="adj1" fmla="val -2876"/>
              <a:gd name="adj2" fmla="val 50000"/>
              <a:gd name="adj3" fmla="val 102876"/>
            </a:avLst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" name="Abgerundetes Rechteck 13">
            <a:extLst>
              <a:ext uri="{FF2B5EF4-FFF2-40B4-BE49-F238E27FC236}">
                <a16:creationId xmlns:a16="http://schemas.microsoft.com/office/drawing/2014/main" id="{DCDF5ACC-E24B-E265-60E2-9997562A47F4}"/>
              </a:ext>
            </a:extLst>
          </p:cNvPr>
          <p:cNvSpPr/>
          <p:nvPr/>
        </p:nvSpPr>
        <p:spPr>
          <a:xfrm>
            <a:off x="4600332" y="4159406"/>
            <a:ext cx="2260065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/>
              <a:t>WGCNA – </a:t>
            </a:r>
            <a:r>
              <a:rPr lang="de-DE" dirty="0" err="1"/>
              <a:t>module</a:t>
            </a:r>
            <a:r>
              <a:rPr lang="de-DE" dirty="0"/>
              <a:t> </a:t>
            </a:r>
            <a:r>
              <a:rPr lang="de-DE" dirty="0" err="1"/>
              <a:t>trait</a:t>
            </a:r>
            <a:r>
              <a:rPr lang="de-DE" dirty="0"/>
              <a:t> </a:t>
            </a:r>
            <a:r>
              <a:rPr lang="de-DE" dirty="0" err="1"/>
              <a:t>relationship</a:t>
            </a:r>
            <a:endParaRPr lang="de-DE" dirty="0"/>
          </a:p>
        </p:txBody>
      </p:sp>
      <p:sp>
        <p:nvSpPr>
          <p:cNvPr id="15" name="Abgerundetes Rechteck 14">
            <a:extLst>
              <a:ext uri="{FF2B5EF4-FFF2-40B4-BE49-F238E27FC236}">
                <a16:creationId xmlns:a16="http://schemas.microsoft.com/office/drawing/2014/main" id="{99FD9516-29AC-4A28-AADC-BD1AB1581669}"/>
              </a:ext>
            </a:extLst>
          </p:cNvPr>
          <p:cNvSpPr/>
          <p:nvPr/>
        </p:nvSpPr>
        <p:spPr>
          <a:xfrm>
            <a:off x="7170879" y="4159406"/>
            <a:ext cx="2620603" cy="791737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4000"/>
              </a:lnSpc>
            </a:pPr>
            <a:r>
              <a:rPr lang="de-DE" dirty="0"/>
              <a:t>WGCNA – </a:t>
            </a:r>
            <a:r>
              <a:rPr lang="de-DE" dirty="0" err="1"/>
              <a:t>functional</a:t>
            </a:r>
            <a:r>
              <a:rPr lang="de-DE" dirty="0"/>
              <a:t> </a:t>
            </a:r>
            <a:r>
              <a:rPr lang="de-DE" dirty="0" err="1"/>
              <a:t>enrichment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173024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2BD23D-89F3-BDE9-2AB5-CA05AEB7F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Datasets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2919667-7CE4-E5F4-6D1E-7954313B9B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11038" cy="4351338"/>
          </a:xfrm>
        </p:spPr>
        <p:txBody>
          <a:bodyPr/>
          <a:lstStyle/>
          <a:p>
            <a:pPr marL="0" indent="0">
              <a:buNone/>
            </a:pPr>
            <a:r>
              <a:rPr lang="de-DE" sz="1600" dirty="0" err="1"/>
              <a:t>Biotrophic</a:t>
            </a:r>
            <a:r>
              <a:rPr lang="de-DE" sz="1600" dirty="0"/>
              <a:t> </a:t>
            </a:r>
            <a:r>
              <a:rPr lang="de-DE" sz="1600" dirty="0" err="1"/>
              <a:t>pathogens</a:t>
            </a:r>
            <a:r>
              <a:rPr lang="de-DE" sz="1600" dirty="0"/>
              <a:t>:	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Golovinomyces</a:t>
            </a:r>
            <a:r>
              <a:rPr lang="de-DE" sz="1600" dirty="0"/>
              <a:t> </a:t>
            </a:r>
            <a:r>
              <a:rPr lang="de-DE" sz="1600" dirty="0" err="1"/>
              <a:t>orontii</a:t>
            </a:r>
            <a:endParaRPr lang="de-DE" sz="1600" dirty="0"/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Erysiphe</a:t>
            </a:r>
            <a:r>
              <a:rPr lang="de-DE" sz="1600" dirty="0"/>
              <a:t> </a:t>
            </a:r>
            <a:r>
              <a:rPr lang="de-DE" sz="1600" dirty="0" err="1"/>
              <a:t>cichoracearum</a:t>
            </a:r>
            <a:r>
              <a:rPr lang="de-DE" sz="1600" dirty="0"/>
              <a:t> 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Hyaloperonospora</a:t>
            </a:r>
            <a:r>
              <a:rPr lang="de-DE" sz="1600" dirty="0"/>
              <a:t> </a:t>
            </a:r>
            <a:r>
              <a:rPr lang="de-DE" sz="1600" dirty="0" err="1"/>
              <a:t>arabidopsidis</a:t>
            </a:r>
            <a:r>
              <a:rPr lang="de-DE" sz="1600" dirty="0"/>
              <a:t> (2 Datasets)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Plasmodiophora</a:t>
            </a:r>
            <a:r>
              <a:rPr lang="de-DE" sz="1600" dirty="0"/>
              <a:t> </a:t>
            </a:r>
            <a:r>
              <a:rPr lang="de-DE" sz="1600" dirty="0" err="1"/>
              <a:t>brassicae</a:t>
            </a:r>
            <a:r>
              <a:rPr lang="de-DE" sz="1600" dirty="0"/>
              <a:t> (2 </a:t>
            </a:r>
            <a:r>
              <a:rPr lang="de-DE" sz="1600" dirty="0" err="1"/>
              <a:t>Datasetes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Turnip</a:t>
            </a:r>
            <a:r>
              <a:rPr lang="de-DE" sz="1600" dirty="0"/>
              <a:t> </a:t>
            </a:r>
            <a:r>
              <a:rPr lang="de-DE" sz="1600" dirty="0" err="1"/>
              <a:t>mosaic</a:t>
            </a:r>
            <a:r>
              <a:rPr lang="de-DE" sz="1600" dirty="0"/>
              <a:t> </a:t>
            </a:r>
            <a:r>
              <a:rPr lang="de-DE" sz="1600" dirty="0" err="1"/>
              <a:t>virus</a:t>
            </a:r>
            <a:r>
              <a:rPr lang="de-DE" sz="1600" dirty="0"/>
              <a:t> (</a:t>
            </a:r>
            <a:r>
              <a:rPr lang="de-DE" sz="1600" dirty="0" err="1"/>
              <a:t>TuMV</a:t>
            </a:r>
            <a:r>
              <a:rPr lang="de-DE" sz="1600" dirty="0"/>
              <a:t>) (2 </a:t>
            </a:r>
            <a:r>
              <a:rPr lang="de-DE" sz="1600" dirty="0" err="1"/>
              <a:t>Datasts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Heterodera</a:t>
            </a:r>
            <a:r>
              <a:rPr lang="de-DE" sz="1600" dirty="0"/>
              <a:t> </a:t>
            </a:r>
            <a:r>
              <a:rPr lang="de-DE" sz="1600" dirty="0" err="1"/>
              <a:t>schachtii</a:t>
            </a:r>
            <a:endParaRPr lang="de-DE" sz="1600" dirty="0"/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Turnip</a:t>
            </a:r>
            <a:r>
              <a:rPr lang="de-DE" sz="1600" dirty="0"/>
              <a:t> </a:t>
            </a:r>
            <a:r>
              <a:rPr lang="de-DE" sz="1600" dirty="0" err="1"/>
              <a:t>yellows</a:t>
            </a:r>
            <a:r>
              <a:rPr lang="de-DE" sz="1600" dirty="0"/>
              <a:t> </a:t>
            </a:r>
            <a:r>
              <a:rPr lang="de-DE" sz="1600" dirty="0" err="1"/>
              <a:t>virus</a:t>
            </a:r>
            <a:r>
              <a:rPr lang="de-DE" sz="1600" dirty="0"/>
              <a:t> (</a:t>
            </a:r>
            <a:r>
              <a:rPr lang="de-DE" sz="1600" dirty="0" err="1"/>
              <a:t>TuYV</a:t>
            </a:r>
            <a:r>
              <a:rPr lang="de-DE" sz="1600" dirty="0"/>
              <a:t>) 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Cauliflower</a:t>
            </a:r>
            <a:r>
              <a:rPr lang="de-DE" sz="1600" dirty="0"/>
              <a:t> </a:t>
            </a:r>
            <a:r>
              <a:rPr lang="de-DE" sz="1600" dirty="0" err="1"/>
              <a:t>mosaic</a:t>
            </a:r>
            <a:r>
              <a:rPr lang="de-DE" sz="1600" dirty="0"/>
              <a:t> </a:t>
            </a:r>
            <a:r>
              <a:rPr lang="de-DE" sz="1600" dirty="0" err="1"/>
              <a:t>virus</a:t>
            </a:r>
            <a:r>
              <a:rPr lang="de-DE" sz="1600" dirty="0"/>
              <a:t> (</a:t>
            </a:r>
            <a:r>
              <a:rPr lang="de-DE" sz="1600" dirty="0" err="1"/>
              <a:t>CaMV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Meloidogyne</a:t>
            </a:r>
            <a:r>
              <a:rPr lang="de-DE" sz="1600" dirty="0"/>
              <a:t> </a:t>
            </a:r>
            <a:r>
              <a:rPr lang="de-DE" sz="1600" dirty="0" err="1"/>
              <a:t>javanica</a:t>
            </a:r>
            <a:endParaRPr lang="de-DE" sz="1600" dirty="0"/>
          </a:p>
          <a:p>
            <a:endParaRPr lang="de-DE" dirty="0"/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F1A31B45-2AC3-12DC-650A-B8C1F5AE7571}"/>
              </a:ext>
            </a:extLst>
          </p:cNvPr>
          <p:cNvSpPr txBox="1">
            <a:spLocks/>
          </p:cNvSpPr>
          <p:nvPr/>
        </p:nvSpPr>
        <p:spPr>
          <a:xfrm>
            <a:off x="6096000" y="1825625"/>
            <a:ext cx="481103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DE" sz="1600" dirty="0"/>
              <a:t>Control:	</a:t>
            </a:r>
          </a:p>
          <a:p>
            <a:pPr>
              <a:buFont typeface="Symbol" pitchFamily="2" charset="2"/>
              <a:buChar char="-"/>
            </a:pPr>
            <a:r>
              <a:rPr lang="de-DE" sz="1600" dirty="0" err="1"/>
              <a:t>Drought</a:t>
            </a:r>
            <a:endParaRPr lang="de-DE" sz="1600" dirty="0"/>
          </a:p>
          <a:p>
            <a:pPr>
              <a:buFont typeface="Symbol" pitchFamily="2" charset="2"/>
              <a:buChar char="-"/>
            </a:pPr>
            <a:r>
              <a:rPr lang="de-DE" sz="1600" dirty="0"/>
              <a:t>Botrytis cinerea (</a:t>
            </a:r>
            <a:r>
              <a:rPr lang="de-DE" sz="1600" dirty="0" err="1"/>
              <a:t>necrotrophic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r>
              <a:rPr lang="de-DE" sz="1600" dirty="0"/>
              <a:t>Alternaria </a:t>
            </a:r>
            <a:r>
              <a:rPr lang="de-DE" sz="1600" dirty="0" err="1"/>
              <a:t>brassicae</a:t>
            </a:r>
            <a:r>
              <a:rPr lang="de-DE" sz="1600" dirty="0"/>
              <a:t> (</a:t>
            </a:r>
            <a:r>
              <a:rPr lang="de-DE" sz="1600" dirty="0" err="1"/>
              <a:t>necrotrophic</a:t>
            </a:r>
            <a:r>
              <a:rPr lang="de-DE" sz="1600" dirty="0"/>
              <a:t>)</a:t>
            </a:r>
          </a:p>
          <a:p>
            <a:pPr>
              <a:buFont typeface="Symbol" pitchFamily="2" charset="2"/>
              <a:buChar char="-"/>
            </a:pPr>
            <a:endParaRPr lang="de-DE" sz="1600" dirty="0"/>
          </a:p>
          <a:p>
            <a:pPr>
              <a:buFont typeface="Symbol" pitchFamily="2" charset="2"/>
              <a:buChar char="-"/>
            </a:pPr>
            <a:endParaRPr lang="de-DE" sz="1600" dirty="0"/>
          </a:p>
          <a:p>
            <a:pPr marL="0" indent="0">
              <a:buNone/>
            </a:pPr>
            <a:r>
              <a:rPr lang="de-DE" sz="1600" dirty="0" err="1"/>
              <a:t>Altogether</a:t>
            </a:r>
            <a:r>
              <a:rPr lang="de-DE" sz="1600" dirty="0"/>
              <a:t>:</a:t>
            </a:r>
          </a:p>
          <a:p>
            <a:pPr marL="0" indent="0">
              <a:buNone/>
            </a:pPr>
            <a:r>
              <a:rPr lang="de-DE" sz="1600" dirty="0"/>
              <a:t>283 </a:t>
            </a:r>
            <a:r>
              <a:rPr lang="de-DE" sz="1600" dirty="0" err="1"/>
              <a:t>samples</a:t>
            </a:r>
            <a:endParaRPr lang="de-DE" sz="1600" dirty="0"/>
          </a:p>
          <a:p>
            <a:pPr marL="0" indent="0">
              <a:buNone/>
            </a:pPr>
            <a:r>
              <a:rPr lang="de-DE" sz="1600" dirty="0"/>
              <a:t>141 single-end, 142 </a:t>
            </a:r>
            <a:r>
              <a:rPr lang="de-DE" sz="1600" dirty="0" err="1"/>
              <a:t>paired</a:t>
            </a:r>
            <a:r>
              <a:rPr lang="de-DE" sz="1600" dirty="0"/>
              <a:t>-end</a:t>
            </a:r>
          </a:p>
          <a:p>
            <a:pPr marL="0" indent="0">
              <a:buNone/>
            </a:pPr>
            <a:endParaRPr lang="de-DE" sz="1600" dirty="0"/>
          </a:p>
          <a:p>
            <a:pPr>
              <a:buFont typeface="Symbol" pitchFamily="2" charset="2"/>
              <a:buChar char="-"/>
            </a:pPr>
            <a:endParaRPr lang="de-DE" sz="1600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48901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03E46CF-77F2-A928-96F0-203BD875748C}"/>
              </a:ext>
            </a:extLst>
          </p:cNvPr>
          <p:cNvSpPr txBox="1">
            <a:spLocks/>
          </p:cNvSpPr>
          <p:nvPr/>
        </p:nvSpPr>
        <p:spPr>
          <a:xfrm>
            <a:off x="620486" y="481239"/>
            <a:ext cx="10515600" cy="61458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sz="2400" dirty="0" err="1"/>
              <a:t>MultiQC</a:t>
            </a:r>
            <a:r>
              <a:rPr lang="de-DE" sz="2400" dirty="0"/>
              <a:t> after </a:t>
            </a:r>
            <a:r>
              <a:rPr lang="de-DE" sz="2400" dirty="0" err="1"/>
              <a:t>basic</a:t>
            </a:r>
            <a:r>
              <a:rPr lang="de-DE" sz="2400" dirty="0"/>
              <a:t> </a:t>
            </a:r>
            <a:r>
              <a:rPr lang="de-DE" sz="2400" dirty="0" err="1"/>
              <a:t>trimming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fastp</a:t>
            </a:r>
            <a:endParaRPr lang="de-DE" sz="24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E27C9D9E-78EA-B095-5700-581E4FC97E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58" y="942756"/>
            <a:ext cx="11669486" cy="5434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4823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09ED03F5-809D-5FAC-6E7D-8C8913683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6" y="769172"/>
            <a:ext cx="11672620" cy="544294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DBD7C152-02C3-EE73-5600-0D25C46E40A1}"/>
              </a:ext>
            </a:extLst>
          </p:cNvPr>
          <p:cNvSpPr txBox="1"/>
          <p:nvPr/>
        </p:nvSpPr>
        <p:spPr>
          <a:xfrm>
            <a:off x="391886" y="276555"/>
            <a:ext cx="10305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Harder </a:t>
            </a:r>
            <a:r>
              <a:rPr lang="de-DE" dirty="0" err="1"/>
              <a:t>trimming</a:t>
            </a:r>
            <a:r>
              <a:rPr lang="de-DE" dirty="0"/>
              <a:t> on </a:t>
            </a:r>
            <a:r>
              <a:rPr lang="de-DE" dirty="0" err="1"/>
              <a:t>P.brassicae</a:t>
            </a:r>
            <a:r>
              <a:rPr lang="de-DE" dirty="0"/>
              <a:t> </a:t>
            </a:r>
            <a:r>
              <a:rPr lang="de-DE" dirty="0" err="1"/>
              <a:t>samples</a:t>
            </a:r>
            <a:r>
              <a:rPr lang="de-DE" dirty="0"/>
              <a:t> -&gt;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quality</a:t>
            </a:r>
            <a:r>
              <a:rPr lang="de-DE" dirty="0"/>
              <a:t> </a:t>
            </a:r>
            <a:r>
              <a:rPr lang="de-DE" dirty="0" err="1"/>
              <a:t>threshold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improve</a:t>
            </a:r>
            <a:r>
              <a:rPr lang="de-DE" dirty="0"/>
              <a:t> </a:t>
            </a:r>
            <a:r>
              <a:rPr lang="de-DE" dirty="0" err="1"/>
              <a:t>quality</a:t>
            </a: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A7E771D-5ED0-9B16-DFB3-8A83181C5BBD}"/>
              </a:ext>
            </a:extLst>
          </p:cNvPr>
          <p:cNvSpPr txBox="1"/>
          <p:nvPr/>
        </p:nvSpPr>
        <p:spPr>
          <a:xfrm>
            <a:off x="9083842" y="3198167"/>
            <a:ext cx="170046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/>
              <a:t>Failed</a:t>
            </a:r>
            <a:r>
              <a:rPr lang="de-DE" sz="1200" dirty="0"/>
              <a:t> </a:t>
            </a:r>
            <a:r>
              <a:rPr lang="de-DE" sz="1200" dirty="0" err="1"/>
              <a:t>adapter</a:t>
            </a:r>
            <a:r>
              <a:rPr lang="de-DE" sz="1200" dirty="0"/>
              <a:t> </a:t>
            </a:r>
            <a:r>
              <a:rPr lang="de-DE" sz="1200" dirty="0" err="1"/>
              <a:t>content</a:t>
            </a:r>
            <a:r>
              <a:rPr lang="de-DE" sz="1200" dirty="0"/>
              <a:t> in Hpa2 Experiment</a:t>
            </a:r>
          </a:p>
        </p:txBody>
      </p:sp>
      <p:cxnSp>
        <p:nvCxnSpPr>
          <p:cNvPr id="6" name="Gewinkelte Verbindung 5">
            <a:extLst>
              <a:ext uri="{FF2B5EF4-FFF2-40B4-BE49-F238E27FC236}">
                <a16:creationId xmlns:a16="http://schemas.microsoft.com/office/drawing/2014/main" id="{68F50DBE-DF1B-9188-BAD2-FA6A37B5E5A9}"/>
              </a:ext>
            </a:extLst>
          </p:cNvPr>
          <p:cNvCxnSpPr/>
          <p:nvPr/>
        </p:nvCxnSpPr>
        <p:spPr>
          <a:xfrm rot="16200000" flipV="1">
            <a:off x="10355180" y="2999874"/>
            <a:ext cx="673767" cy="18448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54141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fik 16">
            <a:extLst>
              <a:ext uri="{FF2B5EF4-FFF2-40B4-BE49-F238E27FC236}">
                <a16:creationId xmlns:a16="http://schemas.microsoft.com/office/drawing/2014/main" id="{D5149A9A-8D6A-0DD7-8746-BEBAFA7F06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713" y="215652"/>
            <a:ext cx="10395645" cy="6642348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A2CC39E-79D0-E804-56EB-928F58D6AA8B}"/>
              </a:ext>
            </a:extLst>
          </p:cNvPr>
          <p:cNvSpPr txBox="1"/>
          <p:nvPr/>
        </p:nvSpPr>
        <p:spPr>
          <a:xfrm>
            <a:off x="4494218" y="463639"/>
            <a:ext cx="18030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/>
              <a:t>A.Brassicae</a:t>
            </a:r>
            <a:r>
              <a:rPr lang="de-DE" sz="1200" dirty="0"/>
              <a:t> (</a:t>
            </a:r>
            <a:r>
              <a:rPr lang="de-DE" sz="1200" dirty="0" err="1"/>
              <a:t>necrotroph</a:t>
            </a:r>
            <a:r>
              <a:rPr lang="de-DE" sz="1200" dirty="0"/>
              <a:t>) - </a:t>
            </a:r>
            <a:r>
              <a:rPr lang="de-DE" sz="1200" dirty="0" err="1"/>
              <a:t>infected</a:t>
            </a:r>
            <a:endParaRPr lang="de-DE" sz="1200" dirty="0"/>
          </a:p>
        </p:txBody>
      </p:sp>
      <p:cxnSp>
        <p:nvCxnSpPr>
          <p:cNvPr id="9" name="Gerade Verbindung 8">
            <a:extLst>
              <a:ext uri="{FF2B5EF4-FFF2-40B4-BE49-F238E27FC236}">
                <a16:creationId xmlns:a16="http://schemas.microsoft.com/office/drawing/2014/main" id="{A951E18F-9FC2-A25E-9397-CA0A5CAB12E6}"/>
              </a:ext>
            </a:extLst>
          </p:cNvPr>
          <p:cNvCxnSpPr/>
          <p:nvPr/>
        </p:nvCxnSpPr>
        <p:spPr>
          <a:xfrm>
            <a:off x="4494218" y="925304"/>
            <a:ext cx="669702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98E89C41-325B-D79B-A242-D92222218F3B}"/>
              </a:ext>
            </a:extLst>
          </p:cNvPr>
          <p:cNvSpPr txBox="1"/>
          <p:nvPr/>
        </p:nvSpPr>
        <p:spPr>
          <a:xfrm>
            <a:off x="8852005" y="4136313"/>
            <a:ext cx="12164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 err="1"/>
              <a:t>G.orontii</a:t>
            </a:r>
            <a:endParaRPr lang="de-DE" sz="1200" dirty="0"/>
          </a:p>
        </p:txBody>
      </p:sp>
      <p:cxnSp>
        <p:nvCxnSpPr>
          <p:cNvPr id="12" name="Gerade Verbindung 11">
            <a:extLst>
              <a:ext uri="{FF2B5EF4-FFF2-40B4-BE49-F238E27FC236}">
                <a16:creationId xmlns:a16="http://schemas.microsoft.com/office/drawing/2014/main" id="{D15EEB13-2723-3A16-00DC-30EC1695786A}"/>
              </a:ext>
            </a:extLst>
          </p:cNvPr>
          <p:cNvCxnSpPr>
            <a:cxnSpLocks/>
          </p:cNvCxnSpPr>
          <p:nvPr/>
        </p:nvCxnSpPr>
        <p:spPr>
          <a:xfrm>
            <a:off x="9291786" y="4413312"/>
            <a:ext cx="0" cy="56498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8B974317-D563-5B67-0C46-F3DBA0455C6F}"/>
              </a:ext>
            </a:extLst>
          </p:cNvPr>
          <p:cNvSpPr txBox="1"/>
          <p:nvPr/>
        </p:nvSpPr>
        <p:spPr>
          <a:xfrm>
            <a:off x="2111794" y="5301895"/>
            <a:ext cx="1803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Hpa3 - </a:t>
            </a:r>
            <a:r>
              <a:rPr lang="de-DE" sz="1200" dirty="0" err="1"/>
              <a:t>very</a:t>
            </a:r>
            <a:r>
              <a:rPr lang="de-DE" sz="1200" dirty="0"/>
              <a:t> </a:t>
            </a:r>
            <a:r>
              <a:rPr lang="de-DE" sz="1200" dirty="0" err="1"/>
              <a:t>few</a:t>
            </a:r>
            <a:r>
              <a:rPr lang="de-DE" sz="1200" dirty="0"/>
              <a:t> </a:t>
            </a:r>
            <a:r>
              <a:rPr lang="de-DE" sz="1200" dirty="0" err="1"/>
              <a:t>reads</a:t>
            </a:r>
            <a:endParaRPr lang="de-DE" sz="1200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0BDC97E1-D013-569E-9912-D0C5DC40B8E4}"/>
              </a:ext>
            </a:extLst>
          </p:cNvPr>
          <p:cNvSpPr txBox="1"/>
          <p:nvPr/>
        </p:nvSpPr>
        <p:spPr>
          <a:xfrm>
            <a:off x="4584698" y="3767659"/>
            <a:ext cx="6697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Hpa2</a:t>
            </a:r>
          </a:p>
        </p:txBody>
      </p:sp>
      <p:cxnSp>
        <p:nvCxnSpPr>
          <p:cNvPr id="19" name="Gerade Verbindung 18">
            <a:extLst>
              <a:ext uri="{FF2B5EF4-FFF2-40B4-BE49-F238E27FC236}">
                <a16:creationId xmlns:a16="http://schemas.microsoft.com/office/drawing/2014/main" id="{DAFCDD8D-F314-712B-8D58-2686406C66C9}"/>
              </a:ext>
            </a:extLst>
          </p:cNvPr>
          <p:cNvCxnSpPr>
            <a:cxnSpLocks/>
          </p:cNvCxnSpPr>
          <p:nvPr/>
        </p:nvCxnSpPr>
        <p:spPr>
          <a:xfrm>
            <a:off x="4753535" y="4136313"/>
            <a:ext cx="0" cy="94101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14205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E555ED0D-C917-B49D-C5D3-5C1F412BD6F6}"/>
              </a:ext>
            </a:extLst>
          </p:cNvPr>
          <p:cNvSpPr txBox="1"/>
          <p:nvPr/>
        </p:nvSpPr>
        <p:spPr>
          <a:xfrm>
            <a:off x="79209" y="339979"/>
            <a:ext cx="1157649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/>
              <a:t>Count </a:t>
            </a:r>
            <a:r>
              <a:rPr lang="de-DE" sz="1600" dirty="0" err="1"/>
              <a:t>table</a:t>
            </a:r>
            <a:r>
              <a:rPr lang="de-DE" sz="1600" dirty="0"/>
              <a:t> via </a:t>
            </a:r>
            <a:r>
              <a:rPr lang="de-DE" sz="1600" dirty="0" err="1"/>
              <a:t>tximport</a:t>
            </a:r>
            <a:endParaRPr lang="de-D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 err="1"/>
              <a:t>Extracted</a:t>
            </a:r>
            <a:r>
              <a:rPr lang="de-DE" sz="1600" dirty="0"/>
              <a:t> </a:t>
            </a:r>
            <a:r>
              <a:rPr lang="de-DE" sz="1600" dirty="0" err="1"/>
              <a:t>est_counts</a:t>
            </a:r>
            <a:r>
              <a:rPr lang="de-DE" sz="1600" dirty="0"/>
              <a:t> and </a:t>
            </a:r>
            <a:r>
              <a:rPr lang="de-DE" sz="1600" dirty="0" err="1"/>
              <a:t>tpm</a:t>
            </a:r>
            <a:r>
              <a:rPr lang="de-DE" sz="1600" dirty="0"/>
              <a:t> </a:t>
            </a:r>
            <a:r>
              <a:rPr lang="de-DE" sz="1600" dirty="0" err="1"/>
              <a:t>values</a:t>
            </a:r>
            <a:r>
              <a:rPr lang="de-DE" sz="16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 err="1"/>
              <a:t>scaled</a:t>
            </a:r>
            <a:r>
              <a:rPr lang="de-DE" sz="1600" dirty="0"/>
              <a:t> </a:t>
            </a:r>
            <a:r>
              <a:rPr lang="de-DE" sz="1600" dirty="0" err="1"/>
              <a:t>counts</a:t>
            </a:r>
            <a:r>
              <a:rPr lang="de-DE" sz="1600" dirty="0"/>
              <a:t> </a:t>
            </a:r>
            <a:r>
              <a:rPr lang="de-DE" sz="1600" dirty="0" err="1"/>
              <a:t>with</a:t>
            </a:r>
            <a:r>
              <a:rPr lang="de-DE" sz="1600" dirty="0"/>
              <a:t> </a:t>
            </a:r>
            <a:r>
              <a:rPr lang="de-DE" sz="1600" i="1" dirty="0" err="1"/>
              <a:t>lengthScaledTPM</a:t>
            </a:r>
            <a:r>
              <a:rPr lang="de-DE" sz="1600" dirty="0"/>
              <a:t> (</a:t>
            </a:r>
            <a:r>
              <a:rPr lang="de-DE" sz="1600" dirty="0" err="1"/>
              <a:t>scaled</a:t>
            </a:r>
            <a:r>
              <a:rPr lang="de-DE" sz="1600" dirty="0"/>
              <a:t> </a:t>
            </a:r>
            <a:r>
              <a:rPr lang="de-DE" sz="1600" dirty="0" err="1"/>
              <a:t>using</a:t>
            </a:r>
            <a:r>
              <a:rPr lang="de-DE" sz="1600" dirty="0"/>
              <a:t> </a:t>
            </a:r>
            <a:r>
              <a:rPr lang="de-DE" sz="1600" dirty="0" err="1"/>
              <a:t>the</a:t>
            </a:r>
            <a:r>
              <a:rPr lang="de-DE" sz="1600" dirty="0"/>
              <a:t> </a:t>
            </a:r>
            <a:r>
              <a:rPr lang="de-DE" sz="1600" dirty="0" err="1"/>
              <a:t>average</a:t>
            </a:r>
            <a:r>
              <a:rPr lang="de-DE" sz="1600" dirty="0"/>
              <a:t> </a:t>
            </a:r>
            <a:r>
              <a:rPr lang="de-DE" sz="1600" dirty="0" err="1"/>
              <a:t>transcript</a:t>
            </a:r>
            <a:r>
              <a:rPr lang="de-DE" sz="1600" dirty="0"/>
              <a:t> </a:t>
            </a:r>
            <a:r>
              <a:rPr lang="de-DE" sz="1600" dirty="0" err="1"/>
              <a:t>length</a:t>
            </a:r>
            <a:r>
              <a:rPr lang="de-DE" sz="1600" dirty="0"/>
              <a:t>, </a:t>
            </a:r>
            <a:r>
              <a:rPr lang="de-DE" sz="1600" dirty="0" err="1"/>
              <a:t>averaged</a:t>
            </a:r>
            <a:r>
              <a:rPr lang="de-DE" sz="1600" dirty="0"/>
              <a:t> </a:t>
            </a:r>
            <a:r>
              <a:rPr lang="de-DE" sz="1600" dirty="0" err="1"/>
              <a:t>over</a:t>
            </a:r>
            <a:r>
              <a:rPr lang="de-DE" sz="1600" dirty="0"/>
              <a:t> </a:t>
            </a:r>
            <a:r>
              <a:rPr lang="de-DE" sz="1600" dirty="0" err="1"/>
              <a:t>samples</a:t>
            </a:r>
            <a:r>
              <a:rPr lang="de-DE" sz="1600" dirty="0"/>
              <a:t> and </a:t>
            </a:r>
            <a:r>
              <a:rPr lang="de-DE" sz="1600" dirty="0" err="1"/>
              <a:t>to</a:t>
            </a:r>
            <a:r>
              <a:rPr lang="de-DE" sz="1600" dirty="0"/>
              <a:t> </a:t>
            </a:r>
            <a:r>
              <a:rPr lang="de-DE" sz="1600" dirty="0" err="1"/>
              <a:t>library</a:t>
            </a:r>
            <a:r>
              <a:rPr lang="de-DE" sz="1600" dirty="0"/>
              <a:t> </a:t>
            </a:r>
            <a:r>
              <a:rPr lang="de-DE" sz="1600" dirty="0" err="1"/>
              <a:t>size</a:t>
            </a:r>
            <a:r>
              <a:rPr lang="de-DE" sz="16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 err="1"/>
              <a:t>Created</a:t>
            </a:r>
            <a:r>
              <a:rPr lang="de-DE" sz="1600" dirty="0"/>
              <a:t> </a:t>
            </a:r>
            <a:r>
              <a:rPr lang="de-DE" sz="1600" dirty="0" err="1"/>
              <a:t>DESeqDataset</a:t>
            </a:r>
            <a:r>
              <a:rPr lang="de-DE" sz="1600" dirty="0"/>
              <a:t> (design ~ Experiment + </a:t>
            </a:r>
            <a:r>
              <a:rPr lang="de-DE" sz="1600" dirty="0" err="1"/>
              <a:t>infected.control</a:t>
            </a:r>
            <a:r>
              <a:rPr lang="de-DE" sz="1600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/>
              <a:t>VST (</a:t>
            </a:r>
            <a:r>
              <a:rPr lang="de-DE" sz="1600" dirty="0" err="1"/>
              <a:t>with</a:t>
            </a:r>
            <a:r>
              <a:rPr lang="de-DE" sz="1600" dirty="0"/>
              <a:t> blind </a:t>
            </a:r>
            <a:r>
              <a:rPr lang="de-DE" sz="1600" dirty="0" err="1"/>
              <a:t>dispersion</a:t>
            </a:r>
            <a:r>
              <a:rPr lang="de-DE" sz="1600" dirty="0"/>
              <a:t> </a:t>
            </a:r>
            <a:r>
              <a:rPr lang="de-DE" sz="1600" dirty="0" err="1"/>
              <a:t>estimation</a:t>
            </a:r>
            <a:r>
              <a:rPr lang="de-DE" sz="1600" dirty="0"/>
              <a:t>) on </a:t>
            </a:r>
            <a:r>
              <a:rPr lang="de-DE" sz="1600" dirty="0" err="1"/>
              <a:t>the</a:t>
            </a:r>
            <a:r>
              <a:rPr lang="de-DE" sz="1600" dirty="0"/>
              <a:t> </a:t>
            </a:r>
            <a:r>
              <a:rPr lang="de-DE" sz="1600" dirty="0" err="1"/>
              <a:t>estimated_counts</a:t>
            </a:r>
            <a:endParaRPr lang="de-DE" sz="1600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515F6501-4861-3A65-F17F-92175DCF2160}"/>
              </a:ext>
            </a:extLst>
          </p:cNvPr>
          <p:cNvSpPr txBox="1"/>
          <p:nvPr/>
        </p:nvSpPr>
        <p:spPr>
          <a:xfrm>
            <a:off x="8697293" y="2897395"/>
            <a:ext cx="3494707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/>
              <a:t>not </a:t>
            </a:r>
            <a:r>
              <a:rPr lang="de-DE" sz="1600" dirty="0" err="1"/>
              <a:t>filtered</a:t>
            </a:r>
            <a:endParaRPr lang="de-D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 err="1"/>
              <a:t>outlier</a:t>
            </a:r>
            <a:r>
              <a:rPr lang="de-DE" sz="1600" dirty="0"/>
              <a:t>: Hpa2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 err="1"/>
              <a:t>Already</a:t>
            </a:r>
            <a:r>
              <a:rPr lang="de-DE" sz="1600" dirty="0"/>
              <a:t> </a:t>
            </a:r>
            <a:r>
              <a:rPr lang="de-DE" sz="1600" dirty="0" err="1"/>
              <a:t>failed</a:t>
            </a:r>
            <a:r>
              <a:rPr lang="de-DE" sz="1600" dirty="0"/>
              <a:t> </a:t>
            </a:r>
            <a:r>
              <a:rPr lang="de-DE" sz="1600" dirty="0" err="1"/>
              <a:t>adapter</a:t>
            </a:r>
            <a:r>
              <a:rPr lang="de-DE" sz="1600" dirty="0"/>
              <a:t> </a:t>
            </a:r>
            <a:r>
              <a:rPr lang="de-DE" sz="1600" dirty="0" err="1"/>
              <a:t>content</a:t>
            </a:r>
            <a:r>
              <a:rPr lang="de-DE" sz="1600" dirty="0"/>
              <a:t> in </a:t>
            </a:r>
            <a:r>
              <a:rPr lang="de-DE" sz="1600" dirty="0" err="1"/>
              <a:t>multiqc</a:t>
            </a:r>
            <a:r>
              <a:rPr lang="de-DE" sz="1600" dirty="0"/>
              <a:t> after </a:t>
            </a:r>
            <a:r>
              <a:rPr lang="de-DE" sz="1600" dirty="0" err="1"/>
              <a:t>trimming</a:t>
            </a:r>
            <a:endParaRPr lang="de-D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dirty="0"/>
              <a:t>Low </a:t>
            </a:r>
            <a:r>
              <a:rPr lang="de-DE" sz="1600" dirty="0" err="1"/>
              <a:t>number</a:t>
            </a:r>
            <a:r>
              <a:rPr lang="de-DE" sz="1600" dirty="0"/>
              <a:t> </a:t>
            </a:r>
            <a:r>
              <a:rPr lang="de-DE" sz="1600" dirty="0" err="1"/>
              <a:t>of</a:t>
            </a:r>
            <a:r>
              <a:rPr lang="de-DE" sz="1600" dirty="0"/>
              <a:t> </a:t>
            </a:r>
            <a:r>
              <a:rPr lang="de-DE" sz="1600" dirty="0" err="1"/>
              <a:t>aligned</a:t>
            </a:r>
            <a:r>
              <a:rPr lang="de-DE" sz="1600" dirty="0"/>
              <a:t> </a:t>
            </a:r>
            <a:r>
              <a:rPr lang="de-DE" sz="1600" dirty="0" err="1"/>
              <a:t>reads</a:t>
            </a:r>
            <a:endParaRPr lang="de-DE" sz="1600" dirty="0"/>
          </a:p>
          <a:p>
            <a:endParaRPr lang="de-DE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600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A5019C57-633D-E1D3-DAD9-9E789589B6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737" y="1816753"/>
            <a:ext cx="7533891" cy="4451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4684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09B57C05-C966-3064-B605-C9845022FAB7}"/>
              </a:ext>
            </a:extLst>
          </p:cNvPr>
          <p:cNvSpPr txBox="1"/>
          <p:nvPr/>
        </p:nvSpPr>
        <p:spPr>
          <a:xfrm>
            <a:off x="678426" y="235974"/>
            <a:ext cx="2109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Without Hpa2:</a:t>
            </a:r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1330D9E-A95C-0DAA-E255-03A891C607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37" y="773295"/>
            <a:ext cx="10302876" cy="5848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1169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85A0C58-7156-A820-9AA0-491831E82699}"/>
              </a:ext>
            </a:extLst>
          </p:cNvPr>
          <p:cNvSpPr txBox="1"/>
          <p:nvPr/>
        </p:nvSpPr>
        <p:spPr>
          <a:xfrm>
            <a:off x="10003962" y="209919"/>
            <a:ext cx="208000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After </a:t>
            </a:r>
            <a:r>
              <a:rPr lang="de-DE" sz="1400" dirty="0" err="1"/>
              <a:t>filtering</a:t>
            </a:r>
            <a:r>
              <a:rPr lang="de-DE" sz="1400" dirty="0"/>
              <a:t> </a:t>
            </a:r>
            <a:r>
              <a:rPr lang="de-DE" sz="1400" dirty="0" err="1"/>
              <a:t>low</a:t>
            </a:r>
            <a:r>
              <a:rPr lang="de-DE" sz="1400" dirty="0"/>
              <a:t> </a:t>
            </a:r>
            <a:r>
              <a:rPr lang="de-DE" sz="1400" dirty="0" err="1"/>
              <a:t>expressed</a:t>
            </a:r>
            <a:r>
              <a:rPr lang="de-DE" sz="1400" dirty="0"/>
              <a:t> genes:</a:t>
            </a:r>
          </a:p>
          <a:p>
            <a:r>
              <a:rPr lang="de-DE" sz="1400" dirty="0" err="1"/>
              <a:t>Result</a:t>
            </a:r>
            <a:r>
              <a:rPr lang="de-DE" sz="1400" dirty="0"/>
              <a:t>: </a:t>
            </a:r>
          </a:p>
          <a:p>
            <a:r>
              <a:rPr lang="de-DE" sz="1400" dirty="0"/>
              <a:t>- </a:t>
            </a:r>
            <a:r>
              <a:rPr lang="de-DE" sz="1400" dirty="0" err="1"/>
              <a:t>before</a:t>
            </a:r>
            <a:r>
              <a:rPr lang="de-DE" sz="1400" dirty="0"/>
              <a:t> </a:t>
            </a:r>
            <a:r>
              <a:rPr lang="de-DE" sz="1400" dirty="0" err="1"/>
              <a:t>filtering</a:t>
            </a:r>
            <a:r>
              <a:rPr lang="de-DE" sz="1400" dirty="0"/>
              <a:t>: 27321 genes</a:t>
            </a:r>
          </a:p>
          <a:p>
            <a:r>
              <a:rPr lang="de-DE" sz="1400" dirty="0"/>
              <a:t>- after </a:t>
            </a:r>
            <a:r>
              <a:rPr lang="de-DE" sz="1400" dirty="0" err="1"/>
              <a:t>filtering</a:t>
            </a:r>
            <a:r>
              <a:rPr lang="de-DE" sz="1400" dirty="0"/>
              <a:t>: 19017 genes</a:t>
            </a:r>
          </a:p>
          <a:p>
            <a:endParaRPr lang="de-DE" sz="1400" dirty="0"/>
          </a:p>
          <a:p>
            <a:r>
              <a:rPr lang="de-DE" sz="1400" dirty="0"/>
              <a:t>--&gt; </a:t>
            </a:r>
            <a:r>
              <a:rPr lang="de-DE" sz="1400" dirty="0" err="1"/>
              <a:t>keep</a:t>
            </a:r>
            <a:r>
              <a:rPr lang="de-DE" sz="1400" dirty="0"/>
              <a:t> genes </a:t>
            </a:r>
            <a:r>
              <a:rPr lang="de-DE" sz="1400" dirty="0" err="1"/>
              <a:t>that</a:t>
            </a:r>
            <a:r>
              <a:rPr lang="de-DE" sz="1400" dirty="0"/>
              <a:t> </a:t>
            </a:r>
            <a:r>
              <a:rPr lang="de-DE" sz="1400" dirty="0" err="1"/>
              <a:t>have</a:t>
            </a:r>
            <a:r>
              <a:rPr lang="de-DE" sz="1400" dirty="0"/>
              <a:t> at least a </a:t>
            </a:r>
            <a:r>
              <a:rPr lang="de-DE" sz="1400" dirty="0" err="1"/>
              <a:t>tpm</a:t>
            </a:r>
            <a:r>
              <a:rPr lang="de-DE" sz="1400" dirty="0"/>
              <a:t> </a:t>
            </a:r>
            <a:r>
              <a:rPr lang="de-DE" sz="1400" dirty="0" err="1"/>
              <a:t>value</a:t>
            </a:r>
            <a:r>
              <a:rPr lang="de-DE" sz="1400" dirty="0"/>
              <a:t> </a:t>
            </a:r>
            <a:r>
              <a:rPr lang="de-DE" sz="1400" dirty="0" err="1"/>
              <a:t>of</a:t>
            </a:r>
            <a:r>
              <a:rPr lang="de-DE" sz="1400" dirty="0"/>
              <a:t> 0.5 per sample in at least 3 </a:t>
            </a:r>
            <a:r>
              <a:rPr lang="de-DE" sz="1400" dirty="0" err="1"/>
              <a:t>of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samples</a:t>
            </a:r>
            <a:endParaRPr lang="de-DE" sz="14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5E4831F-B61E-07A5-1B66-534D1EF6FC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107" y="352071"/>
            <a:ext cx="8842938" cy="6153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9192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CBF5B1E1-ADE3-06F1-E023-D625B80DBFDD}"/>
              </a:ext>
            </a:extLst>
          </p:cNvPr>
          <p:cNvSpPr txBox="1"/>
          <p:nvPr/>
        </p:nvSpPr>
        <p:spPr>
          <a:xfrm>
            <a:off x="371475" y="142875"/>
            <a:ext cx="1843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PC 3 and PC 4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F68AC43-9921-C060-5421-EF8A24DC4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599" y="512207"/>
            <a:ext cx="8443823" cy="5876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70715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54366AFF-0868-A621-9ACE-BABA82BFA380}"/>
              </a:ext>
            </a:extLst>
          </p:cNvPr>
          <p:cNvSpPr txBox="1"/>
          <p:nvPr/>
        </p:nvSpPr>
        <p:spPr>
          <a:xfrm>
            <a:off x="371474" y="142875"/>
            <a:ext cx="40290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PCA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aligned</a:t>
            </a:r>
            <a:r>
              <a:rPr lang="de-DE" dirty="0"/>
              <a:t> </a:t>
            </a:r>
            <a:r>
              <a:rPr lang="de-DE" dirty="0" err="1"/>
              <a:t>reads</a:t>
            </a:r>
            <a:r>
              <a:rPr lang="de-DE" dirty="0"/>
              <a:t> per sample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619F72C-09A9-FC38-FCB3-72F4E54F17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9853" y="724568"/>
            <a:ext cx="7772400" cy="5408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15351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C234BC9-DF64-2527-822F-1B14D63DA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600" y="406400"/>
            <a:ext cx="7772400" cy="5408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6666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C9455300-0D32-47BE-EA2C-BAABBE75D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34056"/>
            <a:ext cx="6308157" cy="4389887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35A78343-1CA1-F8E2-6F76-1717B1DE3B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3442" y="1397454"/>
            <a:ext cx="5838558" cy="4063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4875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67D3E4D8-D516-59A2-7C9C-1599E063EB6F}"/>
              </a:ext>
            </a:extLst>
          </p:cNvPr>
          <p:cNvSpPr txBox="1"/>
          <p:nvPr/>
        </p:nvSpPr>
        <p:spPr>
          <a:xfrm>
            <a:off x="0" y="120770"/>
            <a:ext cx="5382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Starting</a:t>
            </a:r>
            <a:r>
              <a:rPr lang="de-DE" dirty="0"/>
              <a:t> WGCNA: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A22CD34-B8CC-8602-BEAB-1C4F1C86A2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67" y="773778"/>
            <a:ext cx="10895169" cy="579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4398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feld 1">
            <a:extLst>
              <a:ext uri="{FF2B5EF4-FFF2-40B4-BE49-F238E27FC236}">
                <a16:creationId xmlns:a16="http://schemas.microsoft.com/office/drawing/2014/main" id="{DA719E4A-D938-C0E7-42EA-205042C79906}"/>
              </a:ext>
            </a:extLst>
          </p:cNvPr>
          <p:cNvSpPr txBox="1"/>
          <p:nvPr/>
        </p:nvSpPr>
        <p:spPr>
          <a:xfrm>
            <a:off x="0" y="120770"/>
            <a:ext cx="5382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Network </a:t>
            </a:r>
            <a:r>
              <a:rPr lang="de-DE" dirty="0" err="1"/>
              <a:t>construction</a:t>
            </a:r>
            <a:r>
              <a:rPr lang="de-DE" dirty="0"/>
              <a:t>: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22F77D2-040A-8F1F-7B7B-6A977C64DE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418" y="490102"/>
            <a:ext cx="9857117" cy="610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7999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6EFE977F-C51F-A246-8F87-447C49CA15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148" y="228600"/>
            <a:ext cx="6617110" cy="6617110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61A10C2D-C889-93C4-4B0C-E4AA525293E9}"/>
              </a:ext>
            </a:extLst>
          </p:cNvPr>
          <p:cNvSpPr txBox="1"/>
          <p:nvPr/>
        </p:nvSpPr>
        <p:spPr>
          <a:xfrm>
            <a:off x="7359445" y="457200"/>
            <a:ext cx="342162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Soft power: 5</a:t>
            </a:r>
          </a:p>
          <a:p>
            <a:endParaRPr lang="de-DE" dirty="0"/>
          </a:p>
          <a:p>
            <a:r>
              <a:rPr lang="de-DE" dirty="0"/>
              <a:t># Modules after </a:t>
            </a:r>
            <a:r>
              <a:rPr lang="de-DE" dirty="0" err="1"/>
              <a:t>merging</a:t>
            </a:r>
            <a:r>
              <a:rPr lang="de-DE" dirty="0"/>
              <a:t>: 18</a:t>
            </a:r>
          </a:p>
          <a:p>
            <a:r>
              <a:rPr lang="de-DE" dirty="0"/>
              <a:t># Genes in </a:t>
            </a:r>
            <a:r>
              <a:rPr lang="de-DE" dirty="0" err="1"/>
              <a:t>grey</a:t>
            </a:r>
            <a:r>
              <a:rPr lang="de-DE" dirty="0"/>
              <a:t> </a:t>
            </a:r>
            <a:r>
              <a:rPr lang="de-DE" dirty="0" err="1"/>
              <a:t>module</a:t>
            </a:r>
            <a:r>
              <a:rPr lang="de-DE" dirty="0"/>
              <a:t>: 25</a:t>
            </a:r>
          </a:p>
        </p:txBody>
      </p:sp>
    </p:spTree>
    <p:extLst>
      <p:ext uri="{BB962C8B-B14F-4D97-AF65-F5344CB8AC3E}">
        <p14:creationId xmlns:p14="http://schemas.microsoft.com/office/powerpoint/2010/main" val="10593105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63C42725-E3D8-DC76-BE8F-05E9A9BFBB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147" y="23004"/>
            <a:ext cx="6834996" cy="6834996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4596A240-B40B-F9E6-B18B-ED741751578D}"/>
              </a:ext>
            </a:extLst>
          </p:cNvPr>
          <p:cNvSpPr txBox="1"/>
          <p:nvPr/>
        </p:nvSpPr>
        <p:spPr>
          <a:xfrm>
            <a:off x="7919883" y="412955"/>
            <a:ext cx="333313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soft power: 6</a:t>
            </a:r>
          </a:p>
          <a:p>
            <a:endParaRPr lang="de-DE" dirty="0"/>
          </a:p>
          <a:p>
            <a:r>
              <a:rPr lang="de-DE" dirty="0"/>
              <a:t># Modules after </a:t>
            </a:r>
            <a:r>
              <a:rPr lang="de-DE" dirty="0" err="1"/>
              <a:t>merging</a:t>
            </a:r>
            <a:r>
              <a:rPr lang="de-DE" dirty="0"/>
              <a:t>: 19</a:t>
            </a:r>
          </a:p>
          <a:p>
            <a:r>
              <a:rPr lang="de-DE" dirty="0"/>
              <a:t># Genes in </a:t>
            </a:r>
            <a:r>
              <a:rPr lang="de-DE" dirty="0" err="1"/>
              <a:t>grey</a:t>
            </a:r>
            <a:r>
              <a:rPr lang="de-DE" dirty="0"/>
              <a:t> </a:t>
            </a:r>
            <a:r>
              <a:rPr lang="de-DE" dirty="0" err="1"/>
              <a:t>module</a:t>
            </a:r>
            <a:r>
              <a:rPr lang="de-DE" dirty="0"/>
              <a:t>: 131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781298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E412451E-E860-DA3C-DF6C-504A97DFC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7987"/>
            <a:ext cx="6740013" cy="6740013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5AB58388-C389-BCF4-953D-E3655C12522C}"/>
              </a:ext>
            </a:extLst>
          </p:cNvPr>
          <p:cNvSpPr txBox="1"/>
          <p:nvPr/>
        </p:nvSpPr>
        <p:spPr>
          <a:xfrm>
            <a:off x="7919883" y="412955"/>
            <a:ext cx="333313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soft power: 7</a:t>
            </a:r>
          </a:p>
          <a:p>
            <a:endParaRPr lang="de-DE" dirty="0"/>
          </a:p>
          <a:p>
            <a:r>
              <a:rPr lang="de-DE" dirty="0"/>
              <a:t># Modules after </a:t>
            </a:r>
            <a:r>
              <a:rPr lang="de-DE" dirty="0" err="1"/>
              <a:t>merging</a:t>
            </a:r>
            <a:r>
              <a:rPr lang="de-DE" dirty="0"/>
              <a:t>: 19</a:t>
            </a:r>
          </a:p>
          <a:p>
            <a:r>
              <a:rPr lang="de-DE" dirty="0"/>
              <a:t># Genes in </a:t>
            </a:r>
            <a:r>
              <a:rPr lang="de-DE" dirty="0" err="1"/>
              <a:t>grey</a:t>
            </a:r>
            <a:r>
              <a:rPr lang="de-DE" dirty="0"/>
              <a:t> </a:t>
            </a:r>
            <a:r>
              <a:rPr lang="de-DE" dirty="0" err="1"/>
              <a:t>module</a:t>
            </a:r>
            <a:r>
              <a:rPr lang="de-DE" dirty="0"/>
              <a:t>: 314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33572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837108AC-D8A0-90E7-97AE-658E43954E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3238"/>
            <a:ext cx="6651523" cy="6651523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FE93C1C8-1EE8-3423-976E-6764943F0F24}"/>
              </a:ext>
            </a:extLst>
          </p:cNvPr>
          <p:cNvSpPr txBox="1"/>
          <p:nvPr/>
        </p:nvSpPr>
        <p:spPr>
          <a:xfrm>
            <a:off x="7359444" y="457200"/>
            <a:ext cx="408530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Soft power: 8</a:t>
            </a:r>
          </a:p>
          <a:p>
            <a:endParaRPr lang="de-DE" dirty="0"/>
          </a:p>
          <a:p>
            <a:r>
              <a:rPr lang="de-DE" dirty="0"/>
              <a:t># Modules after </a:t>
            </a:r>
            <a:r>
              <a:rPr lang="de-DE" dirty="0" err="1"/>
              <a:t>merging</a:t>
            </a:r>
            <a:r>
              <a:rPr lang="de-DE" dirty="0"/>
              <a:t>: 21</a:t>
            </a:r>
          </a:p>
          <a:p>
            <a:r>
              <a:rPr lang="de-DE" dirty="0"/>
              <a:t># Genes in </a:t>
            </a:r>
            <a:r>
              <a:rPr lang="de-DE" dirty="0" err="1"/>
              <a:t>grey</a:t>
            </a:r>
            <a:r>
              <a:rPr lang="de-DE" dirty="0"/>
              <a:t> </a:t>
            </a:r>
            <a:r>
              <a:rPr lang="de-DE" dirty="0" err="1"/>
              <a:t>module</a:t>
            </a:r>
            <a:r>
              <a:rPr lang="de-DE" dirty="0"/>
              <a:t>: 655</a:t>
            </a:r>
          </a:p>
        </p:txBody>
      </p:sp>
    </p:spTree>
    <p:extLst>
      <p:ext uri="{BB962C8B-B14F-4D97-AF65-F5344CB8AC3E}">
        <p14:creationId xmlns:p14="http://schemas.microsoft.com/office/powerpoint/2010/main" val="35015453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360</Words>
  <Application>Microsoft Macintosh PowerPoint</Application>
  <PresentationFormat>Breitbild</PresentationFormat>
  <Paragraphs>79</Paragraphs>
  <Slides>18</Slides>
  <Notes>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Symbol</vt:lpstr>
      <vt:lpstr>Office</vt:lpstr>
      <vt:lpstr>Progress</vt:lpstr>
      <vt:lpstr>Datasets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Luisa Bender</dc:creator>
  <cp:lastModifiedBy>Luisa Katharina Bender</cp:lastModifiedBy>
  <cp:revision>12</cp:revision>
  <dcterms:created xsi:type="dcterms:W3CDTF">2025-01-16T09:38:10Z</dcterms:created>
  <dcterms:modified xsi:type="dcterms:W3CDTF">2025-01-31T18:59:21Z</dcterms:modified>
</cp:coreProperties>
</file>