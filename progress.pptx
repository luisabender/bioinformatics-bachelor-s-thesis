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61" r:id="rId2"/>
    <p:sldId id="260" r:id="rId3"/>
    <p:sldId id="262" r:id="rId4"/>
    <p:sldId id="264" r:id="rId5"/>
    <p:sldId id="272" r:id="rId6"/>
    <p:sldId id="268" r:id="rId7"/>
    <p:sldId id="269" r:id="rId8"/>
    <p:sldId id="270" r:id="rId9"/>
    <p:sldId id="271" r:id="rId10"/>
    <p:sldId id="273" r:id="rId11"/>
    <p:sldId id="282" r:id="rId12"/>
    <p:sldId id="274" r:id="rId13"/>
    <p:sldId id="275" r:id="rId14"/>
    <p:sldId id="279" r:id="rId15"/>
    <p:sldId id="292" r:id="rId16"/>
    <p:sldId id="293" r:id="rId17"/>
    <p:sldId id="288" r:id="rId18"/>
    <p:sldId id="294" r:id="rId19"/>
    <p:sldId id="284" r:id="rId20"/>
    <p:sldId id="289" r:id="rId21"/>
    <p:sldId id="290" r:id="rId22"/>
    <p:sldId id="295" r:id="rId23"/>
    <p:sldId id="299" r:id="rId24"/>
    <p:sldId id="296" r:id="rId25"/>
    <p:sldId id="297" r:id="rId26"/>
    <p:sldId id="298" r:id="rId27"/>
    <p:sldId id="300" r:id="rId28"/>
    <p:sldId id="302" r:id="rId29"/>
    <p:sldId id="301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85"/>
    <p:restoredTop sz="94557"/>
  </p:normalViewPr>
  <p:slideViewPr>
    <p:cSldViewPr snapToGrid="0">
      <p:cViewPr>
        <p:scale>
          <a:sx n="113" d="100"/>
          <a:sy n="11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F0B43-6B19-1044-8D4F-E46BB78FCD8B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45610-1111-DE43-BB32-464D9E891A9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340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837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713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355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01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786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bacteria</a:t>
            </a:r>
            <a:r>
              <a:rPr lang="de-DE" dirty="0"/>
              <a:t>, </a:t>
            </a:r>
            <a:r>
              <a:rPr lang="de-DE" dirty="0" err="1"/>
              <a:t>virus</a:t>
            </a:r>
            <a:r>
              <a:rPr lang="de-DE" dirty="0"/>
              <a:t>, </a:t>
            </a:r>
            <a:r>
              <a:rPr lang="de-DE" dirty="0" err="1"/>
              <a:t>necrotrophic</a:t>
            </a:r>
            <a:r>
              <a:rPr lang="de-DE" dirty="0"/>
              <a:t> </a:t>
            </a:r>
            <a:r>
              <a:rPr lang="de-DE" dirty="0" err="1"/>
              <a:t>separation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45610-1111-DE43-BB32-464D9E891A96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994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8C4B20-F5ED-5829-770C-89D552FFB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B065A8-3B8F-EAA1-3CA2-3DA29F5C8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18E6C3-80EE-DB29-3499-4F3C02A3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044186-C262-39D9-B876-5C4BC057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363515-A22A-9D71-77F3-8384393A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355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17705-F7D7-0C5B-EC5C-6DBD2CD9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7E2EF6-A35C-F3EA-A393-A4C82D49C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97948E-EE73-5377-0572-62E17788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2FC790-0ED7-2755-8EAA-56C33F63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689717-3447-0831-6A7E-A213C702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148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47568-4CAB-2364-C09E-500D5E1C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133EC9-FCCD-F3C6-2761-A251B9035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9B144-CBAC-0127-D279-3C77AB33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9B985B-E8E4-DB6E-487E-ADDD0FF2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B4F4CF-E3F7-AD70-9E52-306A063F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98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6B479E-A482-0BBF-CF2C-EA02BF68F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CD8BFF8-6B2A-1342-1CC8-5AFE4744F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3868EE-5665-85E2-69F7-32B5D4096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75A88-3F2D-83F4-D35E-CA47AD82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0ADD0F-01B8-0AF5-24B0-75DC00F3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F69D39-9D1E-8BC5-5F9E-94220302D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74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3E97C-A2CB-CE75-1695-C8F3852C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705987-BA79-73CF-B362-EE09E690B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CCA9E21-89A2-6D94-408F-6A08E2934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012240-B8CF-BAFC-731E-692431918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D173A1D-4A77-A38D-A656-031CCA71A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BF5093A-B398-7C54-896D-0D24078A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87EC2B6-5E99-15D6-DFC5-3798D25B2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3FD4E6A-5684-43A4-D485-ED406837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86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50804A-F305-8270-0387-ED143DA2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946C8BC-72DC-0A10-28D7-18E10D494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EB9B31-1081-83BF-9389-695346FE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B36480-7DE5-9505-8A29-EFE9EEDF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2350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D486EE-3425-0F3C-2A44-79C6CEF9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0DFF20-D49C-DE81-87F2-4A24076EC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0DFB45-6D0A-68EB-DC10-8F08C6D8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818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E6930A-3E1A-5D8B-3DD4-2CA9F35A5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F37720-5F17-92C2-142D-5236E8E0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5B980D-4B6C-8A8E-B884-B8ED93052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755F78-DF00-ECE3-9D1C-9680E218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3A732D-72FE-DF12-5C34-5CEB574A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7249EA-AF46-CA7B-6500-059133A0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41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5AFD3-CBCB-D139-BEE6-D607AB55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A4D6B12-45DB-D681-F7B8-F62695FBA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32F9DED-4DFD-A88D-F2BB-7E10E6A6E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361963D-6B27-A254-2A3F-24ADAD0C1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67855A-A19B-46BA-AC6A-2CC8B8DD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2C5539-4F44-C9D4-952E-5A3775F1C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59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CE96EB-8024-6438-67C8-8FF6A8FC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FC229B-7EF1-D392-6083-DD1CA6DEB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E39396-8DBE-B1F5-5D87-08DC151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7D278E-9418-945A-EE28-0BD4246F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168B27-AC5C-1375-7342-774CC0E7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18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F806B6-07C7-AAC3-505E-4F2C23CD1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8238A7-60A3-3D40-0EBD-49059BC73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59C40-7F0A-53F4-40A7-9FBF5551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2768F1-089A-177C-A60A-49A40830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EE9580-186C-B696-216A-B5CFBA90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658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E7AFC7C-10F0-8682-0793-5343AEBB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E2ABD3-527D-38FE-F1A3-0E368D641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0AC2D0-F4A2-D04F-D3B1-BB5BC9FD6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2D3EB-434C-7940-89BB-2B1A6C02241D}" type="datetimeFigureOut">
              <a:rPr lang="de-DE" smtClean="0"/>
              <a:t>31.01.25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AD465-2E42-BF43-6C09-4F607DA30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DB3C32-4DD3-06C8-162A-AAF5D800E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D51FE-4FF3-F54E-AD62-BE9D60927E5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95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E81741-1A0E-B91B-9133-08A7736A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72" y="458304"/>
            <a:ext cx="10515600" cy="1325563"/>
          </a:xfrm>
        </p:spPr>
        <p:txBody>
          <a:bodyPr/>
          <a:lstStyle/>
          <a:p>
            <a:r>
              <a:rPr lang="de-DE"/>
              <a:t>Progress</a:t>
            </a:r>
            <a:endParaRPr lang="de-DE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44013182-8CC2-4EF3-7177-AAD99FAB02C9}"/>
              </a:ext>
            </a:extLst>
          </p:cNvPr>
          <p:cNvSpPr/>
          <p:nvPr/>
        </p:nvSpPr>
        <p:spPr>
          <a:xfrm>
            <a:off x="3062747" y="1784193"/>
            <a:ext cx="1866549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Downloading</a:t>
            </a:r>
            <a:r>
              <a:rPr lang="de-DE" dirty="0"/>
              <a:t> all </a:t>
            </a:r>
            <a:r>
              <a:rPr lang="de-DE" dirty="0" err="1"/>
              <a:t>samples</a:t>
            </a:r>
            <a:endParaRPr lang="de-DE" dirty="0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188E6390-EC9E-481C-D249-E919FCE99C47}"/>
              </a:ext>
            </a:extLst>
          </p:cNvPr>
          <p:cNvSpPr/>
          <p:nvPr/>
        </p:nvSpPr>
        <p:spPr>
          <a:xfrm>
            <a:off x="5444779" y="1784193"/>
            <a:ext cx="1866549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Trimming</a:t>
            </a:r>
            <a:r>
              <a:rPr lang="de-DE" dirty="0"/>
              <a:t> (</a:t>
            </a:r>
            <a:r>
              <a:rPr lang="de-DE" dirty="0" err="1"/>
              <a:t>fastp</a:t>
            </a:r>
            <a:r>
              <a:rPr lang="de-DE" dirty="0"/>
              <a:t>)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3EFB548-AF06-6DA8-5A8A-D3616CE75288}"/>
              </a:ext>
            </a:extLst>
          </p:cNvPr>
          <p:cNvSpPr/>
          <p:nvPr/>
        </p:nvSpPr>
        <p:spPr>
          <a:xfrm>
            <a:off x="7924933" y="1784193"/>
            <a:ext cx="1866549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FastQC</a:t>
            </a:r>
            <a:r>
              <a:rPr lang="de-DE" dirty="0"/>
              <a:t> and </a:t>
            </a:r>
            <a:r>
              <a:rPr lang="de-DE" dirty="0" err="1"/>
              <a:t>MultiQC</a:t>
            </a:r>
            <a:endParaRPr lang="de-DE" dirty="0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1172C79E-977B-BBBB-DAD1-747312175707}"/>
              </a:ext>
            </a:extLst>
          </p:cNvPr>
          <p:cNvSpPr/>
          <p:nvPr/>
        </p:nvSpPr>
        <p:spPr>
          <a:xfrm>
            <a:off x="620172" y="1784193"/>
            <a:ext cx="1866549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Searching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Datasets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ED4C86D-85B3-257A-8DB5-F2E48D2E63A0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486721" y="2180062"/>
            <a:ext cx="576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2CE3DF8-623E-5B6B-EDD7-9B935E5BA3C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929296" y="2180061"/>
            <a:ext cx="51548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64AB0F95-67D2-34E9-DAA9-AFEE17BCDE8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311328" y="2180061"/>
            <a:ext cx="61360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Gewinkelte Verbindung 16">
            <a:extLst>
              <a:ext uri="{FF2B5EF4-FFF2-40B4-BE49-F238E27FC236}">
                <a16:creationId xmlns:a16="http://schemas.microsoft.com/office/drawing/2014/main" id="{07318707-0360-A447-B2D8-97C32A7DF3D6}"/>
              </a:ext>
            </a:extLst>
          </p:cNvPr>
          <p:cNvCxnSpPr>
            <a:cxnSpLocks/>
            <a:stCxn id="5" idx="0"/>
            <a:endCxn id="4" idx="0"/>
          </p:cNvCxnSpPr>
          <p:nvPr/>
        </p:nvCxnSpPr>
        <p:spPr>
          <a:xfrm rot="16200000" flipV="1">
            <a:off x="7618131" y="544116"/>
            <a:ext cx="12700" cy="248015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BA5F3359-45D7-D7FF-12CB-70855009A59C}"/>
              </a:ext>
            </a:extLst>
          </p:cNvPr>
          <p:cNvSpPr/>
          <p:nvPr/>
        </p:nvSpPr>
        <p:spPr>
          <a:xfrm>
            <a:off x="626570" y="2971799"/>
            <a:ext cx="2260065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Kallisto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and </a:t>
            </a:r>
            <a:r>
              <a:rPr lang="de-DE" dirty="0" err="1"/>
              <a:t>paired</a:t>
            </a:r>
            <a:endParaRPr lang="de-DE" dirty="0"/>
          </a:p>
        </p:txBody>
      </p:sp>
      <p:cxnSp>
        <p:nvCxnSpPr>
          <p:cNvPr id="19" name="Gewinkelte Verbindung 18">
            <a:extLst>
              <a:ext uri="{FF2B5EF4-FFF2-40B4-BE49-F238E27FC236}">
                <a16:creationId xmlns:a16="http://schemas.microsoft.com/office/drawing/2014/main" id="{BF224ADC-672D-A615-07F3-CA537AC86A4F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H="1">
            <a:off x="626570" y="2180062"/>
            <a:ext cx="9164912" cy="1187606"/>
          </a:xfrm>
          <a:prstGeom prst="bentConnector5">
            <a:avLst>
              <a:gd name="adj1" fmla="val -2494"/>
              <a:gd name="adj2" fmla="val 50000"/>
              <a:gd name="adj3" fmla="val 10249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8CEB41EC-5703-477B-4A6E-66A1BB5438D7}"/>
              </a:ext>
            </a:extLst>
          </p:cNvPr>
          <p:cNvSpPr/>
          <p:nvPr/>
        </p:nvSpPr>
        <p:spPr>
          <a:xfrm>
            <a:off x="3617907" y="2971800"/>
            <a:ext cx="2260065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tximport</a:t>
            </a:r>
            <a:endParaRPr lang="de-DE" dirty="0"/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C1B8831-846D-D068-5AB1-0F21E3B891A0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886635" y="3367667"/>
            <a:ext cx="7312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Abgerundetes Rechteck 26">
            <a:extLst>
              <a:ext uri="{FF2B5EF4-FFF2-40B4-BE49-F238E27FC236}">
                <a16:creationId xmlns:a16="http://schemas.microsoft.com/office/drawing/2014/main" id="{B35A079F-1729-7537-D16E-4317165D3EF0}"/>
              </a:ext>
            </a:extLst>
          </p:cNvPr>
          <p:cNvSpPr/>
          <p:nvPr/>
        </p:nvSpPr>
        <p:spPr>
          <a:xfrm>
            <a:off x="626570" y="4159404"/>
            <a:ext cx="2260065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/>
              <a:t>WGCNA – network </a:t>
            </a:r>
            <a:r>
              <a:rPr lang="de-DE" dirty="0" err="1"/>
              <a:t>construction</a:t>
            </a:r>
            <a:endParaRPr lang="de-DE" dirty="0"/>
          </a:p>
        </p:txBody>
      </p:sp>
      <p:sp>
        <p:nvSpPr>
          <p:cNvPr id="29" name="Abgerundetes Rechteck 28">
            <a:extLst>
              <a:ext uri="{FF2B5EF4-FFF2-40B4-BE49-F238E27FC236}">
                <a16:creationId xmlns:a16="http://schemas.microsoft.com/office/drawing/2014/main" id="{22918352-13FD-D7F8-7AD0-2EF39073BEFA}"/>
              </a:ext>
            </a:extLst>
          </p:cNvPr>
          <p:cNvSpPr/>
          <p:nvPr/>
        </p:nvSpPr>
        <p:spPr>
          <a:xfrm>
            <a:off x="6314030" y="2965450"/>
            <a:ext cx="2260065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/>
              <a:t>Gene </a:t>
            </a:r>
            <a:r>
              <a:rPr lang="de-DE" dirty="0" err="1"/>
              <a:t>filtering</a:t>
            </a:r>
            <a:r>
              <a:rPr lang="de-DE" dirty="0"/>
              <a:t>, VST and PCA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38D81E6A-EBA0-22C0-B68B-0B03CCE6D441}"/>
              </a:ext>
            </a:extLst>
          </p:cNvPr>
          <p:cNvCxnSpPr>
            <a:cxnSpLocks/>
            <a:stCxn id="24" idx="3"/>
            <a:endCxn id="29" idx="1"/>
          </p:cNvCxnSpPr>
          <p:nvPr/>
        </p:nvCxnSpPr>
        <p:spPr>
          <a:xfrm flipV="1">
            <a:off x="5877972" y="3361319"/>
            <a:ext cx="436058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Gewinkelte Verbindung 7">
            <a:extLst>
              <a:ext uri="{FF2B5EF4-FFF2-40B4-BE49-F238E27FC236}">
                <a16:creationId xmlns:a16="http://schemas.microsoft.com/office/drawing/2014/main" id="{CE3F798F-06B5-8FFB-90E7-84B9C70A1F6F}"/>
              </a:ext>
            </a:extLst>
          </p:cNvPr>
          <p:cNvCxnSpPr>
            <a:cxnSpLocks/>
            <a:stCxn id="29" idx="3"/>
            <a:endCxn id="27" idx="1"/>
          </p:cNvCxnSpPr>
          <p:nvPr/>
        </p:nvCxnSpPr>
        <p:spPr>
          <a:xfrm flipH="1">
            <a:off x="626570" y="3361319"/>
            <a:ext cx="7947525" cy="1193954"/>
          </a:xfrm>
          <a:prstGeom prst="bentConnector5">
            <a:avLst>
              <a:gd name="adj1" fmla="val -2876"/>
              <a:gd name="adj2" fmla="val 50000"/>
              <a:gd name="adj3" fmla="val 10287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DCDF5ACC-E24B-E265-60E2-9997562A47F4}"/>
              </a:ext>
            </a:extLst>
          </p:cNvPr>
          <p:cNvSpPr/>
          <p:nvPr/>
        </p:nvSpPr>
        <p:spPr>
          <a:xfrm>
            <a:off x="3630385" y="4159406"/>
            <a:ext cx="2260065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/>
              <a:t>WGCNA – </a:t>
            </a:r>
            <a:r>
              <a:rPr lang="de-DE" dirty="0" err="1"/>
              <a:t>trait</a:t>
            </a:r>
            <a:r>
              <a:rPr lang="de-DE" dirty="0"/>
              <a:t> </a:t>
            </a:r>
            <a:r>
              <a:rPr lang="de-DE" dirty="0" err="1"/>
              <a:t>matching</a:t>
            </a:r>
            <a:endParaRPr lang="de-DE" dirty="0"/>
          </a:p>
        </p:txBody>
      </p:sp>
      <p:sp>
        <p:nvSpPr>
          <p:cNvPr id="15" name="Abgerundetes Rechteck 14">
            <a:extLst>
              <a:ext uri="{FF2B5EF4-FFF2-40B4-BE49-F238E27FC236}">
                <a16:creationId xmlns:a16="http://schemas.microsoft.com/office/drawing/2014/main" id="{99FD9516-29AC-4A28-AADC-BD1AB1581669}"/>
              </a:ext>
            </a:extLst>
          </p:cNvPr>
          <p:cNvSpPr/>
          <p:nvPr/>
        </p:nvSpPr>
        <p:spPr>
          <a:xfrm>
            <a:off x="6646678" y="4159406"/>
            <a:ext cx="2620603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/>
              <a:t>WGCNA – </a:t>
            </a:r>
            <a:r>
              <a:rPr lang="de-DE" dirty="0" err="1"/>
              <a:t>target</a:t>
            </a:r>
            <a:r>
              <a:rPr lang="de-DE" dirty="0"/>
              <a:t> </a:t>
            </a:r>
            <a:r>
              <a:rPr lang="de-DE" dirty="0" err="1"/>
              <a:t>gene</a:t>
            </a:r>
            <a:r>
              <a:rPr lang="de-DE" dirty="0"/>
              <a:t> </a:t>
            </a:r>
            <a:r>
              <a:rPr lang="de-DE" dirty="0" err="1"/>
              <a:t>identification</a:t>
            </a:r>
            <a:endParaRPr lang="de-DE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C70B499-F723-8F04-E286-255AD6BBEEBF}"/>
              </a:ext>
            </a:extLst>
          </p:cNvPr>
          <p:cNvCxnSpPr>
            <a:cxnSpLocks/>
          </p:cNvCxnSpPr>
          <p:nvPr/>
        </p:nvCxnSpPr>
        <p:spPr>
          <a:xfrm>
            <a:off x="2886635" y="4555274"/>
            <a:ext cx="7312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56C7E2A-24A8-F00B-0148-43796DFDB446}"/>
              </a:ext>
            </a:extLst>
          </p:cNvPr>
          <p:cNvCxnSpPr>
            <a:cxnSpLocks/>
          </p:cNvCxnSpPr>
          <p:nvPr/>
        </p:nvCxnSpPr>
        <p:spPr>
          <a:xfrm>
            <a:off x="5902928" y="4542573"/>
            <a:ext cx="731272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ECD6064F-B80D-5D62-EC7F-DB5C10D95AC1}"/>
              </a:ext>
            </a:extLst>
          </p:cNvPr>
          <p:cNvSpPr/>
          <p:nvPr/>
        </p:nvSpPr>
        <p:spPr>
          <a:xfrm>
            <a:off x="631668" y="5340662"/>
            <a:ext cx="2620603" cy="7917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dirty="0" err="1"/>
              <a:t>Functional</a:t>
            </a:r>
            <a:r>
              <a:rPr lang="de-DE" dirty="0"/>
              <a:t> </a:t>
            </a:r>
            <a:r>
              <a:rPr lang="de-DE" dirty="0" err="1"/>
              <a:t>enrichment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  <p:cxnSp>
        <p:nvCxnSpPr>
          <p:cNvPr id="22" name="Gewinkelte Verbindung 21">
            <a:extLst>
              <a:ext uri="{FF2B5EF4-FFF2-40B4-BE49-F238E27FC236}">
                <a16:creationId xmlns:a16="http://schemas.microsoft.com/office/drawing/2014/main" id="{107879B4-27E9-9797-AF36-3C9266D9AE9A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H="1">
            <a:off x="631668" y="4555275"/>
            <a:ext cx="8635613" cy="1181256"/>
          </a:xfrm>
          <a:prstGeom prst="bentConnector5">
            <a:avLst>
              <a:gd name="adj1" fmla="val -2647"/>
              <a:gd name="adj2" fmla="val 50000"/>
              <a:gd name="adj3" fmla="val 10264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302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2BD23D-89F3-BDE9-2AB5-CA05AEB7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919667-7CE4-E5F4-6D1E-7954313B9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1038" cy="4351338"/>
          </a:xfrm>
        </p:spPr>
        <p:txBody>
          <a:bodyPr/>
          <a:lstStyle/>
          <a:p>
            <a:pPr marL="0" indent="0">
              <a:buNone/>
            </a:pPr>
            <a:r>
              <a:rPr lang="de-DE" sz="1600" dirty="0" err="1"/>
              <a:t>Biotrophic</a:t>
            </a:r>
            <a:r>
              <a:rPr lang="de-DE" sz="1600" dirty="0"/>
              <a:t> </a:t>
            </a:r>
            <a:r>
              <a:rPr lang="de-DE" sz="1600" dirty="0" err="1"/>
              <a:t>pathogens</a:t>
            </a:r>
            <a:r>
              <a:rPr lang="de-DE" sz="1600" dirty="0"/>
              <a:t>:	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Golovinomyces</a:t>
            </a:r>
            <a:r>
              <a:rPr lang="de-DE" sz="1600" dirty="0"/>
              <a:t> </a:t>
            </a:r>
            <a:r>
              <a:rPr lang="de-DE" sz="1600" dirty="0" err="1"/>
              <a:t>orontii</a:t>
            </a:r>
            <a:endParaRPr lang="de-DE" sz="1600" dirty="0"/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Erysiphe</a:t>
            </a:r>
            <a:r>
              <a:rPr lang="de-DE" sz="1600" dirty="0"/>
              <a:t> </a:t>
            </a:r>
            <a:r>
              <a:rPr lang="de-DE" sz="1600" dirty="0" err="1"/>
              <a:t>cichoracearum</a:t>
            </a:r>
            <a:r>
              <a:rPr lang="de-DE" sz="1600" dirty="0"/>
              <a:t> 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Hyaloperonospora</a:t>
            </a:r>
            <a:r>
              <a:rPr lang="de-DE" sz="1600" dirty="0"/>
              <a:t> </a:t>
            </a:r>
            <a:r>
              <a:rPr lang="de-DE" sz="1600" dirty="0" err="1"/>
              <a:t>arabidopsidis</a:t>
            </a:r>
            <a:r>
              <a:rPr lang="de-DE" sz="1600" dirty="0"/>
              <a:t> (2 Datasets)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Plasmodiophora</a:t>
            </a:r>
            <a:r>
              <a:rPr lang="de-DE" sz="1600" dirty="0"/>
              <a:t> </a:t>
            </a:r>
            <a:r>
              <a:rPr lang="de-DE" sz="1600" dirty="0" err="1"/>
              <a:t>brassicae</a:t>
            </a:r>
            <a:r>
              <a:rPr lang="de-DE" sz="1600" dirty="0"/>
              <a:t> (2 </a:t>
            </a:r>
            <a:r>
              <a:rPr lang="de-DE" sz="1600" dirty="0" err="1"/>
              <a:t>Datasetes</a:t>
            </a:r>
            <a:r>
              <a:rPr lang="de-DE" sz="1600" dirty="0"/>
              <a:t>)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Turnip</a:t>
            </a:r>
            <a:r>
              <a:rPr lang="de-DE" sz="1600" dirty="0"/>
              <a:t> </a:t>
            </a:r>
            <a:r>
              <a:rPr lang="de-DE" sz="1600" dirty="0" err="1"/>
              <a:t>mosaic</a:t>
            </a:r>
            <a:r>
              <a:rPr lang="de-DE" sz="1600" dirty="0"/>
              <a:t> </a:t>
            </a:r>
            <a:r>
              <a:rPr lang="de-DE" sz="1600" dirty="0" err="1"/>
              <a:t>virus</a:t>
            </a:r>
            <a:r>
              <a:rPr lang="de-DE" sz="1600" dirty="0"/>
              <a:t> (</a:t>
            </a:r>
            <a:r>
              <a:rPr lang="de-DE" sz="1600" dirty="0" err="1"/>
              <a:t>TuMV</a:t>
            </a:r>
            <a:r>
              <a:rPr lang="de-DE" sz="1600" dirty="0"/>
              <a:t>) (2 </a:t>
            </a:r>
            <a:r>
              <a:rPr lang="de-DE" sz="1600" dirty="0" err="1"/>
              <a:t>Datasts</a:t>
            </a:r>
            <a:r>
              <a:rPr lang="de-DE" sz="1600" dirty="0"/>
              <a:t>)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Heterodera</a:t>
            </a:r>
            <a:r>
              <a:rPr lang="de-DE" sz="1600" dirty="0"/>
              <a:t> </a:t>
            </a:r>
            <a:r>
              <a:rPr lang="de-DE" sz="1600" dirty="0" err="1"/>
              <a:t>schachtii</a:t>
            </a:r>
            <a:endParaRPr lang="de-DE" sz="1600" dirty="0"/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Turnip</a:t>
            </a:r>
            <a:r>
              <a:rPr lang="de-DE" sz="1600" dirty="0"/>
              <a:t> </a:t>
            </a:r>
            <a:r>
              <a:rPr lang="de-DE" sz="1600" dirty="0" err="1"/>
              <a:t>yellows</a:t>
            </a:r>
            <a:r>
              <a:rPr lang="de-DE" sz="1600" dirty="0"/>
              <a:t> </a:t>
            </a:r>
            <a:r>
              <a:rPr lang="de-DE" sz="1600" dirty="0" err="1"/>
              <a:t>virus</a:t>
            </a:r>
            <a:r>
              <a:rPr lang="de-DE" sz="1600" dirty="0"/>
              <a:t> (</a:t>
            </a:r>
            <a:r>
              <a:rPr lang="de-DE" sz="1600" dirty="0" err="1"/>
              <a:t>TuYV</a:t>
            </a:r>
            <a:r>
              <a:rPr lang="de-DE" sz="1600" dirty="0"/>
              <a:t>) 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Cauliflower</a:t>
            </a:r>
            <a:r>
              <a:rPr lang="de-DE" sz="1600" dirty="0"/>
              <a:t> </a:t>
            </a:r>
            <a:r>
              <a:rPr lang="de-DE" sz="1600" dirty="0" err="1"/>
              <a:t>mosaic</a:t>
            </a:r>
            <a:r>
              <a:rPr lang="de-DE" sz="1600" dirty="0"/>
              <a:t> </a:t>
            </a:r>
            <a:r>
              <a:rPr lang="de-DE" sz="1600" dirty="0" err="1"/>
              <a:t>virus</a:t>
            </a:r>
            <a:r>
              <a:rPr lang="de-DE" sz="1600" dirty="0"/>
              <a:t> (</a:t>
            </a:r>
            <a:r>
              <a:rPr lang="de-DE" sz="1600" dirty="0" err="1"/>
              <a:t>CaMV</a:t>
            </a:r>
            <a:r>
              <a:rPr lang="de-DE" sz="1600" dirty="0"/>
              <a:t>)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Meloidogyne</a:t>
            </a:r>
            <a:r>
              <a:rPr lang="de-DE" sz="1600" dirty="0"/>
              <a:t> </a:t>
            </a:r>
            <a:r>
              <a:rPr lang="de-DE" sz="1600" dirty="0" err="1"/>
              <a:t>javanica</a:t>
            </a:r>
            <a:endParaRPr lang="de-DE" sz="1600" dirty="0"/>
          </a:p>
          <a:p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F1A31B45-2AC3-12DC-650A-B8C1F5AE7571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8110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600" dirty="0"/>
              <a:t>Control:	</a:t>
            </a:r>
          </a:p>
          <a:p>
            <a:pPr>
              <a:buFont typeface="Symbol" pitchFamily="2" charset="2"/>
              <a:buChar char="-"/>
            </a:pPr>
            <a:r>
              <a:rPr lang="de-DE" sz="1600" dirty="0" err="1"/>
              <a:t>Drought</a:t>
            </a:r>
            <a:endParaRPr lang="de-DE" sz="1600" dirty="0"/>
          </a:p>
          <a:p>
            <a:pPr>
              <a:buFont typeface="Symbol" pitchFamily="2" charset="2"/>
              <a:buChar char="-"/>
            </a:pPr>
            <a:r>
              <a:rPr lang="de-DE" sz="1600" dirty="0"/>
              <a:t>Botrytis cinerea (</a:t>
            </a:r>
            <a:r>
              <a:rPr lang="de-DE" sz="1600" dirty="0" err="1"/>
              <a:t>necrotrophic</a:t>
            </a:r>
            <a:r>
              <a:rPr lang="de-DE" sz="1600" dirty="0"/>
              <a:t>)</a:t>
            </a:r>
          </a:p>
          <a:p>
            <a:pPr>
              <a:buFont typeface="Symbol" pitchFamily="2" charset="2"/>
              <a:buChar char="-"/>
            </a:pPr>
            <a:r>
              <a:rPr lang="de-DE" sz="1600" dirty="0"/>
              <a:t>Alternaria </a:t>
            </a:r>
            <a:r>
              <a:rPr lang="de-DE" sz="1600" dirty="0" err="1"/>
              <a:t>brassicae</a:t>
            </a:r>
            <a:r>
              <a:rPr lang="de-DE" sz="1600" dirty="0"/>
              <a:t> (</a:t>
            </a:r>
            <a:r>
              <a:rPr lang="de-DE" sz="1600" dirty="0" err="1"/>
              <a:t>necrotrophic</a:t>
            </a:r>
            <a:r>
              <a:rPr lang="de-DE" sz="1600" dirty="0"/>
              <a:t>)</a:t>
            </a:r>
          </a:p>
          <a:p>
            <a:pPr>
              <a:buFont typeface="Symbol" pitchFamily="2" charset="2"/>
              <a:buChar char="-"/>
            </a:pPr>
            <a:endParaRPr lang="de-DE" sz="1600" dirty="0"/>
          </a:p>
          <a:p>
            <a:pPr>
              <a:buFont typeface="Symbol" pitchFamily="2" charset="2"/>
              <a:buChar char="-"/>
            </a:pPr>
            <a:endParaRPr lang="de-DE" sz="1600" dirty="0"/>
          </a:p>
          <a:p>
            <a:pPr marL="0" indent="0">
              <a:buNone/>
            </a:pPr>
            <a:r>
              <a:rPr lang="de-DE" sz="1600" dirty="0" err="1"/>
              <a:t>Altogether</a:t>
            </a:r>
            <a:r>
              <a:rPr lang="de-DE" sz="1600" dirty="0"/>
              <a:t>:</a:t>
            </a:r>
          </a:p>
          <a:p>
            <a:pPr marL="0" indent="0">
              <a:buNone/>
            </a:pPr>
            <a:r>
              <a:rPr lang="de-DE" sz="1600" dirty="0"/>
              <a:t>283 </a:t>
            </a:r>
            <a:r>
              <a:rPr lang="de-DE" sz="1600" dirty="0" err="1"/>
              <a:t>samples</a:t>
            </a:r>
            <a:endParaRPr lang="de-DE" sz="1600" dirty="0"/>
          </a:p>
          <a:p>
            <a:pPr marL="0" indent="0">
              <a:buNone/>
            </a:pPr>
            <a:r>
              <a:rPr lang="de-DE" sz="1600" dirty="0"/>
              <a:t>141 single-end, 142 </a:t>
            </a:r>
            <a:r>
              <a:rPr lang="de-DE" sz="1600" dirty="0" err="1"/>
              <a:t>paired</a:t>
            </a:r>
            <a:r>
              <a:rPr lang="de-DE" sz="1600" dirty="0"/>
              <a:t>-end</a:t>
            </a:r>
          </a:p>
          <a:p>
            <a:pPr marL="0" indent="0">
              <a:buNone/>
            </a:pPr>
            <a:endParaRPr lang="de-DE" sz="1600" dirty="0"/>
          </a:p>
          <a:p>
            <a:pPr>
              <a:buFont typeface="Symbol" pitchFamily="2" charset="2"/>
              <a:buChar char="-"/>
            </a:pPr>
            <a:endParaRPr lang="de-DE" sz="1600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4890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9ED03F5-809D-5FAC-6E7D-8C8913683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769172"/>
            <a:ext cx="11672620" cy="544294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BD7C152-02C3-EE73-5600-0D25C46E40A1}"/>
              </a:ext>
            </a:extLst>
          </p:cNvPr>
          <p:cNvSpPr txBox="1"/>
          <p:nvPr/>
        </p:nvSpPr>
        <p:spPr>
          <a:xfrm>
            <a:off x="391886" y="276555"/>
            <a:ext cx="10305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Harder </a:t>
            </a:r>
            <a:r>
              <a:rPr lang="de-DE" dirty="0" err="1"/>
              <a:t>trimming</a:t>
            </a:r>
            <a:r>
              <a:rPr lang="de-DE" dirty="0"/>
              <a:t> on </a:t>
            </a:r>
            <a:r>
              <a:rPr lang="de-DE" dirty="0" err="1"/>
              <a:t>P.brassicae</a:t>
            </a:r>
            <a:r>
              <a:rPr lang="de-DE" dirty="0"/>
              <a:t> </a:t>
            </a:r>
            <a:r>
              <a:rPr lang="de-DE" dirty="0" err="1"/>
              <a:t>samples</a:t>
            </a:r>
            <a:r>
              <a:rPr lang="de-DE" dirty="0"/>
              <a:t> -&gt; </a:t>
            </a:r>
            <a:r>
              <a:rPr lang="de-DE" dirty="0" err="1"/>
              <a:t>change</a:t>
            </a:r>
            <a:r>
              <a:rPr lang="de-DE" dirty="0"/>
              <a:t> </a:t>
            </a:r>
            <a:r>
              <a:rPr lang="de-DE" dirty="0" err="1"/>
              <a:t>quality</a:t>
            </a:r>
            <a:r>
              <a:rPr lang="de-DE" dirty="0"/>
              <a:t> </a:t>
            </a:r>
            <a:r>
              <a:rPr lang="de-DE" dirty="0" err="1"/>
              <a:t>threshold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quality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A7E771D-5ED0-9B16-DFB3-8A83181C5BBD}"/>
              </a:ext>
            </a:extLst>
          </p:cNvPr>
          <p:cNvSpPr txBox="1"/>
          <p:nvPr/>
        </p:nvSpPr>
        <p:spPr>
          <a:xfrm>
            <a:off x="9083842" y="3198167"/>
            <a:ext cx="1700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Failed</a:t>
            </a:r>
            <a:r>
              <a:rPr lang="de-DE" sz="1200" dirty="0"/>
              <a:t> </a:t>
            </a:r>
            <a:r>
              <a:rPr lang="de-DE" sz="1200" dirty="0" err="1"/>
              <a:t>adapter</a:t>
            </a:r>
            <a:r>
              <a:rPr lang="de-DE" sz="1200" dirty="0"/>
              <a:t> </a:t>
            </a:r>
            <a:r>
              <a:rPr lang="de-DE" sz="1200" dirty="0" err="1"/>
              <a:t>content</a:t>
            </a:r>
            <a:r>
              <a:rPr lang="de-DE" sz="1200" dirty="0"/>
              <a:t> in Hpa2 Experiment</a:t>
            </a:r>
          </a:p>
        </p:txBody>
      </p:sp>
      <p:cxnSp>
        <p:nvCxnSpPr>
          <p:cNvPr id="6" name="Gewinkelte Verbindung 5">
            <a:extLst>
              <a:ext uri="{FF2B5EF4-FFF2-40B4-BE49-F238E27FC236}">
                <a16:creationId xmlns:a16="http://schemas.microsoft.com/office/drawing/2014/main" id="{68F50DBE-DF1B-9188-BAD2-FA6A37B5E5A9}"/>
              </a:ext>
            </a:extLst>
          </p:cNvPr>
          <p:cNvCxnSpPr/>
          <p:nvPr/>
        </p:nvCxnSpPr>
        <p:spPr>
          <a:xfrm rot="16200000" flipV="1">
            <a:off x="10355180" y="2999874"/>
            <a:ext cx="673767" cy="1844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41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0A723A1-22AC-EAB3-8C5F-92818D4D2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59" y="200905"/>
            <a:ext cx="10614990" cy="665709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A2CC39E-79D0-E804-56EB-928F58D6AA8B}"/>
              </a:ext>
            </a:extLst>
          </p:cNvPr>
          <p:cNvSpPr txBox="1"/>
          <p:nvPr/>
        </p:nvSpPr>
        <p:spPr>
          <a:xfrm>
            <a:off x="4494218" y="463639"/>
            <a:ext cx="1803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A.Brassicae</a:t>
            </a:r>
            <a:r>
              <a:rPr lang="de-DE" sz="1200" dirty="0"/>
              <a:t> (</a:t>
            </a:r>
            <a:r>
              <a:rPr lang="de-DE" sz="1200" dirty="0" err="1"/>
              <a:t>necrotroph</a:t>
            </a:r>
            <a:r>
              <a:rPr lang="de-DE" sz="1200" dirty="0"/>
              <a:t>) - </a:t>
            </a:r>
            <a:r>
              <a:rPr lang="de-DE" sz="1200" dirty="0" err="1"/>
              <a:t>infected</a:t>
            </a:r>
            <a:endParaRPr lang="de-DE" sz="1200" dirty="0"/>
          </a:p>
        </p:txBody>
      </p: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A951E18F-9FC2-A25E-9397-CA0A5CAB12E6}"/>
              </a:ext>
            </a:extLst>
          </p:cNvPr>
          <p:cNvCxnSpPr/>
          <p:nvPr/>
        </p:nvCxnSpPr>
        <p:spPr>
          <a:xfrm>
            <a:off x="4494218" y="925304"/>
            <a:ext cx="669702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8E89C41-325B-D79B-A242-D92222218F3B}"/>
              </a:ext>
            </a:extLst>
          </p:cNvPr>
          <p:cNvSpPr txBox="1"/>
          <p:nvPr/>
        </p:nvSpPr>
        <p:spPr>
          <a:xfrm>
            <a:off x="8852005" y="4136313"/>
            <a:ext cx="1216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/>
              <a:t>G.orontii</a:t>
            </a:r>
            <a:endParaRPr lang="de-DE" sz="1200" dirty="0"/>
          </a:p>
        </p:txBody>
      </p: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D15EEB13-2723-3A16-00DC-30EC1695786A}"/>
              </a:ext>
            </a:extLst>
          </p:cNvPr>
          <p:cNvCxnSpPr>
            <a:cxnSpLocks/>
          </p:cNvCxnSpPr>
          <p:nvPr/>
        </p:nvCxnSpPr>
        <p:spPr>
          <a:xfrm>
            <a:off x="9291786" y="4413312"/>
            <a:ext cx="0" cy="5649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8B974317-D563-5B67-0C46-F3DBA0455C6F}"/>
              </a:ext>
            </a:extLst>
          </p:cNvPr>
          <p:cNvSpPr txBox="1"/>
          <p:nvPr/>
        </p:nvSpPr>
        <p:spPr>
          <a:xfrm>
            <a:off x="2111794" y="5301895"/>
            <a:ext cx="18030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Hpa3 - </a:t>
            </a:r>
            <a:r>
              <a:rPr lang="de-DE" sz="1200" dirty="0" err="1"/>
              <a:t>very</a:t>
            </a:r>
            <a:r>
              <a:rPr lang="de-DE" sz="1200" dirty="0"/>
              <a:t> </a:t>
            </a:r>
            <a:r>
              <a:rPr lang="de-DE" sz="1200" dirty="0" err="1"/>
              <a:t>few</a:t>
            </a:r>
            <a:r>
              <a:rPr lang="de-DE" sz="1200" dirty="0"/>
              <a:t> </a:t>
            </a:r>
            <a:r>
              <a:rPr lang="de-DE" sz="1200" dirty="0" err="1"/>
              <a:t>reads</a:t>
            </a:r>
            <a:endParaRPr lang="de-DE" sz="12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BDC97E1-D013-569E-9912-D0C5DC40B8E4}"/>
              </a:ext>
            </a:extLst>
          </p:cNvPr>
          <p:cNvSpPr txBox="1"/>
          <p:nvPr/>
        </p:nvSpPr>
        <p:spPr>
          <a:xfrm>
            <a:off x="4584698" y="3767659"/>
            <a:ext cx="669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Hpa2</a:t>
            </a:r>
          </a:p>
        </p:txBody>
      </p:sp>
      <p:cxnSp>
        <p:nvCxnSpPr>
          <p:cNvPr id="19" name="Gerade Verbindung 18">
            <a:extLst>
              <a:ext uri="{FF2B5EF4-FFF2-40B4-BE49-F238E27FC236}">
                <a16:creationId xmlns:a16="http://schemas.microsoft.com/office/drawing/2014/main" id="{DAFCDD8D-F314-712B-8D58-2686406C66C9}"/>
              </a:ext>
            </a:extLst>
          </p:cNvPr>
          <p:cNvCxnSpPr>
            <a:cxnSpLocks/>
          </p:cNvCxnSpPr>
          <p:nvPr/>
        </p:nvCxnSpPr>
        <p:spPr>
          <a:xfrm>
            <a:off x="4753535" y="4136313"/>
            <a:ext cx="0" cy="94101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42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F85A0C58-7156-A820-9AA0-491831E82699}"/>
              </a:ext>
            </a:extLst>
          </p:cNvPr>
          <p:cNvSpPr txBox="1"/>
          <p:nvPr/>
        </p:nvSpPr>
        <p:spPr>
          <a:xfrm>
            <a:off x="10003962" y="209919"/>
            <a:ext cx="20800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filtering</a:t>
            </a:r>
            <a:r>
              <a:rPr lang="de-DE" sz="1400" dirty="0"/>
              <a:t> </a:t>
            </a:r>
            <a:r>
              <a:rPr lang="de-DE" sz="1400" dirty="0" err="1"/>
              <a:t>low</a:t>
            </a:r>
            <a:r>
              <a:rPr lang="de-DE" sz="1400" dirty="0"/>
              <a:t> </a:t>
            </a:r>
            <a:r>
              <a:rPr lang="de-DE" sz="1400" dirty="0" err="1"/>
              <a:t>expressed</a:t>
            </a:r>
            <a:r>
              <a:rPr lang="de-DE" sz="1400" dirty="0"/>
              <a:t> genes:</a:t>
            </a:r>
          </a:p>
          <a:p>
            <a:r>
              <a:rPr lang="de-DE" sz="1400" dirty="0" err="1"/>
              <a:t>Result</a:t>
            </a:r>
            <a:r>
              <a:rPr lang="de-DE" sz="1400" dirty="0"/>
              <a:t>: </a:t>
            </a:r>
          </a:p>
          <a:p>
            <a:r>
              <a:rPr lang="de-DE" sz="1400" dirty="0"/>
              <a:t>- </a:t>
            </a:r>
            <a:r>
              <a:rPr lang="de-DE" sz="1400" dirty="0" err="1"/>
              <a:t>before</a:t>
            </a:r>
            <a:r>
              <a:rPr lang="de-DE" sz="1400" dirty="0"/>
              <a:t> </a:t>
            </a:r>
            <a:r>
              <a:rPr lang="de-DE" sz="1400" dirty="0" err="1"/>
              <a:t>filtering</a:t>
            </a:r>
            <a:r>
              <a:rPr lang="de-DE" sz="1400" dirty="0"/>
              <a:t>: 27321 genes</a:t>
            </a:r>
          </a:p>
          <a:p>
            <a:r>
              <a:rPr lang="de-DE" sz="1400" dirty="0"/>
              <a:t>- after </a:t>
            </a:r>
            <a:r>
              <a:rPr lang="de-DE" sz="1400" dirty="0" err="1"/>
              <a:t>filtering</a:t>
            </a:r>
            <a:r>
              <a:rPr lang="de-DE" sz="1400" dirty="0"/>
              <a:t>: 24991 genes</a:t>
            </a:r>
          </a:p>
          <a:p>
            <a:endParaRPr lang="de-DE" sz="1400" dirty="0"/>
          </a:p>
          <a:p>
            <a:r>
              <a:rPr lang="de-DE" sz="1400" dirty="0"/>
              <a:t>--&gt; </a:t>
            </a:r>
            <a:r>
              <a:rPr lang="de-DE" sz="1400" dirty="0" err="1"/>
              <a:t>keep</a:t>
            </a:r>
            <a:r>
              <a:rPr lang="de-DE" sz="1400" dirty="0"/>
              <a:t> genes </a:t>
            </a:r>
            <a:r>
              <a:rPr lang="de-DE" sz="1400" dirty="0" err="1"/>
              <a:t>that</a:t>
            </a:r>
            <a:r>
              <a:rPr lang="de-DE" sz="1400" dirty="0"/>
              <a:t> </a:t>
            </a:r>
            <a:r>
              <a:rPr lang="de-DE" sz="1400" dirty="0" err="1"/>
              <a:t>have</a:t>
            </a:r>
            <a:r>
              <a:rPr lang="de-DE" sz="1400" dirty="0"/>
              <a:t> at least a </a:t>
            </a:r>
            <a:r>
              <a:rPr lang="de-DE" sz="1400" dirty="0" err="1"/>
              <a:t>tpm</a:t>
            </a:r>
            <a:r>
              <a:rPr lang="de-DE" sz="1400" dirty="0"/>
              <a:t> </a:t>
            </a:r>
            <a:r>
              <a:rPr lang="de-DE" sz="1400" dirty="0" err="1"/>
              <a:t>value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0.5 per sample in at least 3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samples</a:t>
            </a:r>
            <a:endParaRPr lang="de-DE" sz="1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5E4831F-B61E-07A5-1B66-534D1EF6F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07" y="352071"/>
            <a:ext cx="8842938" cy="615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9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CBF5B1E1-ADE3-06F1-E023-D625B80DBFDD}"/>
              </a:ext>
            </a:extLst>
          </p:cNvPr>
          <p:cNvSpPr txBox="1"/>
          <p:nvPr/>
        </p:nvSpPr>
        <p:spPr>
          <a:xfrm>
            <a:off x="371475" y="142875"/>
            <a:ext cx="1843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PC 3 and PC 4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F68AC43-9921-C060-5421-EF8A24DC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99" y="512207"/>
            <a:ext cx="8443823" cy="587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071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54366AFF-0868-A621-9ACE-BABA82BFA380}"/>
              </a:ext>
            </a:extLst>
          </p:cNvPr>
          <p:cNvSpPr txBox="1"/>
          <p:nvPr/>
        </p:nvSpPr>
        <p:spPr>
          <a:xfrm>
            <a:off x="371474" y="142875"/>
            <a:ext cx="4029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PCA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aligned</a:t>
            </a:r>
            <a:r>
              <a:rPr lang="de-DE" dirty="0"/>
              <a:t> </a:t>
            </a:r>
            <a:r>
              <a:rPr lang="de-DE" dirty="0" err="1"/>
              <a:t>reads</a:t>
            </a:r>
            <a:r>
              <a:rPr lang="de-DE" dirty="0"/>
              <a:t> per sample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619F72C-09A9-FC38-FCB3-72F4E54F1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53" y="724568"/>
            <a:ext cx="7772400" cy="540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3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C234BC9-DF64-2527-822F-1B14D63DA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06400"/>
            <a:ext cx="7772400" cy="540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6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C9455300-0D32-47BE-EA2C-BAABBE75D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4056"/>
            <a:ext cx="6308157" cy="438988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A78343-1CA1-F8E2-6F76-1717B1DE3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442" y="1397454"/>
            <a:ext cx="5838558" cy="40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487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7D3E4D8-D516-59A2-7C9C-1599E063EB6F}"/>
              </a:ext>
            </a:extLst>
          </p:cNvPr>
          <p:cNvSpPr txBox="1"/>
          <p:nvPr/>
        </p:nvSpPr>
        <p:spPr>
          <a:xfrm>
            <a:off x="0" y="120770"/>
            <a:ext cx="538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Starting</a:t>
            </a:r>
            <a:r>
              <a:rPr lang="de-DE" dirty="0"/>
              <a:t> WGCNA: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22CD34-B8CC-8602-BEAB-1C4F1C86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7" y="773778"/>
            <a:ext cx="10895169" cy="57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39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3431059-721A-4BCA-29B7-A0E4C7EB2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541" y="161413"/>
            <a:ext cx="8730195" cy="65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A719E4A-D938-C0E7-42EA-205042C79906}"/>
              </a:ext>
            </a:extLst>
          </p:cNvPr>
          <p:cNvSpPr txBox="1"/>
          <p:nvPr/>
        </p:nvSpPr>
        <p:spPr>
          <a:xfrm>
            <a:off x="0" y="120770"/>
            <a:ext cx="5382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Network </a:t>
            </a:r>
            <a:r>
              <a:rPr lang="de-DE" dirty="0" err="1"/>
              <a:t>construction</a:t>
            </a:r>
            <a:r>
              <a:rPr lang="de-DE" dirty="0"/>
              <a:t>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2F77D2-040A-8F1F-7B7B-6A977C64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18" y="490102"/>
            <a:ext cx="9857117" cy="610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99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3C42725-E3D8-DC76-BE8F-05E9A9BF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7" y="23004"/>
            <a:ext cx="6834996" cy="683499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596A240-B40B-F9E6-B18B-ED741751578D}"/>
              </a:ext>
            </a:extLst>
          </p:cNvPr>
          <p:cNvSpPr txBox="1"/>
          <p:nvPr/>
        </p:nvSpPr>
        <p:spPr>
          <a:xfrm>
            <a:off x="7919883" y="412955"/>
            <a:ext cx="33331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power: 6</a:t>
            </a:r>
          </a:p>
          <a:p>
            <a:endParaRPr lang="de-DE" dirty="0"/>
          </a:p>
          <a:p>
            <a:r>
              <a:rPr lang="de-DE" dirty="0"/>
              <a:t># Modules after </a:t>
            </a:r>
            <a:r>
              <a:rPr lang="de-DE" dirty="0" err="1"/>
              <a:t>merging</a:t>
            </a:r>
            <a:r>
              <a:rPr lang="de-DE" dirty="0"/>
              <a:t>: 19</a:t>
            </a:r>
          </a:p>
          <a:p>
            <a:r>
              <a:rPr lang="de-DE" dirty="0"/>
              <a:t># Genes in </a:t>
            </a:r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: 131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1C3C471-8A11-DE0E-97DA-AB250AC14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18" y="3429000"/>
            <a:ext cx="7772400" cy="112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129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2971CAA4-6CC5-AABF-4A83-C26C4D140E9C}"/>
              </a:ext>
            </a:extLst>
          </p:cNvPr>
          <p:cNvSpPr txBox="1"/>
          <p:nvPr/>
        </p:nvSpPr>
        <p:spPr>
          <a:xfrm>
            <a:off x="220717" y="315310"/>
            <a:ext cx="1970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power: 6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54FB72B-3E99-EC3F-36EE-6A365E398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89" y="821996"/>
            <a:ext cx="9721606" cy="585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1DE13C2-8B46-FFDD-92B7-1BABC00C8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24" y="665874"/>
            <a:ext cx="9180346" cy="552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42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7E8D84B-4AE0-B4CB-B0E4-CC0DE3941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01" y="799696"/>
            <a:ext cx="8735728" cy="525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39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568F259-F4EF-7259-89E7-D956F8CA7DFA}"/>
              </a:ext>
            </a:extLst>
          </p:cNvPr>
          <p:cNvSpPr txBox="1"/>
          <p:nvPr/>
        </p:nvSpPr>
        <p:spPr>
          <a:xfrm>
            <a:off x="8654602" y="1029587"/>
            <a:ext cx="33227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Hierarchical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clustering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dendrogram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module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eigengenes (and all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pathogens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)</a:t>
            </a:r>
          </a:p>
          <a:p>
            <a:r>
              <a:rPr lang="de-DE" dirty="0">
                <a:solidFill>
                  <a:srgbClr val="333333"/>
                </a:solidFill>
                <a:sym typeface="Wingdings" pitchFamily="2" charset="2"/>
              </a:rPr>
              <a:t> Group </a:t>
            </a:r>
            <a:r>
              <a:rPr lang="de-DE" dirty="0" err="1">
                <a:solidFill>
                  <a:srgbClr val="333333"/>
                </a:solidFill>
                <a:sym typeface="Wingdings" pitchFamily="2" charset="2"/>
              </a:rPr>
              <a:t>together</a:t>
            </a:r>
            <a:r>
              <a:rPr lang="de-DE" dirty="0">
                <a:solidFill>
                  <a:srgbClr val="333333"/>
                </a:solidFill>
                <a:sym typeface="Wingdings" pitchFamily="2" charset="2"/>
              </a:rPr>
              <a:t> eigengenes </a:t>
            </a:r>
            <a:r>
              <a:rPr lang="de-DE" dirty="0" err="1">
                <a:solidFill>
                  <a:srgbClr val="333333"/>
                </a:solidFill>
                <a:sym typeface="Wingdings" pitchFamily="2" charset="2"/>
              </a:rPr>
              <a:t>that</a:t>
            </a:r>
            <a:r>
              <a:rPr lang="de-DE" dirty="0">
                <a:solidFill>
                  <a:srgbClr val="333333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333333"/>
                </a:solidFill>
                <a:sym typeface="Wingdings" pitchFamily="2" charset="2"/>
              </a:rPr>
              <a:t>are</a:t>
            </a:r>
            <a:r>
              <a:rPr lang="de-DE" dirty="0">
                <a:solidFill>
                  <a:srgbClr val="333333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333333"/>
                </a:solidFill>
                <a:sym typeface="Wingdings" pitchFamily="2" charset="2"/>
              </a:rPr>
              <a:t>positively</a:t>
            </a:r>
            <a:r>
              <a:rPr lang="de-DE" dirty="0">
                <a:solidFill>
                  <a:srgbClr val="333333"/>
                </a:solidFill>
                <a:sym typeface="Wingdings" pitchFamily="2" charset="2"/>
              </a:rPr>
              <a:t> </a:t>
            </a:r>
            <a:r>
              <a:rPr lang="de-DE" dirty="0" err="1">
                <a:solidFill>
                  <a:srgbClr val="333333"/>
                </a:solidFill>
                <a:sym typeface="Wingdings" pitchFamily="2" charset="2"/>
              </a:rPr>
              <a:t>correlated</a:t>
            </a:r>
            <a:endParaRPr lang="de-DE" b="0" i="0" u="none" strike="noStrike" dirty="0">
              <a:solidFill>
                <a:srgbClr val="333333"/>
              </a:solidFill>
              <a:effectLst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007F23-7D8C-A6C6-7FC5-0795EA852161}"/>
              </a:ext>
            </a:extLst>
          </p:cNvPr>
          <p:cNvSpPr txBox="1"/>
          <p:nvPr/>
        </p:nvSpPr>
        <p:spPr>
          <a:xfrm>
            <a:off x="9144001" y="3889420"/>
            <a:ext cx="26916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Heatmap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of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adjacencies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in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the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eigengene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network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including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 all </a:t>
            </a:r>
            <a:r>
              <a:rPr lang="de-DE" b="0" i="0" u="none" strike="noStrike" dirty="0" err="1">
                <a:solidFill>
                  <a:srgbClr val="333333"/>
                </a:solidFill>
                <a:effectLst/>
              </a:rPr>
              <a:t>pathognes</a:t>
            </a:r>
            <a:r>
              <a:rPr lang="de-DE" b="0" i="0" u="none" strike="noStrike" dirty="0">
                <a:solidFill>
                  <a:srgbClr val="333333"/>
                </a:solidFill>
                <a:effectLst/>
              </a:rPr>
              <a:t>. 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FCC00C5-EE2B-0D94-5588-B8A98CDDA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15" y="268479"/>
            <a:ext cx="7772400" cy="63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50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E73654D-E7F9-5851-3F79-3FD579713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858"/>
            <a:ext cx="5846463" cy="45320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AF7CF7F-2811-FEC2-9522-6A2530A3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0" y="933802"/>
            <a:ext cx="6197600" cy="480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24E59A3-5514-5DFF-C067-8D8F314C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425"/>
            <a:ext cx="6776357" cy="426434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4A8E073-56AA-A9E6-46F7-AF0FD5F6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64" y="1295825"/>
            <a:ext cx="5142216" cy="345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664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F278B40-0863-139B-7797-39C6F90E0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5400"/>
            <a:ext cx="6751805" cy="41247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D4B1767-E9B2-C2AE-5EEA-1BDA283D2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804" y="1706217"/>
            <a:ext cx="5406866" cy="330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0559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802A1EC-C417-8DEE-B797-A48AD96B9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145" y="728871"/>
            <a:ext cx="8740063" cy="533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86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8C7ADA1-B585-BB8A-BEC3-6502D092659B}"/>
              </a:ext>
            </a:extLst>
          </p:cNvPr>
          <p:cNvSpPr txBox="1"/>
          <p:nvPr/>
        </p:nvSpPr>
        <p:spPr>
          <a:xfrm>
            <a:off x="3470189" y="2236572"/>
            <a:ext cx="525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 err="1"/>
              <a:t>Signed</a:t>
            </a:r>
            <a:r>
              <a:rPr lang="de-DE" sz="3600" dirty="0"/>
              <a:t> hybrid </a:t>
            </a:r>
            <a:r>
              <a:rPr lang="de-DE" sz="3600" dirty="0" err="1"/>
              <a:t>networks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3173003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DC20A64-27A2-B0F7-7BBF-410E8187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32" y="847881"/>
            <a:ext cx="7497536" cy="516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01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FCB0D30-C808-7F78-7B1D-D238A46F0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" y="579397"/>
            <a:ext cx="6400800" cy="64008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BE539EA-69E3-CB86-DA65-25C35463D2CC}"/>
              </a:ext>
            </a:extLst>
          </p:cNvPr>
          <p:cNvSpPr txBox="1"/>
          <p:nvPr/>
        </p:nvSpPr>
        <p:spPr>
          <a:xfrm>
            <a:off x="185351" y="210065"/>
            <a:ext cx="218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 6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6530403-4520-9A77-F3A3-C5FD3DCDD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650" y="3429000"/>
            <a:ext cx="6837782" cy="140125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EBD1C01-9F51-F048-F7EF-9B87E4AE8A9B}"/>
              </a:ext>
            </a:extLst>
          </p:cNvPr>
          <p:cNvSpPr txBox="1"/>
          <p:nvPr/>
        </p:nvSpPr>
        <p:spPr>
          <a:xfrm>
            <a:off x="7981667" y="870155"/>
            <a:ext cx="3333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# Modules after </a:t>
            </a:r>
            <a:r>
              <a:rPr lang="de-DE" dirty="0" err="1"/>
              <a:t>merging</a:t>
            </a:r>
            <a:r>
              <a:rPr lang="de-DE" dirty="0"/>
              <a:t>: 25</a:t>
            </a:r>
          </a:p>
          <a:p>
            <a:r>
              <a:rPr lang="de-DE" dirty="0"/>
              <a:t># Genes in </a:t>
            </a:r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: 187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5087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983933A-8761-123D-18E9-87765811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024" y="382374"/>
            <a:ext cx="6400800" cy="64008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328BD1CA-9E47-860E-5899-B819C3CAD5A6}"/>
              </a:ext>
            </a:extLst>
          </p:cNvPr>
          <p:cNvSpPr txBox="1"/>
          <p:nvPr/>
        </p:nvSpPr>
        <p:spPr>
          <a:xfrm>
            <a:off x="185351" y="197708"/>
            <a:ext cx="164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 5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57F696-3BAA-0844-C86B-BA7CAE26BEF6}"/>
              </a:ext>
            </a:extLst>
          </p:cNvPr>
          <p:cNvSpPr txBox="1"/>
          <p:nvPr/>
        </p:nvSpPr>
        <p:spPr>
          <a:xfrm>
            <a:off x="7981667" y="870155"/>
            <a:ext cx="3333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# Modules after </a:t>
            </a:r>
            <a:r>
              <a:rPr lang="de-DE" dirty="0" err="1"/>
              <a:t>merging</a:t>
            </a:r>
            <a:r>
              <a:rPr lang="de-DE" dirty="0"/>
              <a:t>: 27</a:t>
            </a:r>
          </a:p>
          <a:p>
            <a:r>
              <a:rPr lang="de-DE" dirty="0"/>
              <a:t># Genes in </a:t>
            </a:r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: 40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6F64D2B-58B7-F87A-D875-10F0D3591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246" y="3190184"/>
            <a:ext cx="6013489" cy="159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47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722E23D-9C90-8826-B4E5-7D05BE266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569" y="3429000"/>
            <a:ext cx="5737495" cy="168392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B0C6B83-3557-A047-0BE8-616D6B744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6" y="228600"/>
            <a:ext cx="6400800" cy="64008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A875687-D1BC-536B-85B0-DF268B599C28}"/>
              </a:ext>
            </a:extLst>
          </p:cNvPr>
          <p:cNvSpPr txBox="1"/>
          <p:nvPr/>
        </p:nvSpPr>
        <p:spPr>
          <a:xfrm>
            <a:off x="7137606" y="1228636"/>
            <a:ext cx="33331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r>
              <a:rPr lang="de-DE" dirty="0"/>
              <a:t># Modules after </a:t>
            </a:r>
            <a:r>
              <a:rPr lang="de-DE" dirty="0" err="1"/>
              <a:t>merging</a:t>
            </a:r>
            <a:r>
              <a:rPr lang="de-DE" dirty="0"/>
              <a:t>: 26</a:t>
            </a:r>
          </a:p>
          <a:p>
            <a:r>
              <a:rPr lang="de-DE" dirty="0"/>
              <a:t># Genes in </a:t>
            </a:r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module</a:t>
            </a:r>
            <a:r>
              <a:rPr lang="de-DE" dirty="0"/>
              <a:t>: 1</a:t>
            </a:r>
          </a:p>
          <a:p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6B39F67-36B2-359A-699D-2373052A8AB8}"/>
              </a:ext>
            </a:extLst>
          </p:cNvPr>
          <p:cNvSpPr txBox="1"/>
          <p:nvPr/>
        </p:nvSpPr>
        <p:spPr>
          <a:xfrm>
            <a:off x="7375045" y="174621"/>
            <a:ext cx="164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 4</a:t>
            </a:r>
          </a:p>
        </p:txBody>
      </p:sp>
    </p:spTree>
    <p:extLst>
      <p:ext uri="{BB962C8B-B14F-4D97-AF65-F5344CB8AC3E}">
        <p14:creationId xmlns:p14="http://schemas.microsoft.com/office/powerpoint/2010/main" val="19181287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20D5AD3-A619-C745-F80F-C40E45680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879" y="121575"/>
            <a:ext cx="8935505" cy="673642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43325D8-2253-393F-3488-71D655CCED85}"/>
              </a:ext>
            </a:extLst>
          </p:cNvPr>
          <p:cNvSpPr txBox="1"/>
          <p:nvPr/>
        </p:nvSpPr>
        <p:spPr>
          <a:xfrm>
            <a:off x="65430" y="121575"/>
            <a:ext cx="1643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Soft power 4</a:t>
            </a:r>
          </a:p>
        </p:txBody>
      </p:sp>
    </p:spTree>
    <p:extLst>
      <p:ext uri="{BB962C8B-B14F-4D97-AF65-F5344CB8AC3E}">
        <p14:creationId xmlns:p14="http://schemas.microsoft.com/office/powerpoint/2010/main" val="25143512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0D61155-0E27-7004-BFD3-F01F7C55D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15" y="0"/>
            <a:ext cx="9096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00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0685BFB-9A12-4413-02F0-99128328E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0546"/>
            <a:ext cx="6707718" cy="50569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17E37EC-39D9-538B-6F71-14DD2434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746" y="1192854"/>
            <a:ext cx="5932254" cy="447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2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Macintosh PowerPoint</Application>
  <PresentationFormat>Breitbild</PresentationFormat>
  <Paragraphs>78</Paragraphs>
  <Slides>29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Symbol</vt:lpstr>
      <vt:lpstr>Wingdings</vt:lpstr>
      <vt:lpstr>Office</vt:lpstr>
      <vt:lpstr>Progress</vt:lpstr>
      <vt:lpstr>Datasets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Luisa Bender</dc:creator>
  <cp:lastModifiedBy>Luisa Katharina Bender</cp:lastModifiedBy>
  <cp:revision>14</cp:revision>
  <dcterms:created xsi:type="dcterms:W3CDTF">2025-01-16T09:38:10Z</dcterms:created>
  <dcterms:modified xsi:type="dcterms:W3CDTF">2025-02-14T20:16:01Z</dcterms:modified>
</cp:coreProperties>
</file>