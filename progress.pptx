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61" r:id="rId2"/>
    <p:sldId id="333" r:id="rId3"/>
    <p:sldId id="260" r:id="rId4"/>
    <p:sldId id="262" r:id="rId5"/>
    <p:sldId id="264" r:id="rId6"/>
    <p:sldId id="304" r:id="rId7"/>
    <p:sldId id="310" r:id="rId8"/>
    <p:sldId id="308" r:id="rId9"/>
    <p:sldId id="309" r:id="rId10"/>
    <p:sldId id="334" r:id="rId11"/>
    <p:sldId id="311" r:id="rId12"/>
    <p:sldId id="312" r:id="rId13"/>
    <p:sldId id="335" r:id="rId14"/>
    <p:sldId id="336" r:id="rId15"/>
    <p:sldId id="313" r:id="rId16"/>
    <p:sldId id="303" r:id="rId17"/>
    <p:sldId id="338" r:id="rId18"/>
    <p:sldId id="314" r:id="rId19"/>
    <p:sldId id="339" r:id="rId20"/>
    <p:sldId id="337" r:id="rId21"/>
    <p:sldId id="331" r:id="rId22"/>
    <p:sldId id="330" r:id="rId23"/>
    <p:sldId id="340" r:id="rId24"/>
    <p:sldId id="315" r:id="rId25"/>
    <p:sldId id="332" r:id="rId26"/>
    <p:sldId id="341" r:id="rId27"/>
    <p:sldId id="327" r:id="rId28"/>
    <p:sldId id="342" r:id="rId29"/>
    <p:sldId id="328" r:id="rId30"/>
    <p:sldId id="320" r:id="rId31"/>
    <p:sldId id="321" r:id="rId32"/>
    <p:sldId id="322" r:id="rId33"/>
    <p:sldId id="329" r:id="rId34"/>
    <p:sldId id="326" r:id="rId35"/>
    <p:sldId id="318" r:id="rId36"/>
    <p:sldId id="323" r:id="rId37"/>
    <p:sldId id="316" r:id="rId38"/>
    <p:sldId id="324" r:id="rId39"/>
    <p:sldId id="325" r:id="rId40"/>
    <p:sldId id="317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28"/>
    <p:restoredTop sz="94630"/>
  </p:normalViewPr>
  <p:slideViewPr>
    <p:cSldViewPr snapToGrid="0">
      <p:cViewPr>
        <p:scale>
          <a:sx n="81" d="100"/>
          <a:sy n="81" d="100"/>
        </p:scale>
        <p:origin x="14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717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4802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8525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714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870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120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01.03.25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topics/agricultural-and-biological-sciences/multinucleate" TargetMode="External"/><Relationship Id="rId2" Type="http://schemas.openxmlformats.org/officeDocument/2006/relationships/hyperlink" Target="https://www.sciencedirect.com/topics/agricultural-and-biological-sciences/syncytium" TargetMode="Externa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626570" y="4159404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network </a:t>
            </a:r>
            <a:r>
              <a:rPr lang="de-DE" dirty="0" err="1"/>
              <a:t>construction</a:t>
            </a:r>
            <a:endParaRPr lang="de-DE" dirty="0"/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Gene </a:t>
            </a:r>
            <a:r>
              <a:rPr lang="de-DE" dirty="0" err="1"/>
              <a:t>filtering</a:t>
            </a:r>
            <a:r>
              <a:rPr lang="de-DE" dirty="0"/>
              <a:t>, VST and PCA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Gewinkelte Verbindung 7">
            <a:extLst>
              <a:ext uri="{FF2B5EF4-FFF2-40B4-BE49-F238E27FC236}">
                <a16:creationId xmlns:a16="http://schemas.microsoft.com/office/drawing/2014/main" id="{CE3F798F-06B5-8FFB-90E7-84B9C70A1F6F}"/>
              </a:ext>
            </a:extLst>
          </p:cNvPr>
          <p:cNvCxnSpPr>
            <a:cxnSpLocks/>
            <a:stCxn id="29" idx="3"/>
            <a:endCxn id="27" idx="1"/>
          </p:cNvCxnSpPr>
          <p:nvPr/>
        </p:nvCxnSpPr>
        <p:spPr>
          <a:xfrm flipH="1">
            <a:off x="626570" y="3361319"/>
            <a:ext cx="7947525" cy="1193954"/>
          </a:xfrm>
          <a:prstGeom prst="bentConnector5">
            <a:avLst>
              <a:gd name="adj1" fmla="val -2876"/>
              <a:gd name="adj2" fmla="val 50000"/>
              <a:gd name="adj3" fmla="val 1028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CDF5ACC-E24B-E265-60E2-9997562A47F4}"/>
              </a:ext>
            </a:extLst>
          </p:cNvPr>
          <p:cNvSpPr/>
          <p:nvPr/>
        </p:nvSpPr>
        <p:spPr>
          <a:xfrm>
            <a:off x="3630385" y="4159406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trait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99FD9516-29AC-4A28-AADC-BD1AB1581669}"/>
              </a:ext>
            </a:extLst>
          </p:cNvPr>
          <p:cNvSpPr/>
          <p:nvPr/>
        </p:nvSpPr>
        <p:spPr>
          <a:xfrm>
            <a:off x="6646678" y="4159406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gene</a:t>
            </a:r>
            <a:r>
              <a:rPr lang="de-DE" dirty="0"/>
              <a:t> </a:t>
            </a:r>
            <a:r>
              <a:rPr lang="de-DE" dirty="0" err="1"/>
              <a:t>identification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EC70B499-F723-8F04-E286-255AD6BBEEBF}"/>
              </a:ext>
            </a:extLst>
          </p:cNvPr>
          <p:cNvCxnSpPr>
            <a:cxnSpLocks/>
          </p:cNvCxnSpPr>
          <p:nvPr/>
        </p:nvCxnSpPr>
        <p:spPr>
          <a:xfrm>
            <a:off x="2886635" y="4555274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56C7E2A-24A8-F00B-0148-43796DFDB446}"/>
              </a:ext>
            </a:extLst>
          </p:cNvPr>
          <p:cNvCxnSpPr>
            <a:cxnSpLocks/>
          </p:cNvCxnSpPr>
          <p:nvPr/>
        </p:nvCxnSpPr>
        <p:spPr>
          <a:xfrm>
            <a:off x="5902928" y="4542573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Abgerundetes Rechteck 20">
            <a:extLst>
              <a:ext uri="{FF2B5EF4-FFF2-40B4-BE49-F238E27FC236}">
                <a16:creationId xmlns:a16="http://schemas.microsoft.com/office/drawing/2014/main" id="{ECD6064F-B80D-5D62-EC7F-DB5C10D95AC1}"/>
              </a:ext>
            </a:extLst>
          </p:cNvPr>
          <p:cNvSpPr/>
          <p:nvPr/>
        </p:nvSpPr>
        <p:spPr>
          <a:xfrm>
            <a:off x="631668" y="5340662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annotation</a:t>
            </a:r>
            <a:r>
              <a:rPr lang="de-DE" dirty="0"/>
              <a:t> &amp; </a:t>
            </a:r>
            <a:r>
              <a:rPr lang="de-DE" dirty="0" err="1"/>
              <a:t>enrichment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cxnSp>
        <p:nvCxnSpPr>
          <p:cNvPr id="22" name="Gewinkelte Verbindung 21">
            <a:extLst>
              <a:ext uri="{FF2B5EF4-FFF2-40B4-BE49-F238E27FC236}">
                <a16:creationId xmlns:a16="http://schemas.microsoft.com/office/drawing/2014/main" id="{107879B4-27E9-9797-AF36-3C9266D9AE9A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H="1">
            <a:off x="631668" y="4555275"/>
            <a:ext cx="8635613" cy="1181256"/>
          </a:xfrm>
          <a:prstGeom prst="bentConnector5">
            <a:avLst>
              <a:gd name="adj1" fmla="val -2647"/>
              <a:gd name="adj2" fmla="val 50000"/>
              <a:gd name="adj3" fmla="val 10264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7D61B6A3-708D-20A4-5D80-5E209470B3D7}"/>
              </a:ext>
            </a:extLst>
          </p:cNvPr>
          <p:cNvSpPr txBox="1"/>
          <p:nvPr/>
        </p:nvSpPr>
        <p:spPr>
          <a:xfrm>
            <a:off x="2784465" y="195226"/>
            <a:ext cx="6623051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Collecting</a:t>
            </a:r>
            <a:r>
              <a:rPr lang="de-DE" sz="1400" dirty="0"/>
              <a:t> RNA-</a:t>
            </a:r>
            <a:r>
              <a:rPr lang="de-DE" sz="1400" dirty="0" err="1"/>
              <a:t>Seq</a:t>
            </a:r>
            <a:r>
              <a:rPr lang="de-DE" sz="1400" dirty="0"/>
              <a:t> </a:t>
            </a:r>
            <a:r>
              <a:rPr lang="de-DE" sz="1400" dirty="0" err="1"/>
              <a:t>data</a:t>
            </a:r>
            <a:r>
              <a:rPr lang="de-DE" sz="1400" dirty="0"/>
              <a:t> </a:t>
            </a:r>
            <a:r>
              <a:rPr lang="de-DE" sz="1400" dirty="0" err="1"/>
              <a:t>sets</a:t>
            </a:r>
            <a:r>
              <a:rPr lang="de-DE" sz="1400" dirty="0"/>
              <a:t> on</a:t>
            </a:r>
            <a:r>
              <a:rPr lang="de-DE" sz="1400" i="1" dirty="0"/>
              <a:t> A. </a:t>
            </a:r>
            <a:r>
              <a:rPr lang="de-DE" sz="1400" i="1" dirty="0" err="1"/>
              <a:t>thaliana</a:t>
            </a:r>
            <a:r>
              <a:rPr lang="de-DE" sz="1400" i="1" dirty="0"/>
              <a:t> </a:t>
            </a:r>
            <a:r>
              <a:rPr lang="de-DE" sz="1400" dirty="0" err="1"/>
              <a:t>infection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dirty="0" err="1"/>
              <a:t>biotrophic</a:t>
            </a:r>
            <a:r>
              <a:rPr lang="de-DE" sz="1400" dirty="0"/>
              <a:t> </a:t>
            </a:r>
            <a:r>
              <a:rPr lang="de-DE" sz="1400" dirty="0" err="1"/>
              <a:t>pathogens</a:t>
            </a:r>
            <a:endParaRPr lang="de-DE" sz="14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4827D2C-93F2-8C28-B2A6-72ED39B64206}"/>
              </a:ext>
            </a:extLst>
          </p:cNvPr>
          <p:cNvSpPr txBox="1"/>
          <p:nvPr/>
        </p:nvSpPr>
        <p:spPr>
          <a:xfrm>
            <a:off x="4300527" y="703918"/>
            <a:ext cx="3590926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Downloading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b="1" dirty="0" err="1"/>
              <a:t>sratoolkit</a:t>
            </a:r>
            <a:r>
              <a:rPr lang="de-DE" sz="1400" dirty="0"/>
              <a:t>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3CE8E66-6D5E-0AA1-BF2A-F1553222319F}"/>
              </a:ext>
            </a:extLst>
          </p:cNvPr>
          <p:cNvSpPr txBox="1"/>
          <p:nvPr/>
        </p:nvSpPr>
        <p:spPr>
          <a:xfrm>
            <a:off x="4737323" y="1167898"/>
            <a:ext cx="2717347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Basic </a:t>
            </a:r>
            <a:r>
              <a:rPr lang="de-DE" sz="1400" dirty="0" err="1"/>
              <a:t>quality</a:t>
            </a:r>
            <a:r>
              <a:rPr lang="de-DE" sz="1400" dirty="0"/>
              <a:t> </a:t>
            </a:r>
            <a:r>
              <a:rPr lang="de-DE" sz="1400" dirty="0" err="1"/>
              <a:t>trimming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b="1" dirty="0" err="1"/>
              <a:t>fastp</a:t>
            </a:r>
            <a:r>
              <a:rPr lang="de-DE" sz="1400" dirty="0"/>
              <a:t> 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3776C06-9326-FF23-AEE1-9AD2E09EB4CD}"/>
              </a:ext>
            </a:extLst>
          </p:cNvPr>
          <p:cNvSpPr txBox="1"/>
          <p:nvPr/>
        </p:nvSpPr>
        <p:spPr>
          <a:xfrm>
            <a:off x="4127601" y="1657156"/>
            <a:ext cx="3936778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Quality </a:t>
            </a:r>
            <a:r>
              <a:rPr lang="de-DE" sz="1400" dirty="0" err="1"/>
              <a:t>control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b="1" dirty="0" err="1"/>
              <a:t>FastQC</a:t>
            </a:r>
            <a:r>
              <a:rPr lang="de-DE" sz="1400" dirty="0"/>
              <a:t> and </a:t>
            </a:r>
            <a:r>
              <a:rPr lang="de-DE" sz="1400" dirty="0" err="1"/>
              <a:t>MultiQC</a:t>
            </a:r>
            <a:endParaRPr lang="de-DE" sz="1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9F75B7C-354A-4E4E-081F-F210988DEA7B}"/>
              </a:ext>
            </a:extLst>
          </p:cNvPr>
          <p:cNvSpPr txBox="1"/>
          <p:nvPr/>
        </p:nvSpPr>
        <p:spPr>
          <a:xfrm>
            <a:off x="3937101" y="2187671"/>
            <a:ext cx="4317778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Pseudo-</a:t>
            </a:r>
            <a:r>
              <a:rPr lang="de-DE" sz="1400" dirty="0" err="1"/>
              <a:t>alignment</a:t>
            </a:r>
            <a:r>
              <a:rPr lang="de-DE" sz="1400" dirty="0"/>
              <a:t> and </a:t>
            </a:r>
            <a:r>
              <a:rPr lang="de-DE" sz="1400" dirty="0" err="1"/>
              <a:t>quantification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b="1" dirty="0" err="1"/>
              <a:t>kallisto</a:t>
            </a:r>
            <a:endParaRPr lang="de-DE" sz="1400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0D22C4-944A-1C54-46C7-D2DE771A223D}"/>
              </a:ext>
            </a:extLst>
          </p:cNvPr>
          <p:cNvSpPr txBox="1"/>
          <p:nvPr/>
        </p:nvSpPr>
        <p:spPr>
          <a:xfrm>
            <a:off x="3252263" y="2678086"/>
            <a:ext cx="5687453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Importing</a:t>
            </a:r>
            <a:r>
              <a:rPr lang="de-DE" sz="1400" dirty="0"/>
              <a:t> </a:t>
            </a:r>
            <a:r>
              <a:rPr lang="de-DE" sz="1400" dirty="0" err="1"/>
              <a:t>raw</a:t>
            </a:r>
            <a:r>
              <a:rPr lang="de-DE" sz="1400" dirty="0"/>
              <a:t> </a:t>
            </a:r>
            <a:r>
              <a:rPr lang="de-DE" sz="1400" dirty="0" err="1"/>
              <a:t>gene</a:t>
            </a:r>
            <a:r>
              <a:rPr lang="de-DE" sz="1400" dirty="0"/>
              <a:t> </a:t>
            </a:r>
            <a:r>
              <a:rPr lang="de-DE" sz="1400" dirty="0" err="1"/>
              <a:t>counts</a:t>
            </a:r>
            <a:r>
              <a:rPr lang="de-DE" sz="1400" dirty="0"/>
              <a:t> and </a:t>
            </a:r>
            <a:r>
              <a:rPr lang="de-DE" sz="1400" dirty="0" err="1"/>
              <a:t>abundance</a:t>
            </a:r>
            <a:r>
              <a:rPr lang="de-DE" sz="1400" dirty="0"/>
              <a:t> (</a:t>
            </a:r>
            <a:r>
              <a:rPr lang="de-DE" sz="1400" dirty="0" err="1"/>
              <a:t>tpm</a:t>
            </a:r>
            <a:r>
              <a:rPr lang="de-DE" sz="1400" dirty="0"/>
              <a:t>) </a:t>
            </a:r>
            <a:r>
              <a:rPr lang="de-DE" sz="1400" dirty="0" err="1"/>
              <a:t>counts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dirty="0" err="1"/>
              <a:t>tximport</a:t>
            </a:r>
            <a:endParaRPr lang="de-DE" sz="1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17C972D-FC5E-B51B-1AC4-1B2650D8A94C}"/>
              </a:ext>
            </a:extLst>
          </p:cNvPr>
          <p:cNvSpPr txBox="1"/>
          <p:nvPr/>
        </p:nvSpPr>
        <p:spPr>
          <a:xfrm>
            <a:off x="2506648" y="3543989"/>
            <a:ext cx="2717347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counts</a:t>
            </a:r>
            <a:endParaRPr lang="de-DE" sz="14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F3AC4D-70CA-111C-E2F2-B0E14A1A7624}"/>
              </a:ext>
            </a:extLst>
          </p:cNvPr>
          <p:cNvSpPr txBox="1"/>
          <p:nvPr/>
        </p:nvSpPr>
        <p:spPr>
          <a:xfrm>
            <a:off x="6620549" y="3441452"/>
            <a:ext cx="2717347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b="1" dirty="0" err="1"/>
              <a:t>Variance</a:t>
            </a:r>
            <a:r>
              <a:rPr lang="de-DE" sz="1400" b="1" dirty="0"/>
              <a:t> </a:t>
            </a:r>
            <a:r>
              <a:rPr lang="de-DE" sz="1400" b="1" dirty="0" err="1"/>
              <a:t>stabilzation</a:t>
            </a:r>
            <a:r>
              <a:rPr lang="de-DE" sz="1400" b="1" dirty="0"/>
              <a:t> </a:t>
            </a:r>
            <a:r>
              <a:rPr lang="de-DE" sz="1400" b="1" dirty="0" err="1"/>
              <a:t>transformation</a:t>
            </a:r>
            <a:r>
              <a:rPr lang="de-DE" sz="1400" b="1" dirty="0"/>
              <a:t> </a:t>
            </a:r>
            <a:r>
              <a:rPr lang="de-DE" sz="1400" dirty="0"/>
              <a:t>on </a:t>
            </a:r>
            <a:r>
              <a:rPr lang="de-DE" sz="1400" dirty="0" err="1"/>
              <a:t>raw</a:t>
            </a:r>
            <a:r>
              <a:rPr lang="de-DE" sz="1400" dirty="0"/>
              <a:t> </a:t>
            </a:r>
            <a:r>
              <a:rPr lang="de-DE" sz="1400" dirty="0" err="1"/>
              <a:t>counts</a:t>
            </a:r>
            <a:r>
              <a:rPr lang="de-DE" sz="1400" dirty="0"/>
              <a:t> </a:t>
            </a:r>
            <a:r>
              <a:rPr lang="de-DE" sz="1400" dirty="0" err="1"/>
              <a:t>with</a:t>
            </a:r>
            <a:r>
              <a:rPr lang="de-DE" sz="1400" dirty="0"/>
              <a:t> DESeq2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D97D6B9-2FDC-7D08-2FCE-0971555704F7}"/>
              </a:ext>
            </a:extLst>
          </p:cNvPr>
          <p:cNvSpPr txBox="1"/>
          <p:nvPr/>
        </p:nvSpPr>
        <p:spPr>
          <a:xfrm>
            <a:off x="3760898" y="4482235"/>
            <a:ext cx="4670196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WGCNA</a:t>
            </a:r>
            <a:r>
              <a:rPr lang="de-DE" sz="1400" dirty="0"/>
              <a:t> – network </a:t>
            </a:r>
            <a:r>
              <a:rPr lang="de-DE" sz="1400" dirty="0" err="1"/>
              <a:t>construction</a:t>
            </a:r>
            <a:r>
              <a:rPr lang="de-DE" sz="1400" dirty="0"/>
              <a:t> and </a:t>
            </a:r>
            <a:r>
              <a:rPr lang="de-DE" sz="1400" dirty="0" err="1"/>
              <a:t>module</a:t>
            </a:r>
            <a:r>
              <a:rPr lang="de-DE" sz="1400" dirty="0"/>
              <a:t> </a:t>
            </a:r>
            <a:r>
              <a:rPr lang="de-DE" sz="1400" dirty="0" err="1"/>
              <a:t>detection</a:t>
            </a:r>
            <a:endParaRPr lang="de-DE" sz="1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D687986-B624-F5CA-4893-CE604ABB5018}"/>
              </a:ext>
            </a:extLst>
          </p:cNvPr>
          <p:cNvSpPr txBox="1"/>
          <p:nvPr/>
        </p:nvSpPr>
        <p:spPr>
          <a:xfrm>
            <a:off x="4249103" y="5048415"/>
            <a:ext cx="3693772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Module </a:t>
            </a:r>
            <a:r>
              <a:rPr lang="de-DE" sz="1400" dirty="0" err="1"/>
              <a:t>trait</a:t>
            </a:r>
            <a:r>
              <a:rPr lang="de-DE" sz="1400" dirty="0"/>
              <a:t> </a:t>
            </a:r>
            <a:r>
              <a:rPr lang="de-DE" sz="1400" dirty="0" err="1"/>
              <a:t>matching</a:t>
            </a:r>
            <a:r>
              <a:rPr lang="de-DE" sz="1400" dirty="0"/>
              <a:t> and hub </a:t>
            </a:r>
            <a:r>
              <a:rPr lang="de-DE" sz="1400" dirty="0" err="1"/>
              <a:t>gene</a:t>
            </a:r>
            <a:r>
              <a:rPr lang="de-DE" sz="1400" dirty="0"/>
              <a:t> </a:t>
            </a:r>
            <a:r>
              <a:rPr lang="de-DE" sz="1400" dirty="0" err="1"/>
              <a:t>selection</a:t>
            </a:r>
            <a:endParaRPr lang="de-DE" sz="1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2EF2052-A0A4-9193-A556-2DBEC70936B9}"/>
              </a:ext>
            </a:extLst>
          </p:cNvPr>
          <p:cNvSpPr txBox="1"/>
          <p:nvPr/>
        </p:nvSpPr>
        <p:spPr>
          <a:xfrm>
            <a:off x="4097775" y="5630862"/>
            <a:ext cx="3996428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Functional</a:t>
            </a:r>
            <a:r>
              <a:rPr lang="de-DE" sz="1400" dirty="0"/>
              <a:t> </a:t>
            </a:r>
            <a:r>
              <a:rPr lang="de-DE" sz="1400" dirty="0" err="1"/>
              <a:t>annotation</a:t>
            </a:r>
            <a:r>
              <a:rPr lang="de-DE" sz="1400" dirty="0"/>
              <a:t> and </a:t>
            </a:r>
            <a:r>
              <a:rPr lang="de-DE" sz="1400" dirty="0" err="1"/>
              <a:t>enrichment</a:t>
            </a:r>
            <a:r>
              <a:rPr lang="de-DE" sz="1400" dirty="0"/>
              <a:t> </a:t>
            </a:r>
            <a:r>
              <a:rPr lang="de-DE" sz="1400" dirty="0" err="1"/>
              <a:t>analysis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module</a:t>
            </a:r>
            <a:r>
              <a:rPr lang="de-DE" sz="1400" dirty="0"/>
              <a:t> genes </a:t>
            </a:r>
            <a:r>
              <a:rPr lang="de-DE" sz="1400" dirty="0" err="1"/>
              <a:t>with</a:t>
            </a:r>
            <a:r>
              <a:rPr lang="de-DE" sz="1400" dirty="0"/>
              <a:t> </a:t>
            </a:r>
            <a:r>
              <a:rPr lang="de-DE" sz="1400" b="1" dirty="0" err="1"/>
              <a:t>clusterProfiler</a:t>
            </a:r>
            <a:endParaRPr lang="de-DE" sz="1400" b="1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1F6F7BF-757F-0780-168E-7E7AD57A8F54}"/>
              </a:ext>
            </a:extLst>
          </p:cNvPr>
          <p:cNvSpPr txBox="1"/>
          <p:nvPr/>
        </p:nvSpPr>
        <p:spPr>
          <a:xfrm>
            <a:off x="9685352" y="3440415"/>
            <a:ext cx="1911804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b="1" dirty="0"/>
              <a:t>PCA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identify</a:t>
            </a:r>
            <a:r>
              <a:rPr lang="de-DE" sz="1400" dirty="0"/>
              <a:t> potential </a:t>
            </a:r>
            <a:r>
              <a:rPr lang="de-DE" sz="1400" dirty="0" err="1"/>
              <a:t>outliers</a:t>
            </a:r>
            <a:r>
              <a:rPr lang="de-DE" sz="1400" dirty="0"/>
              <a:t> </a:t>
            </a:r>
            <a:r>
              <a:rPr lang="de-DE" sz="1400" dirty="0" err="1"/>
              <a:t>using</a:t>
            </a:r>
            <a:r>
              <a:rPr lang="de-DE" sz="1400" dirty="0"/>
              <a:t> </a:t>
            </a:r>
            <a:r>
              <a:rPr lang="de-DE" sz="1400" dirty="0" err="1"/>
              <a:t>stats</a:t>
            </a:r>
            <a:endParaRPr lang="de-DE" sz="1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9C76D93-8722-DA7C-BAAC-0671C164F05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095990" y="503003"/>
            <a:ext cx="1" cy="200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0F144E35-CA76-0E7D-B05F-EEE0C875D9F8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0" y="1011695"/>
            <a:ext cx="7" cy="156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316723E-077A-757F-9F2F-FCD118332557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6095990" y="1475675"/>
            <a:ext cx="7" cy="18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614682F-687C-E1ED-7647-38459AED892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6095990" y="1964933"/>
            <a:ext cx="0" cy="222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19DE7B3-1BF0-C255-B1FE-EBE399DD9AE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6095990" y="2495448"/>
            <a:ext cx="0" cy="18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7770901-2705-400D-FF5D-400290F65AE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3865322" y="2985863"/>
            <a:ext cx="2230668" cy="5581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601EA409-191B-515C-6BE1-ADEC7E25034B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223995" y="3805599"/>
            <a:ext cx="1396554" cy="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E95997BE-D70C-3173-8230-F1EF0B07ED72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9337896" y="3809747"/>
            <a:ext cx="347456" cy="1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DCE2EE1-62E1-A6CC-FB21-66073F44533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6095996" y="4180116"/>
            <a:ext cx="1883227" cy="302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479B533-F59C-CCB2-567D-6812C3CFDE7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6095990" y="2985863"/>
            <a:ext cx="1883233" cy="455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064BCA7-2E11-46BC-EAF0-4C0F3F20BD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6095989" y="4790012"/>
            <a:ext cx="7" cy="25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3F78EA72-A3C4-9140-9209-8E77101103DB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6095989" y="5356192"/>
            <a:ext cx="0" cy="274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A2DCABF0-FACC-4888-08E7-DB19F6E98485}"/>
              </a:ext>
            </a:extLst>
          </p:cNvPr>
          <p:cNvSpPr txBox="1"/>
          <p:nvPr/>
        </p:nvSpPr>
        <p:spPr>
          <a:xfrm>
            <a:off x="140309" y="2233838"/>
            <a:ext cx="2717347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Including</a:t>
            </a:r>
            <a:r>
              <a:rPr lang="de-DE" sz="1400" dirty="0"/>
              <a:t> </a:t>
            </a:r>
            <a:r>
              <a:rPr lang="de-DE" sz="1400" dirty="0" err="1"/>
              <a:t>gene</a:t>
            </a:r>
            <a:r>
              <a:rPr lang="de-DE" sz="1400" dirty="0"/>
              <a:t> </a:t>
            </a:r>
            <a:r>
              <a:rPr lang="de-DE" sz="1400" dirty="0" err="1"/>
              <a:t>counts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 </a:t>
            </a:r>
            <a:r>
              <a:rPr lang="de-DE" sz="1400" dirty="0" err="1"/>
              <a:t>unpublished</a:t>
            </a:r>
            <a:r>
              <a:rPr lang="de-DE" sz="1400" dirty="0"/>
              <a:t> </a:t>
            </a:r>
            <a:r>
              <a:rPr lang="de-DE" sz="1400" dirty="0" err="1"/>
              <a:t>dataset</a:t>
            </a:r>
            <a:endParaRPr lang="de-DE" sz="1400" dirty="0"/>
          </a:p>
        </p:txBody>
      </p:sp>
      <p:cxnSp>
        <p:nvCxnSpPr>
          <p:cNvPr id="59" name="Gewinkelte Verbindung 58">
            <a:extLst>
              <a:ext uri="{FF2B5EF4-FFF2-40B4-BE49-F238E27FC236}">
                <a16:creationId xmlns:a16="http://schemas.microsoft.com/office/drawing/2014/main" id="{5EC4EA52-E6F7-7BA3-216D-D839793524CD}"/>
              </a:ext>
            </a:extLst>
          </p:cNvPr>
          <p:cNvCxnSpPr>
            <a:stCxn id="55" idx="2"/>
            <a:endCxn id="11" idx="0"/>
          </p:cNvCxnSpPr>
          <p:nvPr/>
        </p:nvCxnSpPr>
        <p:spPr>
          <a:xfrm rot="16200000" flipH="1">
            <a:off x="4396906" y="-140865"/>
            <a:ext cx="684394" cy="64802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winkelte Verbindung 66">
            <a:extLst>
              <a:ext uri="{FF2B5EF4-FFF2-40B4-BE49-F238E27FC236}">
                <a16:creationId xmlns:a16="http://schemas.microsoft.com/office/drawing/2014/main" id="{4CDC11E0-E2AB-34B1-3F50-413537A58D3F}"/>
              </a:ext>
            </a:extLst>
          </p:cNvPr>
          <p:cNvCxnSpPr>
            <a:stCxn id="55" idx="2"/>
            <a:endCxn id="10" idx="0"/>
          </p:cNvCxnSpPr>
          <p:nvPr/>
        </p:nvCxnSpPr>
        <p:spPr>
          <a:xfrm rot="16200000" flipH="1">
            <a:off x="2288687" y="1967353"/>
            <a:ext cx="786931" cy="236633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0382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cruciferarum</a:t>
            </a:r>
            <a:r>
              <a:rPr lang="de-DE" sz="1600" dirty="0"/>
              <a:t> (</a:t>
            </a:r>
            <a:r>
              <a:rPr lang="de-DE" sz="1600" dirty="0" err="1"/>
              <a:t>unpublished</a:t>
            </a:r>
            <a:r>
              <a:rPr lang="de-DE" sz="1600" dirty="0"/>
              <a:t> </a:t>
            </a:r>
            <a:r>
              <a:rPr lang="de-DE" sz="1600" dirty="0" err="1"/>
              <a:t>dataset</a:t>
            </a:r>
            <a:r>
              <a:rPr lang="de-DE" sz="1600" dirty="0"/>
              <a:t>)</a:t>
            </a:r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FastQC</a:t>
            </a:r>
            <a:r>
              <a:rPr lang="de-DE" dirty="0"/>
              <a:t> on </a:t>
            </a:r>
            <a:r>
              <a:rPr lang="de-DE" dirty="0" err="1"/>
              <a:t>trimmed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default</a:t>
            </a:r>
            <a:r>
              <a:rPr lang="de-DE" dirty="0"/>
              <a:t> </a:t>
            </a:r>
            <a:r>
              <a:rPr lang="de-DE" dirty="0" err="1"/>
              <a:t>fastp</a:t>
            </a:r>
            <a:r>
              <a:rPr lang="de-DE" dirty="0"/>
              <a:t> </a:t>
            </a:r>
            <a:r>
              <a:rPr lang="de-DE" dirty="0" err="1"/>
              <a:t>trimming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A723A1-22AC-EAB3-8C5F-92818D4D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59" y="200905"/>
            <a:ext cx="10614990" cy="665709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90B56AE-95FA-9373-2DC2-C45081D60A42}"/>
              </a:ext>
            </a:extLst>
          </p:cNvPr>
          <p:cNvSpPr txBox="1"/>
          <p:nvPr/>
        </p:nvSpPr>
        <p:spPr>
          <a:xfrm>
            <a:off x="3470188" y="2236572"/>
            <a:ext cx="648800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 err="1"/>
              <a:t>Signed</a:t>
            </a:r>
            <a:r>
              <a:rPr lang="de-DE" sz="3600" dirty="0"/>
              <a:t> hybrid </a:t>
            </a:r>
            <a:r>
              <a:rPr lang="de-DE" sz="3600" dirty="0" err="1"/>
              <a:t>networks</a:t>
            </a:r>
            <a:r>
              <a:rPr lang="de-DE" sz="3600" dirty="0"/>
              <a:t>—</a:t>
            </a:r>
          </a:p>
          <a:p>
            <a:r>
              <a:rPr lang="de-DE" sz="3600" dirty="0" err="1"/>
              <a:t>Added</a:t>
            </a:r>
            <a:r>
              <a:rPr lang="de-DE" sz="3600" dirty="0"/>
              <a:t> Stegmann Dataset on </a:t>
            </a:r>
            <a:r>
              <a:rPr lang="de-DE" sz="3600" dirty="0" err="1"/>
              <a:t>Erysiphe</a:t>
            </a:r>
            <a:r>
              <a:rPr lang="de-DE" sz="3600" dirty="0"/>
              <a:t> </a:t>
            </a:r>
            <a:r>
              <a:rPr lang="de-DE" sz="3600" dirty="0" err="1"/>
              <a:t>cruciferarum</a:t>
            </a:r>
            <a:endParaRPr lang="de-DE" sz="3600" dirty="0"/>
          </a:p>
        </p:txBody>
      </p:sp>
    </p:spTree>
    <p:extLst>
      <p:ext uri="{BB962C8B-B14F-4D97-AF65-F5344CB8AC3E}">
        <p14:creationId xmlns:p14="http://schemas.microsoft.com/office/powerpoint/2010/main" val="384766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109AC03-9066-BDEA-D07B-AF8ABB9BD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14" y="570017"/>
            <a:ext cx="8657766" cy="550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233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0F04EAA-F1CE-5252-1EF6-BAD3DF6EE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929" y="533387"/>
            <a:ext cx="8748591" cy="556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31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1986C0-B891-A389-AAD4-8B3988D47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29" y="679449"/>
            <a:ext cx="8499021" cy="5403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216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E65DDED-AB8F-BEFA-8A65-B8F5CC22A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33" y="1281768"/>
            <a:ext cx="5875867" cy="40022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CDEF3BC-1E3F-1F1F-6082-9987EFA8A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00" y="1399721"/>
            <a:ext cx="5706533" cy="38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709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5E206B93-55C0-EBF4-C5CD-398CFB94B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16" y="231214"/>
            <a:ext cx="10849168" cy="639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13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661D5B3-DCFC-CD6D-5FCD-7F3294978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287" y="101600"/>
            <a:ext cx="9637426" cy="652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477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52022C07-FD31-23A1-A65D-723F3CEA7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97" y="477128"/>
            <a:ext cx="10639562" cy="596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5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5C109B08-9A17-3521-9573-8930A63D9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4" y="644992"/>
            <a:ext cx="11869272" cy="5568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57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D831ECF-43F7-7122-65E0-5FBDD438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35" y="450476"/>
            <a:ext cx="9054930" cy="5591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784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2B551078-8EF3-1778-7A61-3ABFB251F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641"/>
            <a:ext cx="8378613" cy="5398718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96D3F830-B587-316B-A171-E337292DC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323" y="4184837"/>
            <a:ext cx="5122102" cy="1124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49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0656E93-D180-0B8E-8597-10BEF6D5F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176" y="537882"/>
            <a:ext cx="10234431" cy="632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620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589B733-AD36-24C2-1052-89A7FDE09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4140"/>
            <a:ext cx="8372511" cy="5485438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E342EC46-12AE-7701-B417-4E20DF1AB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140175" y="2048905"/>
            <a:ext cx="5226577" cy="256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054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6BAA2AF-E56D-6789-3DCF-F157BB878EB8}"/>
              </a:ext>
            </a:extLst>
          </p:cNvPr>
          <p:cNvSpPr txBox="1"/>
          <p:nvPr/>
        </p:nvSpPr>
        <p:spPr>
          <a:xfrm>
            <a:off x="278294" y="357809"/>
            <a:ext cx="3445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Immune (</a:t>
            </a:r>
            <a:r>
              <a:rPr lang="de-DE" dirty="0" err="1"/>
              <a:t>defense</a:t>
            </a:r>
            <a:r>
              <a:rPr lang="de-DE" dirty="0"/>
              <a:t>)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75E58B1-F13D-6B5D-27A5-90F58E6643DB}"/>
              </a:ext>
            </a:extLst>
          </p:cNvPr>
          <p:cNvSpPr txBox="1"/>
          <p:nvPr/>
        </p:nvSpPr>
        <p:spPr>
          <a:xfrm>
            <a:off x="583096" y="1086678"/>
            <a:ext cx="10592904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royalblue</a:t>
            </a:r>
            <a:r>
              <a:rPr lang="de-DE" dirty="0"/>
              <a:t>: </a:t>
            </a:r>
            <a:r>
              <a:rPr lang="de-DE" dirty="0" err="1"/>
              <a:t>enriched</a:t>
            </a:r>
            <a:r>
              <a:rPr lang="de-DE" dirty="0"/>
              <a:t> in Plant-pathogen </a:t>
            </a:r>
            <a:r>
              <a:rPr lang="de-DE" dirty="0" err="1"/>
              <a:t>interaction</a:t>
            </a:r>
            <a:r>
              <a:rPr lang="de-DE" dirty="0"/>
              <a:t>, environmental </a:t>
            </a:r>
            <a:r>
              <a:rPr lang="de-DE" dirty="0" err="1"/>
              <a:t>adaptation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immune </a:t>
            </a:r>
            <a:r>
              <a:rPr lang="de-DE" dirty="0" err="1">
                <a:sym typeface="Wingdings" pitchFamily="2" charset="2"/>
              </a:rPr>
              <a:t>system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process</a:t>
            </a:r>
            <a:r>
              <a:rPr lang="de-DE" dirty="0">
                <a:sym typeface="Wingdings" pitchFamily="2" charset="2"/>
              </a:rPr>
              <a:t>, immune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salicylic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acid</a:t>
            </a:r>
            <a:r>
              <a:rPr lang="de-DE" dirty="0">
                <a:sym typeface="Wingdings" pitchFamily="2" charset="2"/>
              </a:rPr>
              <a:t>, plant-type hypersensitive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defense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symbiont</a:t>
            </a:r>
            <a:endParaRPr lang="de-DE" dirty="0">
              <a:sym typeface="Wingdings" pitchFamily="2" charset="2"/>
            </a:endParaRPr>
          </a:p>
          <a:p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darkred</a:t>
            </a:r>
            <a:r>
              <a:rPr lang="de-DE" dirty="0"/>
              <a:t>: </a:t>
            </a:r>
            <a:r>
              <a:rPr lang="de-DE" dirty="0" err="1"/>
              <a:t>enriched</a:t>
            </a:r>
            <a:r>
              <a:rPr lang="de-DE" dirty="0"/>
              <a:t> in Plant-pathogen </a:t>
            </a:r>
            <a:r>
              <a:rPr lang="de-DE" dirty="0" err="1"/>
              <a:t>interaction</a:t>
            </a:r>
            <a:r>
              <a:rPr lang="de-DE" dirty="0"/>
              <a:t> (environmental </a:t>
            </a:r>
            <a:r>
              <a:rPr lang="de-DE" dirty="0" err="1"/>
              <a:t>adaptation</a:t>
            </a:r>
            <a:r>
              <a:rPr lang="de-DE" dirty="0"/>
              <a:t>), MAPK </a:t>
            </a:r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pathway</a:t>
            </a:r>
            <a:r>
              <a:rPr lang="de-DE" dirty="0"/>
              <a:t>, </a:t>
            </a:r>
            <a:r>
              <a:rPr lang="de-DE" dirty="0" err="1"/>
              <a:t>Glycerolipid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fungus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defense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bacterium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cellular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hypoxia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regulation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stress</a:t>
            </a:r>
          </a:p>
          <a:p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>
                <a:sym typeface="Wingdings" pitchFamily="2" charset="2"/>
              </a:rPr>
              <a:t>lightgreen</a:t>
            </a:r>
            <a:r>
              <a:rPr lang="de-DE" dirty="0">
                <a:sym typeface="Wingdings" pitchFamily="2" charset="2"/>
              </a:rPr>
              <a:t>: </a:t>
            </a:r>
            <a:r>
              <a:rPr lang="de-DE" dirty="0" err="1">
                <a:sym typeface="Wingdings" pitchFamily="2" charset="2"/>
              </a:rPr>
              <a:t>enriched</a:t>
            </a:r>
            <a:r>
              <a:rPr lang="de-DE" dirty="0">
                <a:sym typeface="Wingdings" pitchFamily="2" charset="2"/>
              </a:rPr>
              <a:t> in Sphingolipid </a:t>
            </a:r>
            <a:r>
              <a:rPr lang="de-DE" dirty="0" err="1">
                <a:sym typeface="Wingdings" pitchFamily="2" charset="2"/>
              </a:rPr>
              <a:t>metabolism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fungus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defense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bacterium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organic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hydroxy</a:t>
            </a:r>
            <a:r>
              <a:rPr lang="de-DE" dirty="0">
                <a:sym typeface="Wingdings" pitchFamily="2" charset="2"/>
              </a:rPr>
              <a:t> compound </a:t>
            </a:r>
            <a:r>
              <a:rPr lang="de-DE" dirty="0" err="1">
                <a:sym typeface="Wingdings" pitchFamily="2" charset="2"/>
              </a:rPr>
              <a:t>metabolic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process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oxidative stress, immune </a:t>
            </a:r>
            <a:r>
              <a:rPr lang="de-DE" dirty="0" err="1">
                <a:sym typeface="Wingdings" pitchFamily="2" charset="2"/>
              </a:rPr>
              <a:t>response</a:t>
            </a:r>
            <a:endParaRPr lang="de-DE" dirty="0">
              <a:sym typeface="Wingdings" pitchFamily="2" charset="2"/>
            </a:endParaRPr>
          </a:p>
          <a:p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>
                <a:sym typeface="Wingdings" pitchFamily="2" charset="2"/>
              </a:rPr>
              <a:t>darkmagenta</a:t>
            </a:r>
            <a:r>
              <a:rPr lang="de-DE" dirty="0">
                <a:sym typeface="Wingdings" pitchFamily="2" charset="2"/>
              </a:rPr>
              <a:t>: alpha-</a:t>
            </a:r>
            <a:r>
              <a:rPr lang="de-DE" dirty="0" err="1">
                <a:sym typeface="Wingdings" pitchFamily="2" charset="2"/>
              </a:rPr>
              <a:t>amino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acid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biosynthetic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process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defense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symbiont</a:t>
            </a:r>
            <a:r>
              <a:rPr lang="de-DE" dirty="0">
                <a:sym typeface="Wingdings" pitchFamily="2" charset="2"/>
              </a:rPr>
              <a:t>, immune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, immune </a:t>
            </a:r>
            <a:r>
              <a:rPr lang="de-DE" dirty="0" err="1">
                <a:sym typeface="Wingdings" pitchFamily="2" charset="2"/>
              </a:rPr>
              <a:t>system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process</a:t>
            </a:r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itchFamily="2" charset="2"/>
            </a:endParaRP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Downregulated</a:t>
            </a:r>
            <a:r>
              <a:rPr lang="de-DE" dirty="0">
                <a:sym typeface="Wingdings" pitchFamily="2" charset="2"/>
              </a:rPr>
              <a:t> in </a:t>
            </a:r>
            <a:r>
              <a:rPr lang="de-DE" dirty="0" err="1">
                <a:sym typeface="Wingdings" pitchFamily="2" charset="2"/>
              </a:rPr>
              <a:t>control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, and </a:t>
            </a:r>
            <a:r>
              <a:rPr lang="de-DE" dirty="0" err="1">
                <a:sym typeface="Wingdings" pitchFamily="2" charset="2"/>
              </a:rPr>
              <a:t>upregulated</a:t>
            </a:r>
            <a:r>
              <a:rPr lang="de-DE" dirty="0">
                <a:sym typeface="Wingdings" pitchFamily="2" charset="2"/>
              </a:rPr>
              <a:t> in </a:t>
            </a:r>
            <a:r>
              <a:rPr lang="de-DE" dirty="0" err="1">
                <a:sym typeface="Wingdings" pitchFamily="2" charset="2"/>
              </a:rPr>
              <a:t>several</a:t>
            </a:r>
            <a:r>
              <a:rPr lang="de-DE" dirty="0">
                <a:sym typeface="Wingdings" pitchFamily="2" charset="2"/>
              </a:rPr>
              <a:t> pathogen </a:t>
            </a:r>
            <a:r>
              <a:rPr lang="de-DE" dirty="0" err="1">
                <a:sym typeface="Wingdings" pitchFamily="2" charset="2"/>
              </a:rPr>
              <a:t>samples</a:t>
            </a:r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712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87D8811-EFD5-6070-E173-2D2A3B901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08" y="1492637"/>
            <a:ext cx="5629934" cy="314664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7456BEEF-3D26-778D-B05A-8B8B2872E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442" y="1260661"/>
            <a:ext cx="6393558" cy="387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43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ADEB055-B072-39B4-E67E-4A0BF91DF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5" y="1014845"/>
            <a:ext cx="6015775" cy="3118974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8A6CF13-FB12-28E4-D28C-1D41116EC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116" y="0"/>
            <a:ext cx="5670884" cy="345438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37E2D806-5D39-FC3A-1D39-C27DB3F2B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773" y="3575081"/>
            <a:ext cx="5223514" cy="311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01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E64E8DDF-E961-17E6-7821-D2A90EBF6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232" y="1655877"/>
            <a:ext cx="6544768" cy="4044835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D049C08-1448-6E5B-A56C-8F1C6158C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8766"/>
            <a:ext cx="5969474" cy="3559059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98898DB4-6939-9152-824A-71CB29B7586D}"/>
              </a:ext>
            </a:extLst>
          </p:cNvPr>
          <p:cNvSpPr txBox="1"/>
          <p:nvPr/>
        </p:nvSpPr>
        <p:spPr>
          <a:xfrm>
            <a:off x="928687" y="414338"/>
            <a:ext cx="3857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Control - </a:t>
            </a:r>
            <a:r>
              <a:rPr lang="de-DE" dirty="0" err="1"/>
              <a:t>Negatively</a:t>
            </a:r>
            <a:r>
              <a:rPr lang="de-DE" dirty="0"/>
              <a:t> </a:t>
            </a:r>
            <a:r>
              <a:rPr lang="de-DE" dirty="0" err="1"/>
              <a:t>correlated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00808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A02AA7F-990E-4CF9-6ECF-7BEBF9C9A4FF}"/>
              </a:ext>
            </a:extLst>
          </p:cNvPr>
          <p:cNvSpPr txBox="1"/>
          <p:nvPr/>
        </p:nvSpPr>
        <p:spPr>
          <a:xfrm>
            <a:off x="469900" y="317500"/>
            <a:ext cx="713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Modules </a:t>
            </a:r>
            <a:r>
              <a:rPr lang="de-DE" dirty="0" err="1"/>
              <a:t>positively</a:t>
            </a:r>
            <a:r>
              <a:rPr lang="de-DE" dirty="0"/>
              <a:t> </a:t>
            </a:r>
            <a:r>
              <a:rPr lang="de-DE" dirty="0" err="1"/>
              <a:t>correlating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: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8FD1BFD-ECED-5170-B498-4EB5B15A631B}"/>
              </a:ext>
            </a:extLst>
          </p:cNvPr>
          <p:cNvSpPr txBox="1"/>
          <p:nvPr/>
        </p:nvSpPr>
        <p:spPr>
          <a:xfrm>
            <a:off x="469900" y="1016000"/>
            <a:ext cx="110109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steelblue</a:t>
            </a:r>
            <a:r>
              <a:rPr lang="de-DE" dirty="0"/>
              <a:t>: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monocarboxylic</a:t>
            </a:r>
            <a:r>
              <a:rPr lang="de-DE" dirty="0"/>
              <a:t> </a:t>
            </a:r>
            <a:r>
              <a:rPr lang="de-DE" dirty="0" err="1"/>
              <a:t>acid</a:t>
            </a:r>
            <a:r>
              <a:rPr lang="de-DE" dirty="0"/>
              <a:t> </a:t>
            </a:r>
            <a:r>
              <a:rPr lang="de-DE" dirty="0" err="1"/>
              <a:t>metabolic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and </a:t>
            </a:r>
            <a:r>
              <a:rPr lang="de-DE" dirty="0" err="1"/>
              <a:t>nucleoside</a:t>
            </a:r>
            <a:r>
              <a:rPr lang="de-DE" dirty="0"/>
              <a:t> </a:t>
            </a:r>
            <a:r>
              <a:rPr lang="de-DE" dirty="0" err="1"/>
              <a:t>phosphate</a:t>
            </a:r>
            <a:r>
              <a:rPr lang="de-DE" dirty="0"/>
              <a:t> </a:t>
            </a:r>
            <a:r>
              <a:rPr lang="de-DE" dirty="0" err="1"/>
              <a:t>biosynthetic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. Fatty </a:t>
            </a:r>
            <a:r>
              <a:rPr lang="de-DE" dirty="0" err="1"/>
              <a:t>acid</a:t>
            </a:r>
            <a:r>
              <a:rPr lang="de-DE" dirty="0"/>
              <a:t> </a:t>
            </a:r>
            <a:r>
              <a:rPr lang="de-DE" dirty="0" err="1"/>
              <a:t>biosyntheses</a:t>
            </a:r>
            <a:r>
              <a:rPr lang="de-DE" dirty="0"/>
              <a:t> and </a:t>
            </a:r>
            <a:r>
              <a:rPr lang="de-DE" dirty="0" err="1"/>
              <a:t>metabolism</a:t>
            </a:r>
            <a:r>
              <a:rPr lang="de-DE" dirty="0"/>
              <a:t>, Citrate </a:t>
            </a:r>
            <a:r>
              <a:rPr lang="de-DE" dirty="0" err="1"/>
              <a:t>cycle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downregulated</a:t>
            </a:r>
            <a:r>
              <a:rPr lang="de-DE" dirty="0">
                <a:sym typeface="Wingdings" pitchFamily="2" charset="2"/>
              </a:rPr>
              <a:t> in </a:t>
            </a:r>
            <a:r>
              <a:rPr lang="de-DE" dirty="0" err="1">
                <a:sym typeface="Wingdings" pitchFamily="2" charset="2"/>
              </a:rPr>
              <a:t>Hpa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E.cichorerarum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>
                <a:sym typeface="Wingdings" pitchFamily="2" charset="2"/>
              </a:rPr>
              <a:t>maybe</a:t>
            </a:r>
            <a:r>
              <a:rPr lang="de-DE" dirty="0">
                <a:sym typeface="Wingdings" pitchFamily="2" charset="2"/>
              </a:rPr>
              <a:t> pathogen </a:t>
            </a:r>
            <a:r>
              <a:rPr lang="de-DE" dirty="0" err="1">
                <a:sym typeface="Wingdings" pitchFamily="2" charset="2"/>
              </a:rPr>
              <a:t>specific</a:t>
            </a:r>
            <a:r>
              <a:rPr lang="de-DE" dirty="0">
                <a:sym typeface="Wingdings" pitchFamily="2" charset="2"/>
              </a:rPr>
              <a:t>)  </a:t>
            </a:r>
            <a:r>
              <a:rPr lang="de-DE" dirty="0" err="1">
                <a:sym typeface="Wingdings" pitchFamily="2" charset="2"/>
              </a:rPr>
              <a:t>monocarboxylic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acids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play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crucial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roles</a:t>
            </a:r>
            <a:r>
              <a:rPr lang="de-DE" dirty="0">
                <a:sym typeface="Wingdings" pitchFamily="2" charset="2"/>
              </a:rPr>
              <a:t> in </a:t>
            </a:r>
            <a:r>
              <a:rPr lang="de-DE" b="1" dirty="0" err="1"/>
              <a:t>energy</a:t>
            </a:r>
            <a:r>
              <a:rPr lang="de-DE" b="1" dirty="0"/>
              <a:t> </a:t>
            </a:r>
            <a:r>
              <a:rPr lang="de-DE" b="1" dirty="0" err="1"/>
              <a:t>metabolism</a:t>
            </a:r>
            <a:r>
              <a:rPr lang="de-DE" dirty="0"/>
              <a:t>, </a:t>
            </a:r>
            <a:r>
              <a:rPr lang="de-DE" dirty="0" err="1"/>
              <a:t>redox</a:t>
            </a:r>
            <a:r>
              <a:rPr lang="de-DE" dirty="0"/>
              <a:t> </a:t>
            </a:r>
            <a:r>
              <a:rPr lang="de-DE" dirty="0" err="1"/>
              <a:t>balance</a:t>
            </a:r>
            <a:r>
              <a:rPr lang="de-DE" dirty="0"/>
              <a:t>, and </a:t>
            </a:r>
            <a:r>
              <a:rPr lang="de-DE" b="1" dirty="0" err="1"/>
              <a:t>cellular</a:t>
            </a:r>
            <a:r>
              <a:rPr lang="de-DE" b="1" dirty="0"/>
              <a:t> </a:t>
            </a:r>
            <a:r>
              <a:rPr lang="de-DE" b="1" dirty="0" err="1"/>
              <a:t>respiration</a:t>
            </a:r>
            <a:r>
              <a:rPr lang="de-DE" dirty="0"/>
              <a:t>. Pathogen </a:t>
            </a:r>
            <a:r>
              <a:rPr lang="de-DE" dirty="0" err="1"/>
              <a:t>infection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 </a:t>
            </a:r>
            <a:r>
              <a:rPr lang="de-DE" b="1" dirty="0" err="1"/>
              <a:t>metabolic</a:t>
            </a:r>
            <a:r>
              <a:rPr lang="de-DE" b="1" dirty="0"/>
              <a:t> </a:t>
            </a:r>
            <a:r>
              <a:rPr lang="de-DE" b="1" dirty="0" err="1"/>
              <a:t>reprogramming</a:t>
            </a:r>
            <a:r>
              <a:rPr lang="de-DE" dirty="0"/>
              <a:t>,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plant </a:t>
            </a:r>
            <a:r>
              <a:rPr lang="de-DE" dirty="0" err="1"/>
              <a:t>shifts</a:t>
            </a:r>
            <a:r>
              <a:rPr lang="de-DE" dirty="0"/>
              <a:t> </a:t>
            </a:r>
            <a:r>
              <a:rPr lang="de-DE" dirty="0" err="1"/>
              <a:t>resources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 and </a:t>
            </a:r>
            <a:r>
              <a:rPr lang="de-DE" dirty="0" err="1"/>
              <a:t>maintenance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defense.The</a:t>
            </a:r>
            <a:r>
              <a:rPr lang="de-DE" dirty="0"/>
              <a:t> </a:t>
            </a:r>
            <a:r>
              <a:rPr lang="de-DE" b="1" dirty="0" err="1"/>
              <a:t>downregulation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these</a:t>
            </a:r>
            <a:r>
              <a:rPr lang="de-DE" b="1" dirty="0"/>
              <a:t> genes </a:t>
            </a:r>
            <a:r>
              <a:rPr lang="de-DE" b="1" dirty="0" err="1"/>
              <a:t>during</a:t>
            </a:r>
            <a:r>
              <a:rPr lang="de-DE" b="1" dirty="0"/>
              <a:t> </a:t>
            </a:r>
            <a:r>
              <a:rPr lang="de-DE" b="1" dirty="0" err="1"/>
              <a:t>infection</a:t>
            </a:r>
            <a:r>
              <a:rPr lang="de-DE" dirty="0"/>
              <a:t> </a:t>
            </a:r>
            <a:r>
              <a:rPr lang="de-DE" dirty="0" err="1"/>
              <a:t>suggests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 </a:t>
            </a:r>
            <a:r>
              <a:rPr lang="de-DE" b="1" dirty="0"/>
              <a:t>pathogen </a:t>
            </a:r>
            <a:r>
              <a:rPr lang="de-DE" b="1" dirty="0" err="1"/>
              <a:t>attack</a:t>
            </a:r>
            <a:r>
              <a:rPr lang="de-DE" b="1" dirty="0"/>
              <a:t> </a:t>
            </a:r>
            <a:r>
              <a:rPr lang="de-DE" b="1" dirty="0" err="1"/>
              <a:t>suppresses</a:t>
            </a:r>
            <a:r>
              <a:rPr lang="de-DE" b="1" dirty="0"/>
              <a:t> </a:t>
            </a:r>
            <a:r>
              <a:rPr lang="de-DE" b="1" dirty="0" err="1"/>
              <a:t>primary</a:t>
            </a:r>
            <a:r>
              <a:rPr lang="de-DE" b="1" dirty="0"/>
              <a:t> </a:t>
            </a:r>
            <a:r>
              <a:rPr lang="de-DE" b="1" dirty="0" err="1"/>
              <a:t>metabolism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favor</a:t>
            </a:r>
            <a:r>
              <a:rPr lang="de-DE" dirty="0"/>
              <a:t> stress </a:t>
            </a:r>
            <a:r>
              <a:rPr lang="de-DE" dirty="0" err="1"/>
              <a:t>responses</a:t>
            </a:r>
            <a:r>
              <a:rPr lang="de-DE" dirty="0"/>
              <a:t>. Synthesis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nucleotides</a:t>
            </a:r>
            <a:r>
              <a:rPr lang="de-DE" dirty="0"/>
              <a:t>, fundamental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 and normal </a:t>
            </a:r>
            <a:r>
              <a:rPr lang="de-DE" dirty="0" err="1"/>
              <a:t>function</a:t>
            </a:r>
            <a:r>
              <a:rPr lang="de-DE" dirty="0"/>
              <a:t> (</a:t>
            </a:r>
            <a:r>
              <a:rPr lang="de-DE" dirty="0" err="1"/>
              <a:t>surpressed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infection</a:t>
            </a:r>
            <a:r>
              <a:rPr lang="de-DE" dirty="0"/>
              <a:t>), plant </a:t>
            </a:r>
            <a:r>
              <a:rPr lang="de-DE" dirty="0" err="1"/>
              <a:t>prioritizing</a:t>
            </a:r>
            <a:r>
              <a:rPr lang="de-DE" dirty="0"/>
              <a:t> </a:t>
            </a:r>
            <a:r>
              <a:rPr lang="de-DE" dirty="0" err="1"/>
              <a:t>defense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growth</a:t>
            </a:r>
            <a:endParaRPr lang="de-DE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greenyellow</a:t>
            </a:r>
            <a:r>
              <a:rPr lang="de-DE" b="1" dirty="0"/>
              <a:t>: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starch</a:t>
            </a:r>
            <a:r>
              <a:rPr lang="de-DE" dirty="0"/>
              <a:t> and </a:t>
            </a:r>
            <a:r>
              <a:rPr lang="de-DE" dirty="0" err="1"/>
              <a:t>sucrose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, </a:t>
            </a:r>
            <a:r>
              <a:rPr lang="de-DE" dirty="0" err="1"/>
              <a:t>flavanoid</a:t>
            </a:r>
            <a:r>
              <a:rPr lang="de-DE" dirty="0"/>
              <a:t> </a:t>
            </a:r>
            <a:r>
              <a:rPr lang="de-DE" dirty="0" err="1"/>
              <a:t>metabolic</a:t>
            </a:r>
            <a:r>
              <a:rPr lang="de-DE" dirty="0"/>
              <a:t>, </a:t>
            </a:r>
            <a:r>
              <a:rPr lang="de-DE" dirty="0" err="1"/>
              <a:t>pigment</a:t>
            </a:r>
            <a:r>
              <a:rPr lang="de-DE" dirty="0"/>
              <a:t> </a:t>
            </a:r>
            <a:r>
              <a:rPr lang="de-DE" dirty="0" err="1"/>
              <a:t>biosynthetic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and </a:t>
            </a:r>
            <a:r>
              <a:rPr lang="de-DE" dirty="0" err="1"/>
              <a:t>biosynthetic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far</a:t>
            </a:r>
            <a:r>
              <a:rPr lang="de-DE" dirty="0"/>
              <a:t> </a:t>
            </a:r>
            <a:r>
              <a:rPr lang="de-DE" dirty="0" err="1"/>
              <a:t>red</a:t>
            </a:r>
            <a:r>
              <a:rPr lang="de-DE" dirty="0"/>
              <a:t> light </a:t>
            </a:r>
            <a:r>
              <a:rPr lang="de-DE" dirty="0" err="1"/>
              <a:t>or</a:t>
            </a:r>
            <a:r>
              <a:rPr lang="de-DE" dirty="0"/>
              <a:t> UV. This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represents</a:t>
            </a:r>
            <a:r>
              <a:rPr lang="de-DE" dirty="0"/>
              <a:t> genes </a:t>
            </a:r>
            <a:r>
              <a:rPr lang="de-DE" dirty="0" err="1"/>
              <a:t>involved</a:t>
            </a:r>
            <a:r>
              <a:rPr lang="de-DE" dirty="0"/>
              <a:t> in </a:t>
            </a:r>
            <a:r>
              <a:rPr lang="de-DE" b="1" dirty="0"/>
              <a:t>normal </a:t>
            </a:r>
            <a:r>
              <a:rPr lang="de-DE" b="1" dirty="0" err="1"/>
              <a:t>metabolic</a:t>
            </a:r>
            <a:r>
              <a:rPr lang="de-DE" b="1" dirty="0"/>
              <a:t> and light-</a:t>
            </a:r>
            <a:r>
              <a:rPr lang="de-DE" b="1" dirty="0" err="1"/>
              <a:t>regulated</a:t>
            </a:r>
            <a:r>
              <a:rPr lang="de-DE" b="1" dirty="0"/>
              <a:t> </a:t>
            </a:r>
            <a:r>
              <a:rPr lang="de-DE" b="1" dirty="0" err="1"/>
              <a:t>processes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 </a:t>
            </a:r>
            <a:r>
              <a:rPr lang="de-DE" b="1" dirty="0" err="1"/>
              <a:t>decline</a:t>
            </a:r>
            <a:r>
              <a:rPr lang="de-DE" b="1" dirty="0"/>
              <a:t> upon </a:t>
            </a:r>
            <a:r>
              <a:rPr lang="de-DE" b="1" dirty="0" err="1"/>
              <a:t>infection</a:t>
            </a:r>
            <a:r>
              <a:rPr lang="de-DE" dirty="0" err="1"/>
              <a:t>.The</a:t>
            </a:r>
            <a:r>
              <a:rPr lang="de-DE" dirty="0"/>
              <a:t> </a:t>
            </a:r>
            <a:r>
              <a:rPr lang="de-DE" dirty="0" err="1"/>
              <a:t>suppression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 </a:t>
            </a:r>
            <a:r>
              <a:rPr lang="de-DE" b="1" dirty="0" err="1"/>
              <a:t>starch</a:t>
            </a:r>
            <a:r>
              <a:rPr lang="de-DE" b="1" dirty="0"/>
              <a:t>/</a:t>
            </a:r>
            <a:r>
              <a:rPr lang="de-DE" b="1" dirty="0" err="1"/>
              <a:t>sucrose</a:t>
            </a:r>
            <a:r>
              <a:rPr lang="de-DE" b="1" dirty="0"/>
              <a:t> </a:t>
            </a:r>
            <a:r>
              <a:rPr lang="de-DE" b="1" dirty="0" err="1"/>
              <a:t>metabolism</a:t>
            </a:r>
            <a:r>
              <a:rPr lang="de-DE" dirty="0"/>
              <a:t> </a:t>
            </a:r>
            <a:r>
              <a:rPr lang="de-DE" dirty="0" err="1"/>
              <a:t>suggests</a:t>
            </a:r>
            <a:r>
              <a:rPr lang="de-DE" dirty="0"/>
              <a:t> a </a:t>
            </a:r>
            <a:r>
              <a:rPr lang="de-DE" dirty="0" err="1"/>
              <a:t>metabolic</a:t>
            </a:r>
            <a:r>
              <a:rPr lang="de-DE" dirty="0"/>
              <a:t> shift,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plant </a:t>
            </a:r>
            <a:r>
              <a:rPr lang="de-DE" b="1" dirty="0" err="1"/>
              <a:t>diverts</a:t>
            </a:r>
            <a:r>
              <a:rPr lang="de-DE" b="1" dirty="0"/>
              <a:t> </a:t>
            </a:r>
            <a:r>
              <a:rPr lang="de-DE" b="1" dirty="0" err="1"/>
              <a:t>energy</a:t>
            </a:r>
            <a:r>
              <a:rPr lang="de-DE" b="1" dirty="0"/>
              <a:t> </a:t>
            </a:r>
            <a:r>
              <a:rPr lang="de-DE" b="1" dirty="0" err="1"/>
              <a:t>from</a:t>
            </a:r>
            <a:r>
              <a:rPr lang="de-DE" b="1" dirty="0"/>
              <a:t> </a:t>
            </a:r>
            <a:r>
              <a:rPr lang="de-DE" b="1" dirty="0" err="1"/>
              <a:t>growth</a:t>
            </a:r>
            <a:r>
              <a:rPr lang="de-DE" b="1" dirty="0"/>
              <a:t> </a:t>
            </a:r>
            <a:r>
              <a:rPr lang="de-DE" b="1" dirty="0" err="1"/>
              <a:t>to</a:t>
            </a:r>
            <a:r>
              <a:rPr lang="de-DE" b="1" dirty="0"/>
              <a:t> </a:t>
            </a:r>
            <a:r>
              <a:rPr lang="de-DE" b="1" dirty="0" err="1"/>
              <a:t>defense</a:t>
            </a:r>
            <a:r>
              <a:rPr lang="de-DE" dirty="0" err="1"/>
              <a:t>.The</a:t>
            </a:r>
            <a:r>
              <a:rPr lang="de-DE" dirty="0"/>
              <a:t> </a:t>
            </a:r>
            <a:r>
              <a:rPr lang="de-DE" dirty="0" err="1"/>
              <a:t>downregulation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 </a:t>
            </a:r>
            <a:r>
              <a:rPr lang="de-DE" b="1" dirty="0" err="1"/>
              <a:t>flavonoids</a:t>
            </a:r>
            <a:r>
              <a:rPr lang="de-DE" b="1" dirty="0"/>
              <a:t> and </a:t>
            </a:r>
            <a:r>
              <a:rPr lang="de-DE" b="1" dirty="0" err="1"/>
              <a:t>pigment</a:t>
            </a:r>
            <a:r>
              <a:rPr lang="de-DE" b="1" dirty="0"/>
              <a:t> </a:t>
            </a:r>
            <a:r>
              <a:rPr lang="de-DE" b="1" dirty="0" err="1"/>
              <a:t>biosynthesis</a:t>
            </a:r>
            <a:r>
              <a:rPr lang="de-DE" dirty="0"/>
              <a:t> </a:t>
            </a:r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infection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 </a:t>
            </a:r>
            <a:r>
              <a:rPr lang="de-DE" b="1" dirty="0" err="1"/>
              <a:t>suppress</a:t>
            </a:r>
            <a:r>
              <a:rPr lang="de-DE" b="1" dirty="0"/>
              <a:t> </a:t>
            </a:r>
            <a:r>
              <a:rPr lang="de-DE" b="1" dirty="0" err="1"/>
              <a:t>protective</a:t>
            </a:r>
            <a:r>
              <a:rPr lang="de-DE" b="1" dirty="0"/>
              <a:t> </a:t>
            </a:r>
            <a:r>
              <a:rPr lang="de-DE" b="1" dirty="0" err="1"/>
              <a:t>secondary</a:t>
            </a:r>
            <a:r>
              <a:rPr lang="de-DE" b="1" dirty="0"/>
              <a:t> </a:t>
            </a:r>
            <a:r>
              <a:rPr lang="de-DE" b="1" dirty="0" err="1"/>
              <a:t>metabolites</a:t>
            </a:r>
            <a:r>
              <a:rPr lang="de-DE" b="1" dirty="0"/>
              <a:t> and </a:t>
            </a:r>
            <a:r>
              <a:rPr lang="de-DE" b="1" dirty="0" err="1"/>
              <a:t>photosynthesis</a:t>
            </a:r>
            <a:r>
              <a:rPr lang="de-DE" dirty="0" err="1"/>
              <a:t>.The</a:t>
            </a:r>
            <a:r>
              <a:rPr lang="de-DE" dirty="0"/>
              <a:t> </a:t>
            </a:r>
            <a:r>
              <a:rPr lang="de-DE" dirty="0" err="1"/>
              <a:t>disruption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 </a:t>
            </a:r>
            <a:r>
              <a:rPr lang="de-DE" b="1" dirty="0"/>
              <a:t>light </a:t>
            </a:r>
            <a:r>
              <a:rPr lang="de-DE" b="1" dirty="0" err="1"/>
              <a:t>signaling</a:t>
            </a:r>
            <a:r>
              <a:rPr lang="de-DE" dirty="0"/>
              <a:t> </a:t>
            </a:r>
            <a:r>
              <a:rPr lang="de-DE" dirty="0" err="1"/>
              <a:t>suggests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pathogens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interfering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b="1" dirty="0"/>
              <a:t>light-</a:t>
            </a:r>
            <a:r>
              <a:rPr lang="de-DE" b="1" dirty="0" err="1"/>
              <a:t>mediated</a:t>
            </a:r>
            <a:r>
              <a:rPr lang="de-DE" b="1" dirty="0"/>
              <a:t> </a:t>
            </a:r>
            <a:r>
              <a:rPr lang="de-DE" b="1" dirty="0" err="1"/>
              <a:t>defense</a:t>
            </a:r>
            <a:r>
              <a:rPr lang="de-DE" b="1" dirty="0"/>
              <a:t> </a:t>
            </a:r>
            <a:r>
              <a:rPr lang="de-DE" b="1" dirty="0" err="1"/>
              <a:t>pathways</a:t>
            </a:r>
            <a:r>
              <a:rPr lang="de-DE" dirty="0"/>
              <a:t>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positively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with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G.orontii</a:t>
            </a:r>
            <a:r>
              <a:rPr lang="de-DE" dirty="0">
                <a:sym typeface="Wingdings" pitchFamily="2" charset="2"/>
              </a:rPr>
              <a:t>, but </a:t>
            </a:r>
            <a:r>
              <a:rPr lang="de-DE" dirty="0" err="1">
                <a:sym typeface="Wingdings" pitchFamily="2" charset="2"/>
              </a:rPr>
              <a:t>negatively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with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Hpa</a:t>
            </a:r>
            <a:r>
              <a:rPr lang="de-DE" dirty="0">
                <a:sym typeface="Wingdings" pitchFamily="2" charset="2"/>
              </a:rPr>
              <a:t>  </a:t>
            </a:r>
            <a:r>
              <a:rPr lang="de-DE" dirty="0" err="1">
                <a:sym typeface="Wingdings" pitchFamily="2" charset="2"/>
              </a:rPr>
              <a:t>pattern</a:t>
            </a:r>
            <a:r>
              <a:rPr lang="de-DE" dirty="0">
                <a:sym typeface="Wingdings" pitchFamily="2" charset="2"/>
              </a:rPr>
              <a:t>?</a:t>
            </a:r>
            <a:r>
              <a:rPr lang="de-DE" b="1" dirty="0">
                <a:sym typeface="Wingdings" pitchFamily="2" charset="2"/>
              </a:rPr>
              <a:t>  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This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module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suggests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that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de-DE" b="1" i="1" u="none" strike="noStrike" dirty="0">
                <a:solidFill>
                  <a:srgbClr val="000000"/>
                </a:solidFill>
                <a:effectLst/>
              </a:rPr>
              <a:t>G. </a:t>
            </a:r>
            <a:r>
              <a:rPr lang="de-DE" b="1" i="1" u="none" strike="noStrike" dirty="0" err="1">
                <a:solidFill>
                  <a:srgbClr val="000000"/>
                </a:solidFill>
                <a:effectLst/>
              </a:rPr>
              <a:t>orontii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 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allows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host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metabolic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and light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responses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to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persist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,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while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 </a:t>
            </a:r>
            <a:r>
              <a:rPr lang="de-DE" b="1" i="1" u="none" strike="noStrike" dirty="0" err="1">
                <a:solidFill>
                  <a:srgbClr val="000000"/>
                </a:solidFill>
                <a:effectLst/>
              </a:rPr>
              <a:t>Hpa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 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strongly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suppresses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them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 The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differences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in 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sugar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metabolism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,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flavonoid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biosynthesis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, and light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signaling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between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these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infections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may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reflect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different pathogen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strategies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 (possible source: https://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academic.oup.com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/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plcell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/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article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/23/7/2788/6097211)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20083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3DFA0C6-8E83-E1AC-BF22-64CFAE183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485" y="552516"/>
            <a:ext cx="9309452" cy="609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763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CDE5699-8396-0ACB-2094-823071819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059" y="643466"/>
            <a:ext cx="9092331" cy="5957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672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2EE49CD-B419-0547-1569-9319DB0E6C0E}"/>
              </a:ext>
            </a:extLst>
          </p:cNvPr>
          <p:cNvSpPr txBox="1"/>
          <p:nvPr/>
        </p:nvSpPr>
        <p:spPr>
          <a:xfrm>
            <a:off x="292100" y="317500"/>
            <a:ext cx="1154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modules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pathogens</a:t>
            </a:r>
            <a:r>
              <a:rPr lang="de-DE" dirty="0"/>
              <a:t> – </a:t>
            </a:r>
            <a:r>
              <a:rPr lang="de-DE" dirty="0" err="1"/>
              <a:t>nematodes</a:t>
            </a:r>
            <a:r>
              <a:rPr lang="de-DE" dirty="0"/>
              <a:t> (</a:t>
            </a:r>
            <a:r>
              <a:rPr lang="de-DE" dirty="0" err="1"/>
              <a:t>cyst</a:t>
            </a:r>
            <a:r>
              <a:rPr lang="de-DE" dirty="0"/>
              <a:t> </a:t>
            </a:r>
            <a:r>
              <a:rPr lang="de-DE" dirty="0" err="1"/>
              <a:t>nematode</a:t>
            </a:r>
            <a:r>
              <a:rPr lang="de-DE" dirty="0"/>
              <a:t> </a:t>
            </a:r>
            <a:r>
              <a:rPr lang="de-DE" dirty="0" err="1"/>
              <a:t>H.schachtii</a:t>
            </a:r>
            <a:r>
              <a:rPr lang="de-DE" dirty="0"/>
              <a:t> and root-</a:t>
            </a:r>
            <a:r>
              <a:rPr lang="de-DE" dirty="0" err="1"/>
              <a:t>knot</a:t>
            </a:r>
            <a:r>
              <a:rPr lang="de-DE" dirty="0"/>
              <a:t> </a:t>
            </a:r>
            <a:r>
              <a:rPr lang="de-DE" dirty="0" err="1"/>
              <a:t>nematode</a:t>
            </a:r>
            <a:r>
              <a:rPr lang="de-DE" dirty="0"/>
              <a:t> </a:t>
            </a:r>
            <a:r>
              <a:rPr lang="de-DE" dirty="0" err="1"/>
              <a:t>M.javanica</a:t>
            </a:r>
            <a:r>
              <a:rPr lang="de-DE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77E452F-6D60-9899-EC3F-FED3410E4F28}"/>
              </a:ext>
            </a:extLst>
          </p:cNvPr>
          <p:cNvSpPr txBox="1"/>
          <p:nvPr/>
        </p:nvSpPr>
        <p:spPr>
          <a:xfrm>
            <a:off x="419100" y="1028700"/>
            <a:ext cx="109093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brown</a:t>
            </a:r>
            <a:r>
              <a:rPr lang="de-DE" b="1" dirty="0"/>
              <a:t>: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energy</a:t>
            </a:r>
            <a:r>
              <a:rPr lang="de-DE" dirty="0"/>
              <a:t> and </a:t>
            </a:r>
            <a:r>
              <a:rPr lang="de-DE" dirty="0" err="1"/>
              <a:t>carbohydrate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, </a:t>
            </a:r>
            <a:r>
              <a:rPr lang="de-DE" dirty="0" err="1"/>
              <a:t>photosynthesis</a:t>
            </a:r>
            <a:r>
              <a:rPr lang="de-DE" dirty="0"/>
              <a:t>, etc. Hub genes </a:t>
            </a:r>
            <a:r>
              <a:rPr lang="de-DE" dirty="0" err="1"/>
              <a:t>enriched</a:t>
            </a:r>
            <a:r>
              <a:rPr lang="de-DE" dirty="0"/>
              <a:t> in positive </a:t>
            </a:r>
            <a:r>
              <a:rPr lang="de-DE" dirty="0" err="1"/>
              <a:t>regulation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DNA-</a:t>
            </a:r>
            <a:r>
              <a:rPr lang="de-DE" dirty="0" err="1"/>
              <a:t>templated</a:t>
            </a:r>
            <a:r>
              <a:rPr lang="de-DE" dirty="0"/>
              <a:t> </a:t>
            </a:r>
            <a:r>
              <a:rPr lang="de-DE" dirty="0" err="1"/>
              <a:t>transcription</a:t>
            </a:r>
            <a:r>
              <a:rPr lang="de-DE" dirty="0"/>
              <a:t>, lateral root </a:t>
            </a:r>
            <a:r>
              <a:rPr lang="de-DE" dirty="0" err="1"/>
              <a:t>morphogenesis</a:t>
            </a:r>
            <a:r>
              <a:rPr lang="de-DE" dirty="0"/>
              <a:t>, post-</a:t>
            </a:r>
            <a:r>
              <a:rPr lang="de-DE" dirty="0" err="1"/>
              <a:t>embryonic</a:t>
            </a:r>
            <a:r>
              <a:rPr lang="de-DE" dirty="0"/>
              <a:t> plant </a:t>
            </a:r>
            <a:r>
              <a:rPr lang="de-DE" dirty="0" err="1"/>
              <a:t>morphogenesis</a:t>
            </a:r>
            <a:r>
              <a:rPr lang="de-DE" dirty="0"/>
              <a:t>, root </a:t>
            </a:r>
            <a:r>
              <a:rPr lang="de-DE" dirty="0" err="1"/>
              <a:t>morphogenesis</a:t>
            </a:r>
            <a:r>
              <a:rPr lang="de-DE" dirty="0"/>
              <a:t>, plant-type </a:t>
            </a:r>
            <a:r>
              <a:rPr lang="de-DE" dirty="0" err="1"/>
              <a:t>cell</a:t>
            </a:r>
            <a:r>
              <a:rPr lang="de-DE" dirty="0"/>
              <a:t> wall </a:t>
            </a:r>
            <a:r>
              <a:rPr lang="de-DE" dirty="0" err="1"/>
              <a:t>organization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CN and RKN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invade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the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plant root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near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the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tip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and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move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through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different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tissue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layers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to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reach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the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vascular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cylinder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,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where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CNs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induce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the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formation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of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a </a:t>
            </a:r>
            <a:r>
              <a:rPr lang="de-DE" b="0" i="0" u="sng" dirty="0">
                <a:solidFill>
                  <a:srgbClr val="1F1F1F"/>
                </a:solidFill>
                <a:effectLst/>
                <a:latin typeface="ElsevierGulliver"/>
                <a:hlinkClick r:id="rId2" tooltip="Learn more about syncytium from ScienceDirect's AI-generated Topic Pages"/>
              </a:rPr>
              <a:t>syncytium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 (a </a:t>
            </a:r>
            <a:r>
              <a:rPr lang="de-DE" b="0" i="0" u="sng" strike="noStrike" dirty="0">
                <a:solidFill>
                  <a:srgbClr val="1F1F1F"/>
                </a:solidFill>
                <a:effectLst/>
                <a:latin typeface="ElsevierGulliver"/>
                <a:hlinkClick r:id="rId3" tooltip="Learn more about multinucleate from ScienceDirect's AI-generated Topic Pages"/>
              </a:rPr>
              <a:t>multinucleate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 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fusion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of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cells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resulting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from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partial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cell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wall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dissolution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), 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Root-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knot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and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cyst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nematodes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manipulate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lateral root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development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to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create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feeding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structures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(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giant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cells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or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syncytia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)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that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support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their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survival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, </a:t>
            </a:r>
            <a:r>
              <a:rPr lang="de-DE" dirty="0"/>
              <a:t>Plant-</a:t>
            </a:r>
            <a:r>
              <a:rPr lang="de-DE" dirty="0" err="1"/>
              <a:t>parasitic</a:t>
            </a:r>
            <a:r>
              <a:rPr lang="de-DE" dirty="0"/>
              <a:t> </a:t>
            </a:r>
            <a:r>
              <a:rPr lang="de-DE" dirty="0" err="1"/>
              <a:t>nematodes</a:t>
            </a:r>
            <a:r>
              <a:rPr lang="de-DE" dirty="0"/>
              <a:t> (e.g., </a:t>
            </a:r>
            <a:r>
              <a:rPr lang="de-DE" i="1" dirty="0" err="1"/>
              <a:t>Heterodera</a:t>
            </a:r>
            <a:r>
              <a:rPr lang="de-DE" dirty="0"/>
              <a:t> </a:t>
            </a:r>
            <a:r>
              <a:rPr lang="de-DE" dirty="0" err="1"/>
              <a:t>or</a:t>
            </a:r>
            <a:r>
              <a:rPr lang="de-DE" dirty="0"/>
              <a:t> </a:t>
            </a:r>
            <a:r>
              <a:rPr lang="de-DE" i="1" dirty="0" err="1"/>
              <a:t>Meloidogyne</a:t>
            </a:r>
            <a:r>
              <a:rPr lang="de-DE" dirty="0"/>
              <a:t> </a:t>
            </a:r>
            <a:r>
              <a:rPr lang="de-DE" dirty="0" err="1"/>
              <a:t>species</a:t>
            </a:r>
            <a:r>
              <a:rPr lang="de-DE" dirty="0"/>
              <a:t>) </a:t>
            </a:r>
            <a:r>
              <a:rPr lang="de-DE" dirty="0" err="1"/>
              <a:t>secrete</a:t>
            </a:r>
            <a:r>
              <a:rPr lang="de-DE" dirty="0"/>
              <a:t> </a:t>
            </a:r>
            <a:r>
              <a:rPr lang="de-DE" dirty="0" err="1"/>
              <a:t>effectors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modulate</a:t>
            </a:r>
            <a:r>
              <a:rPr lang="de-DE" dirty="0"/>
              <a:t> host </a:t>
            </a:r>
            <a:r>
              <a:rPr lang="de-DE" dirty="0" err="1"/>
              <a:t>transcription</a:t>
            </a:r>
            <a:r>
              <a:rPr lang="de-DE" dirty="0"/>
              <a:t> </a:t>
            </a:r>
            <a:r>
              <a:rPr lang="de-DE" dirty="0" err="1"/>
              <a:t>factors</a:t>
            </a:r>
            <a:r>
              <a:rPr lang="de-DE" dirty="0"/>
              <a:t>, </a:t>
            </a:r>
            <a:r>
              <a:rPr lang="de-DE" dirty="0" err="1"/>
              <a:t>promoting</a:t>
            </a:r>
            <a:r>
              <a:rPr lang="de-DE" dirty="0"/>
              <a:t> </a:t>
            </a:r>
            <a:r>
              <a:rPr lang="de-DE" dirty="0" err="1"/>
              <a:t>susceptibility.The</a:t>
            </a:r>
            <a:r>
              <a:rPr lang="de-DE" dirty="0"/>
              <a:t> plant </a:t>
            </a:r>
            <a:r>
              <a:rPr lang="de-DE" dirty="0" err="1"/>
              <a:t>may</a:t>
            </a:r>
            <a:r>
              <a:rPr lang="de-DE" dirty="0"/>
              <a:t> also </a:t>
            </a:r>
            <a:r>
              <a:rPr lang="de-DE" dirty="0" err="1"/>
              <a:t>activate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transcriptional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in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stress and </a:t>
            </a:r>
            <a:r>
              <a:rPr lang="de-DE" dirty="0" err="1"/>
              <a:t>infection</a:t>
            </a:r>
            <a:r>
              <a:rPr lang="de-DE" dirty="0"/>
              <a:t>.</a:t>
            </a:r>
            <a:endParaRPr lang="de-DE" dirty="0">
              <a:solidFill>
                <a:srgbClr val="000000"/>
              </a:solidFill>
              <a:latin typeface="-webkit-standard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darkgreen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: 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 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enriched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in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translation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,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ribosome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biogenesis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,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cytoplasmic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translation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, rRNA </a:t>
            </a:r>
            <a:r>
              <a:rPr lang="de-DE" b="0" i="0" u="none" strike="noStrike" dirty="0" err="1">
                <a:solidFill>
                  <a:srgbClr val="1F1F1F"/>
                </a:solidFill>
                <a:effectLst/>
                <a:latin typeface="ElsevierGulliver"/>
              </a:rPr>
              <a:t>processing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</a:rPr>
              <a:t>, etc. </a:t>
            </a:r>
            <a:r>
              <a:rPr lang="de-DE" b="0" i="0" u="none" strike="noStrike" dirty="0">
                <a:solidFill>
                  <a:srgbClr val="1F1F1F"/>
                </a:solidFill>
                <a:effectLst/>
                <a:latin typeface="ElsevierGulliver"/>
                <a:sym typeface="Wingdings" pitchFamily="2" charset="2"/>
              </a:rPr>
              <a:t>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Increased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protein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synthesis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demand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: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More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ribosomes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mean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enhanced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translation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capacity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which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often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associated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with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rapid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growth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stress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responses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or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metabolic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shifts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;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for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nematodes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: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If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this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module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associated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with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nematode</a:t>
            </a:r>
            <a:r>
              <a:rPr lang="de-DE" b="1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de-DE" b="1" i="0" u="none" strike="noStrike" dirty="0" err="1">
                <a:solidFill>
                  <a:srgbClr val="000000"/>
                </a:solidFill>
                <a:effectLst/>
              </a:rPr>
              <a:t>infection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could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suggest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that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the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nematode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is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inducing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high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protein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production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to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maintain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feeding</a:t>
            </a:r>
            <a:r>
              <a:rPr lang="de-DE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de-DE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sites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 (permanent </a:t>
            </a:r>
            <a:r>
              <a:rPr lang="de-DE" dirty="0" err="1">
                <a:solidFill>
                  <a:srgbClr val="000000"/>
                </a:solidFill>
                <a:latin typeface="-webkit-standard"/>
              </a:rPr>
              <a:t>feeding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</a:rPr>
              <a:t>site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</a:rPr>
              <a:t>is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</a:rPr>
              <a:t>names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</a:rPr>
              <a:t>syncytium</a:t>
            </a:r>
            <a:r>
              <a:rPr lang="de-DE" dirty="0">
                <a:solidFill>
                  <a:srgbClr val="000000"/>
                </a:solidFill>
                <a:latin typeface="-webkit-standard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>
              <a:solidFill>
                <a:srgbClr val="000000"/>
              </a:solidFill>
              <a:latin typeface="-webkit-standard"/>
              <a:sym typeface="Wingdings" pitchFamily="2" charset="2"/>
            </a:endParaRPr>
          </a:p>
          <a:p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 host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invation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by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cyst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nematodes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involves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piercing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of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plant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cell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walls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,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once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inside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the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root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cortex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,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migration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towards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the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vascular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cylinder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,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while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causing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extensive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tissue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damage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. After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arriving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at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the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vascular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cylinder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,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they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deliver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stylet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secreted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effectors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into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a host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cell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to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initiate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the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formation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of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a permanent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feeding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site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by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manipulating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plant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cell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differentiation</a:t>
            </a:r>
            <a:r>
              <a:rPr lang="de-DE" dirty="0">
                <a:solidFill>
                  <a:srgbClr val="000000"/>
                </a:solidFill>
                <a:latin typeface="-webkit-standard"/>
                <a:sym typeface="Wingdings" pitchFamily="2" charset="2"/>
              </a:rPr>
              <a:t> and </a:t>
            </a:r>
            <a:r>
              <a:rPr lang="de-DE" dirty="0" err="1">
                <a:solidFill>
                  <a:srgbClr val="000000"/>
                </a:solidFill>
                <a:latin typeface="-webkit-standard"/>
                <a:sym typeface="Wingdings" pitchFamily="2" charset="2"/>
              </a:rPr>
              <a:t>growth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450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6F36E271-243A-6A5E-B721-B6FEC928D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118"/>
            <a:ext cx="5773639" cy="3534216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42DFEC05-8DA2-FB0A-8832-C76582A87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777" y="294508"/>
            <a:ext cx="6646223" cy="412856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8FE0335-1144-9DCE-3541-6B2E85169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2" y="4093547"/>
            <a:ext cx="4426131" cy="270133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201B562-2BB2-0591-4618-D4D17AD9B7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711" y="4423076"/>
            <a:ext cx="4022177" cy="243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290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A96CD-59C8-E5F2-51EE-C5A55041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4C9C802-543C-1122-07AA-8D86E74DADB0}"/>
              </a:ext>
            </a:extLst>
          </p:cNvPr>
          <p:cNvSpPr txBox="1"/>
          <p:nvPr/>
        </p:nvSpPr>
        <p:spPr>
          <a:xfrm>
            <a:off x="292100" y="317500"/>
            <a:ext cx="1154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modules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pathogens</a:t>
            </a:r>
            <a:r>
              <a:rPr lang="de-DE" dirty="0"/>
              <a:t> – </a:t>
            </a:r>
            <a:r>
              <a:rPr lang="de-DE" dirty="0" err="1"/>
              <a:t>protiste</a:t>
            </a:r>
            <a:r>
              <a:rPr lang="de-DE" dirty="0"/>
              <a:t> </a:t>
            </a:r>
            <a:r>
              <a:rPr lang="de-DE" dirty="0" err="1"/>
              <a:t>biotrophs</a:t>
            </a:r>
            <a:r>
              <a:rPr lang="de-DE" dirty="0"/>
              <a:t> (</a:t>
            </a:r>
            <a:r>
              <a:rPr lang="de-DE" dirty="0" err="1"/>
              <a:t>P.brassicae</a:t>
            </a:r>
            <a:r>
              <a:rPr lang="de-DE" dirty="0"/>
              <a:t>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FD13DF1-9BF8-858A-2558-5B2BAD1946FD}"/>
              </a:ext>
            </a:extLst>
          </p:cNvPr>
          <p:cNvSpPr txBox="1"/>
          <p:nvPr/>
        </p:nvSpPr>
        <p:spPr>
          <a:xfrm>
            <a:off x="419100" y="1028700"/>
            <a:ext cx="10909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Black: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105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8E12EDC-B4ED-3DF8-D24F-789F7C423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9386"/>
            <a:ext cx="6096000" cy="361922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414C30EE-2456-5D25-2994-8C74B2FFE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142" y="1619386"/>
            <a:ext cx="6003858" cy="361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370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BBC2456-3602-B8F6-C15B-F07461636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5646"/>
            <a:ext cx="6178105" cy="35867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3EFA1A9E-1E83-9AA2-BED6-E5BE2F031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895" y="1457594"/>
            <a:ext cx="6178105" cy="394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290D441-3C39-D6BC-6690-8A6BD780E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449" y="232367"/>
            <a:ext cx="4810125" cy="28769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606AB6E-4944-5A4C-2694-1E238B4E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878" y="0"/>
            <a:ext cx="5649526" cy="334163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86CA5CA-3BDD-4E3A-1012-93C14F6526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58776"/>
            <a:ext cx="5649526" cy="339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11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F9F8C2B-57EB-258A-3553-3CF148784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" y="0"/>
            <a:ext cx="6070600" cy="369436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F1737A9-6F61-7047-3DD0-854104B38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01" y="3464232"/>
            <a:ext cx="5537200" cy="339376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45EFE2-6274-3D9D-B954-439B93F9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100" y="3393768"/>
            <a:ext cx="5585952" cy="34290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BD598C4-B9DF-9E8F-5C7D-4ABE8D1ABE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729" y="35232"/>
            <a:ext cx="5030694" cy="311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553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BA125E2F-9089-D74B-1861-7B3227001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200" y="1166862"/>
            <a:ext cx="5292298" cy="3256222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F378B52-1270-89A3-FE42-A76F1F576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66863"/>
            <a:ext cx="5704572" cy="325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463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3D4F39DC-A961-766E-60C0-70234BC73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88" y="153860"/>
            <a:ext cx="5076825" cy="314000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72BDF91-5C94-5DEC-F42C-5D9ACC976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8" y="3387860"/>
            <a:ext cx="5478738" cy="3316279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D717EBE-8D4C-21F8-28D2-E34D99A54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0104" y="3087756"/>
            <a:ext cx="6451895" cy="377024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8828124-D43B-B1B9-F8D2-97E49D6EED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3513" y="0"/>
            <a:ext cx="4642966" cy="286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159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C732B32-7B40-9C2B-05EB-61AD05CBF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" y="-1"/>
            <a:ext cx="12070082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196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4E7738C-CC23-F265-E323-A47C5BC57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457" y="994611"/>
            <a:ext cx="9359085" cy="45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1589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1551EB0-FE4E-E38E-F999-DA65899BA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49" y="1231708"/>
            <a:ext cx="6929042" cy="387272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350CD8BA-A4DB-C8B6-306F-E146674DC70E}"/>
              </a:ext>
            </a:extLst>
          </p:cNvPr>
          <p:cNvSpPr txBox="1"/>
          <p:nvPr/>
        </p:nvSpPr>
        <p:spPr>
          <a:xfrm>
            <a:off x="7138738" y="585377"/>
            <a:ext cx="322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0.59</a:t>
            </a:r>
          </a:p>
          <a:p>
            <a:r>
              <a:rPr lang="de-DE" dirty="0"/>
              <a:t>Very </a:t>
            </a:r>
            <a:r>
              <a:rPr lang="de-DE" dirty="0" err="1"/>
              <a:t>significant</a:t>
            </a:r>
            <a:r>
              <a:rPr lang="de-DE" dirty="0"/>
              <a:t> p-</a:t>
            </a:r>
            <a:r>
              <a:rPr lang="de-DE" dirty="0" err="1"/>
              <a:t>value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D5ECD19-A016-C317-270B-371197E9D2F7}"/>
              </a:ext>
            </a:extLst>
          </p:cNvPr>
          <p:cNvSpPr txBox="1"/>
          <p:nvPr/>
        </p:nvSpPr>
        <p:spPr>
          <a:xfrm>
            <a:off x="7138738" y="1921398"/>
            <a:ext cx="505326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hub genes?</a:t>
            </a:r>
          </a:p>
          <a:p>
            <a:pPr marL="285750" indent="-285750">
              <a:buFontTx/>
              <a:buChar char="-"/>
            </a:pPr>
            <a:r>
              <a:rPr lang="de-DE" dirty="0"/>
              <a:t>With GS and MM </a:t>
            </a:r>
            <a:r>
              <a:rPr lang="de-DE" dirty="0" err="1"/>
              <a:t>cutoff</a:t>
            </a:r>
            <a:r>
              <a:rPr lang="de-DE" dirty="0"/>
              <a:t>?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signedkME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a </a:t>
            </a:r>
            <a:r>
              <a:rPr lang="de-DE" dirty="0" err="1"/>
              <a:t>cutoff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highest</a:t>
            </a:r>
            <a:r>
              <a:rPr lang="de-DE" dirty="0"/>
              <a:t> </a:t>
            </a:r>
            <a:r>
              <a:rPr lang="de-DE" dirty="0" err="1"/>
              <a:t>connectivity</a:t>
            </a:r>
            <a:r>
              <a:rPr lang="de-DE" dirty="0"/>
              <a:t> and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?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kWithin</a:t>
            </a:r>
            <a:r>
              <a:rPr lang="de-DE" dirty="0"/>
              <a:t> (</a:t>
            </a:r>
            <a:r>
              <a:rPr lang="de-DE" dirty="0" err="1"/>
              <a:t>softConnectivity</a:t>
            </a:r>
            <a:r>
              <a:rPr lang="de-DE" dirty="0"/>
              <a:t>) and </a:t>
            </a:r>
            <a:r>
              <a:rPr lang="de-DE" dirty="0" err="1"/>
              <a:t>kME</a:t>
            </a:r>
            <a:r>
              <a:rPr lang="de-DE" dirty="0"/>
              <a:t> (</a:t>
            </a:r>
            <a:r>
              <a:rPr lang="de-DE" dirty="0" err="1"/>
              <a:t>geneModuleMembership</a:t>
            </a:r>
            <a:r>
              <a:rPr lang="de-DE" dirty="0"/>
              <a:t>)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/>
              <a:t>kME</a:t>
            </a:r>
            <a:r>
              <a:rPr lang="de-DE" dirty="0"/>
              <a:t>: maximum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 score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kWithin</a:t>
            </a:r>
            <a:r>
              <a:rPr lang="de-DE" dirty="0"/>
              <a:t>: Intramodular </a:t>
            </a:r>
            <a:r>
              <a:rPr lang="de-DE" dirty="0" err="1"/>
              <a:t>connectivity</a:t>
            </a:r>
            <a:r>
              <a:rPr lang="de-DE" dirty="0"/>
              <a:t>,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connected</a:t>
            </a:r>
            <a:r>
              <a:rPr lang="de-DE" dirty="0"/>
              <a:t> a </a:t>
            </a:r>
            <a:r>
              <a:rPr lang="de-DE" dirty="0" err="1"/>
              <a:t>gene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.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A11BC4A-D292-B83F-DE92-587287A88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59" y="5104435"/>
            <a:ext cx="6776222" cy="17535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2351CA7-CAF2-A002-E925-D84F2D5C7354}"/>
              </a:ext>
            </a:extLst>
          </p:cNvPr>
          <p:cNvSpPr txBox="1"/>
          <p:nvPr/>
        </p:nvSpPr>
        <p:spPr>
          <a:xfrm>
            <a:off x="7048515" y="55721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</a:t>
            </a:r>
            <a:r>
              <a:rPr lang="de-DE" dirty="0" err="1"/>
              <a:t>support.bioconductor.org</a:t>
            </a:r>
            <a:r>
              <a:rPr lang="de-DE" dirty="0"/>
              <a:t>/p/72377/</a:t>
            </a:r>
          </a:p>
        </p:txBody>
      </p:sp>
    </p:spTree>
    <p:extLst>
      <p:ext uri="{BB962C8B-B14F-4D97-AF65-F5344CB8AC3E}">
        <p14:creationId xmlns:p14="http://schemas.microsoft.com/office/powerpoint/2010/main" val="30016654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81BCF80-6335-4B4B-B689-E1A8514DE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9090"/>
            <a:ext cx="6005561" cy="387007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4B8340F-23E4-0B43-AF79-66056770F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561" y="1459208"/>
            <a:ext cx="6096000" cy="408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3535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1C4AAF4-F17C-4684-B576-12864C48C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510" y="371959"/>
            <a:ext cx="7772400" cy="57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124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A9194E7D-FA36-9F70-924B-4772CE2C80F8}"/>
              </a:ext>
            </a:extLst>
          </p:cNvPr>
          <p:cNvSpPr txBox="1"/>
          <p:nvPr/>
        </p:nvSpPr>
        <p:spPr>
          <a:xfrm>
            <a:off x="698500" y="744835"/>
            <a:ext cx="10706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MEskyblue3 	</a:t>
            </a:r>
            <a:r>
              <a:rPr lang="de-DE" dirty="0" err="1"/>
              <a:t>MEpurple</a:t>
            </a:r>
            <a:r>
              <a:rPr lang="de-DE" dirty="0"/>
              <a:t> 	</a:t>
            </a:r>
            <a:r>
              <a:rPr lang="de-DE" dirty="0" err="1"/>
              <a:t>Meroyalblue</a:t>
            </a:r>
            <a:r>
              <a:rPr lang="de-DE" dirty="0"/>
              <a:t>	 </a:t>
            </a:r>
            <a:r>
              <a:rPr lang="de-DE" dirty="0" err="1"/>
              <a:t>MEsteelblue</a:t>
            </a:r>
            <a:r>
              <a:rPr lang="de-DE" dirty="0"/>
              <a:t> 	</a:t>
            </a:r>
            <a:r>
              <a:rPr lang="de-DE" dirty="0" err="1"/>
              <a:t>MEbrown</a:t>
            </a:r>
            <a:r>
              <a:rPr lang="de-DE" dirty="0"/>
              <a:t> 	</a:t>
            </a:r>
            <a:r>
              <a:rPr lang="de-DE" dirty="0" err="1"/>
              <a:t>MEdarkred</a:t>
            </a:r>
            <a:r>
              <a:rPr lang="de-DE" dirty="0"/>
              <a:t> 1.916527 	1.725647 	1.700804 	1.692676 	1.686188 	1.619301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C22A7E5-BC2C-141E-B7B6-ADC59B819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3789"/>
            <a:ext cx="4231068" cy="26488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B9428D5-D609-2664-4F2B-1FF5431D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7" y="4292601"/>
            <a:ext cx="4444927" cy="264881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F9DCBF2-106F-FA6E-EC3D-FC64A9A75B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608" y="1643789"/>
            <a:ext cx="4410692" cy="264881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A085006-C42F-8846-5DA7-9EBDACF9EE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4927" y="4495265"/>
            <a:ext cx="3886200" cy="216007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F89C54A-06F9-6A0F-33BA-2C20A88DDA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304" y="4255653"/>
            <a:ext cx="4114800" cy="228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12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1118</Words>
  <Application>Microsoft Macintosh PowerPoint</Application>
  <PresentationFormat>Breitbild</PresentationFormat>
  <Paragraphs>99</Paragraphs>
  <Slides>40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8" baseType="lpstr">
      <vt:lpstr>-webkit-standard</vt:lpstr>
      <vt:lpstr>Aptos</vt:lpstr>
      <vt:lpstr>Aptos Display</vt:lpstr>
      <vt:lpstr>Arial</vt:lpstr>
      <vt:lpstr>ElsevierGulliver</vt:lpstr>
      <vt:lpstr>Symbol</vt:lpstr>
      <vt:lpstr>Wingdings</vt:lpstr>
      <vt:lpstr>Office</vt:lpstr>
      <vt:lpstr>Progress</vt:lpstr>
      <vt:lpstr>PowerPoint-Präsentation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Katharina Bender</cp:lastModifiedBy>
  <cp:revision>20</cp:revision>
  <dcterms:created xsi:type="dcterms:W3CDTF">2025-01-16T09:38:10Z</dcterms:created>
  <dcterms:modified xsi:type="dcterms:W3CDTF">2025-03-02T14:43:27Z</dcterms:modified>
</cp:coreProperties>
</file>